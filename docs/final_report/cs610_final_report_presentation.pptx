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324" r:id="rId2"/>
    <p:sldId id="367" r:id="rId3"/>
    <p:sldId id="385" r:id="rId4"/>
    <p:sldId id="347" r:id="rId5"/>
    <p:sldId id="384" r:id="rId6"/>
    <p:sldId id="361" r:id="rId7"/>
    <p:sldId id="357" r:id="rId8"/>
    <p:sldId id="378" r:id="rId9"/>
    <p:sldId id="377" r:id="rId10"/>
    <p:sldId id="386" r:id="rId11"/>
    <p:sldId id="352" r:id="rId12"/>
    <p:sldId id="358"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243"/>
    <p:restoredTop sz="93994"/>
  </p:normalViewPr>
  <p:slideViewPr>
    <p:cSldViewPr snapToGrid="0">
      <p:cViewPr varScale="1">
        <p:scale>
          <a:sx n="130" d="100"/>
          <a:sy n="130" d="100"/>
        </p:scale>
        <p:origin x="208" y="2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721127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*Leland*</a:t>
            </a:r>
            <a:endParaRPr lang="en-US"/>
          </a:p>
          <a:p>
            <a:endParaRPr lang="en-US"/>
          </a:p>
          <a:p>
            <a:r>
              <a:rPr lang="en-US"/>
              <a:t>Hi everyone, my name is Leland.</a:t>
            </a:r>
          </a:p>
          <a:p>
            <a:endParaRPr lang="en-US"/>
          </a:p>
          <a:p>
            <a:r>
              <a:rPr lang="en-US"/>
              <a:t>My teammates - Johnny and Ishant - and I are going to present our project on how we plan to implement a Bayesian Network to model NFL Game Stats and Market Signals.</a:t>
            </a:r>
          </a:p>
          <a:p>
            <a:endParaRPr lang="en-US"/>
          </a:p>
          <a:p>
            <a:r>
              <a:rPr lang="en-US"/>
              <a:t>I don’t think any of us are particularly interested in sports, but there are a few good reasons why we chose this project.</a:t>
            </a:r>
            <a:endParaRPr lang="en-US">
              <a:ea typeface="Calibri"/>
              <a:cs typeface="Calibri"/>
            </a:endParaRPr>
          </a:p>
          <a:p>
            <a:endParaRPr lang="en-US"/>
          </a:p>
          <a:p>
            <a:r>
              <a:rPr lang="en-US"/>
              <a:t>The data is clean, public, and the causal direction is well known — both lend themselves well to a Bayesian Network.</a:t>
            </a:r>
            <a:endParaRPr lang="en-US">
              <a:ea typeface="Calibri"/>
              <a:cs typeface="+mn-lt"/>
            </a:endParaRPr>
          </a:p>
          <a:p>
            <a:endParaRPr lang="en-US"/>
          </a:p>
          <a:p>
            <a:r>
              <a:rPr lang="en-US"/>
              <a:t>And as much as sports data has been modeled, we believe our project is a truly novel application of a Bayesian Network. </a:t>
            </a:r>
          </a:p>
          <a:p>
            <a:endParaRPr lang="en-US">
              <a:ea typeface="Calibri"/>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EE69EC-A9FB-A08F-E84B-F5CE9F8136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C8B015-FFD7-6F8E-0BB4-C73FE6C132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DD747D-6DA4-C7F2-A9A6-7F76909A3059}"/>
              </a:ext>
            </a:extLst>
          </p:cNvPr>
          <p:cNvSpPr>
            <a:spLocks noGrp="1"/>
          </p:cNvSpPr>
          <p:nvPr>
            <p:ph type="body" idx="1"/>
          </p:nvPr>
        </p:nvSpPr>
        <p:spPr/>
        <p:txBody>
          <a:bodyPr/>
          <a:lstStyle/>
          <a:p>
            <a:r>
              <a:rPr lang="en-US"/>
              <a:t>Johnny</a:t>
            </a:r>
            <a:br>
              <a:rPr lang="en-US"/>
            </a:br>
            <a:br>
              <a:rPr lang="en-US"/>
            </a:br>
            <a:r>
              <a:rPr lang="en-US"/>
              <a:t>For the literature review, we grouped the existing work into three areas because each one connects to our project, but none of them fully answers our question.</a:t>
            </a:r>
          </a:p>
          <a:p>
            <a:r>
              <a:rPr lang="en-US"/>
              <a:t>The first area is Bayesian networks for sports prediction. This supports our choice of model because it shows that Bayesian networks can be useful for forecasting sports outcomes. The limitation is that these studies usually focus on game-related variables only, without including betting market movement.</a:t>
            </a:r>
          </a:p>
          <a:p>
            <a:endParaRPr lang="en-US"/>
          </a:p>
          <a:p>
            <a:r>
              <a:rPr lang="en-US"/>
              <a:t>The second area combines game statistics with betting odds. These studies are closer to our idea, but they mostly blend the data sources for prediction. They do not directly test whether the market data and game stats contain independent information.</a:t>
            </a:r>
          </a:p>
          <a:p>
            <a:endParaRPr lang="en-US"/>
          </a:p>
          <a:p>
            <a:r>
              <a:rPr lang="en-US"/>
              <a:t>The third area focuses on market efficiency and line movement. These papers look at whether opening and closing lines have predictive value, but they usually do not integrate detailed game statistics into one combined model.</a:t>
            </a:r>
          </a:p>
          <a:p>
            <a:endParaRPr lang="en-US"/>
          </a:p>
          <a:p>
            <a:r>
              <a:rPr lang="en-US"/>
              <a:t>The key gap is shown at the bottom of the slide. A recent review confirmed that no study clearly combines all three pieces: Bayesian networks, game statistics, and market movement. That is where our project fits. We are not only trying to predict games. We are testing whether line movement adds information beyond the game fundamentals.</a:t>
            </a:r>
          </a:p>
          <a:p>
            <a:endParaRPr lang="en-US"/>
          </a:p>
        </p:txBody>
      </p:sp>
      <p:sp>
        <p:nvSpPr>
          <p:cNvPr id="4" name="Slide Number Placeholder 3">
            <a:extLst>
              <a:ext uri="{FF2B5EF4-FFF2-40B4-BE49-F238E27FC236}">
                <a16:creationId xmlns:a16="http://schemas.microsoft.com/office/drawing/2014/main" id="{A47A043F-67D8-A50A-C9E0-4B016BD8F6D9}"/>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39154064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EE69EC-A9FB-A08F-E84B-F5CE9F8136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C8B015-FFD7-6F8E-0BB4-C73FE6C132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DD747D-6DA4-C7F2-A9A6-7F76909A3059}"/>
              </a:ext>
            </a:extLst>
          </p:cNvPr>
          <p:cNvSpPr>
            <a:spLocks noGrp="1"/>
          </p:cNvSpPr>
          <p:nvPr>
            <p:ph type="body" idx="1"/>
          </p:nvPr>
        </p:nvSpPr>
        <p:spPr/>
        <p:txBody>
          <a:bodyPr/>
          <a:lstStyle/>
          <a:p>
            <a:r>
              <a:rPr lang="en-US"/>
              <a:t>Johnny</a:t>
            </a:r>
            <a:br>
              <a:rPr lang="en-US"/>
            </a:br>
            <a:br>
              <a:rPr lang="en-US"/>
            </a:br>
            <a:r>
              <a:rPr lang="en-US"/>
              <a:t>For the literature review, we grouped the existing work into three areas because each one connects to our project, but none of them fully answers our question.</a:t>
            </a:r>
          </a:p>
          <a:p>
            <a:r>
              <a:rPr lang="en-US"/>
              <a:t>The first area is Bayesian networks for sports prediction. This supports our choice of model because it shows that Bayesian networks can be useful for forecasting sports outcomes. The limitation is that these studies usually focus on game-related variables only, without including betting market movement.</a:t>
            </a:r>
          </a:p>
          <a:p>
            <a:endParaRPr lang="en-US"/>
          </a:p>
          <a:p>
            <a:r>
              <a:rPr lang="en-US"/>
              <a:t>The second area combines game statistics with betting odds. These studies are closer to our idea, but they mostly blend the data sources for prediction. They do not directly test whether the market data and game stats contain independent information.</a:t>
            </a:r>
          </a:p>
          <a:p>
            <a:endParaRPr lang="en-US"/>
          </a:p>
          <a:p>
            <a:r>
              <a:rPr lang="en-US"/>
              <a:t>The third area focuses on market efficiency and line movement. These papers look at whether opening and closing lines have predictive value, but they usually do not integrate detailed game statistics into one combined model.</a:t>
            </a:r>
          </a:p>
          <a:p>
            <a:endParaRPr lang="en-US"/>
          </a:p>
          <a:p>
            <a:r>
              <a:rPr lang="en-US"/>
              <a:t>The key gap is shown at the bottom of the slide. A recent review confirmed that no study clearly combines all three pieces: Bayesian networks, game statistics, and market movement. That is where our project fits. We are not only trying to predict games. We are testing whether line movement adds information beyond the game fundamentals.</a:t>
            </a:r>
          </a:p>
          <a:p>
            <a:endParaRPr lang="en-US"/>
          </a:p>
        </p:txBody>
      </p:sp>
      <p:sp>
        <p:nvSpPr>
          <p:cNvPr id="4" name="Slide Number Placeholder 3">
            <a:extLst>
              <a:ext uri="{FF2B5EF4-FFF2-40B4-BE49-F238E27FC236}">
                <a16:creationId xmlns:a16="http://schemas.microsoft.com/office/drawing/2014/main" id="{A47A043F-67D8-A50A-C9E0-4B016BD8F6D9}"/>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39154064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EE69EC-A9FB-A08F-E84B-F5CE9F8136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C8B015-FFD7-6F8E-0BB4-C73FE6C132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DD747D-6DA4-C7F2-A9A6-7F76909A3059}"/>
              </a:ext>
            </a:extLst>
          </p:cNvPr>
          <p:cNvSpPr>
            <a:spLocks noGrp="1"/>
          </p:cNvSpPr>
          <p:nvPr>
            <p:ph type="body" idx="1"/>
          </p:nvPr>
        </p:nvSpPr>
        <p:spPr/>
        <p:txBody>
          <a:bodyPr/>
          <a:lstStyle/>
          <a:p>
            <a:r>
              <a:rPr lang="en-US"/>
              <a:t>Johnny</a:t>
            </a:r>
            <a:br>
              <a:rPr lang="en-US"/>
            </a:br>
            <a:br>
              <a:rPr lang="en-US"/>
            </a:br>
            <a:r>
              <a:rPr lang="en-US"/>
              <a:t>For the literature review, we grouped the existing work into three areas because each one connects to our project, but none of them fully answers our question.</a:t>
            </a:r>
          </a:p>
          <a:p>
            <a:r>
              <a:rPr lang="en-US"/>
              <a:t>The first area is Bayesian networks for sports prediction. This supports our choice of model because it shows that Bayesian networks can be useful for forecasting sports outcomes. The limitation is that these studies usually focus on game-related variables only, without including betting market movement.</a:t>
            </a:r>
          </a:p>
          <a:p>
            <a:endParaRPr lang="en-US"/>
          </a:p>
          <a:p>
            <a:r>
              <a:rPr lang="en-US"/>
              <a:t>The second area combines game statistics with betting odds. These studies are closer to our idea, but they mostly blend the data sources for prediction. They do not directly test whether the market data and game stats contain independent information.</a:t>
            </a:r>
          </a:p>
          <a:p>
            <a:endParaRPr lang="en-US"/>
          </a:p>
          <a:p>
            <a:r>
              <a:rPr lang="en-US"/>
              <a:t>The third area focuses on market efficiency and line movement. These papers look at whether opening and closing lines have predictive value, but they usually do not integrate detailed game statistics into one combined model.</a:t>
            </a:r>
          </a:p>
          <a:p>
            <a:endParaRPr lang="en-US"/>
          </a:p>
          <a:p>
            <a:r>
              <a:rPr lang="en-US"/>
              <a:t>The key gap is shown at the bottom of the slide. A recent review confirmed that no study clearly combines all three pieces: Bayesian networks, game statistics, and market movement. That is where our project fits. We are not only trying to predict games. We are testing whether line movement adds information beyond the game fundamentals.</a:t>
            </a:r>
          </a:p>
          <a:p>
            <a:endParaRPr lang="en-US"/>
          </a:p>
        </p:txBody>
      </p:sp>
      <p:sp>
        <p:nvSpPr>
          <p:cNvPr id="4" name="Slide Number Placeholder 3">
            <a:extLst>
              <a:ext uri="{FF2B5EF4-FFF2-40B4-BE49-F238E27FC236}">
                <a16:creationId xmlns:a16="http://schemas.microsoft.com/office/drawing/2014/main" id="{A47A043F-67D8-A50A-C9E0-4B016BD8F6D9}"/>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39154064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EE69EC-A9FB-A08F-E84B-F5CE9F8136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C8B015-FFD7-6F8E-0BB4-C73FE6C132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DD747D-6DA4-C7F2-A9A6-7F76909A3059}"/>
              </a:ext>
            </a:extLst>
          </p:cNvPr>
          <p:cNvSpPr>
            <a:spLocks noGrp="1"/>
          </p:cNvSpPr>
          <p:nvPr>
            <p:ph type="body" idx="1"/>
          </p:nvPr>
        </p:nvSpPr>
        <p:spPr/>
        <p:txBody>
          <a:bodyPr/>
          <a:lstStyle/>
          <a:p>
            <a:r>
              <a:rPr lang="en-US"/>
              <a:t>Johnny</a:t>
            </a:r>
            <a:br>
              <a:rPr lang="en-US"/>
            </a:br>
            <a:br>
              <a:rPr lang="en-US"/>
            </a:br>
            <a:r>
              <a:rPr lang="en-US"/>
              <a:t>For the literature review, we grouped the existing work into three areas because each one connects to our project, but none of them fully answers our question.</a:t>
            </a:r>
          </a:p>
          <a:p>
            <a:r>
              <a:rPr lang="en-US"/>
              <a:t>The first area is Bayesian networks for sports prediction. This supports our choice of model because it shows that Bayesian networks can be useful for forecasting sports outcomes. The limitation is that these studies usually focus on game-related variables only, without including betting market movement.</a:t>
            </a:r>
          </a:p>
          <a:p>
            <a:endParaRPr lang="en-US"/>
          </a:p>
          <a:p>
            <a:r>
              <a:rPr lang="en-US"/>
              <a:t>The second area combines game statistics with betting odds. These studies are closer to our idea, but they mostly blend the data sources for prediction. They do not directly test whether the market data and game stats contain independent information.</a:t>
            </a:r>
          </a:p>
          <a:p>
            <a:endParaRPr lang="en-US"/>
          </a:p>
          <a:p>
            <a:r>
              <a:rPr lang="en-US"/>
              <a:t>The third area focuses on market efficiency and line movement. These papers look at whether opening and closing lines have predictive value, but they usually do not integrate detailed game statistics into one combined model.</a:t>
            </a:r>
          </a:p>
          <a:p>
            <a:endParaRPr lang="en-US"/>
          </a:p>
          <a:p>
            <a:r>
              <a:rPr lang="en-US"/>
              <a:t>The key gap is shown at the bottom of the slide. A recent review confirmed that no study clearly combines all three pieces: Bayesian networks, game statistics, and market movement. That is where our project fits. We are not only trying to predict games. We are testing whether line movement adds information beyond the game fundamentals.</a:t>
            </a:r>
          </a:p>
          <a:p>
            <a:endParaRPr lang="en-US"/>
          </a:p>
        </p:txBody>
      </p:sp>
      <p:sp>
        <p:nvSpPr>
          <p:cNvPr id="4" name="Slide Number Placeholder 3">
            <a:extLst>
              <a:ext uri="{FF2B5EF4-FFF2-40B4-BE49-F238E27FC236}">
                <a16:creationId xmlns:a16="http://schemas.microsoft.com/office/drawing/2014/main" id="{A47A043F-67D8-A50A-C9E0-4B016BD8F6D9}"/>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39154064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EE69EC-A9FB-A08F-E84B-F5CE9F8136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C8B015-FFD7-6F8E-0BB4-C73FE6C132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DD747D-6DA4-C7F2-A9A6-7F76909A3059}"/>
              </a:ext>
            </a:extLst>
          </p:cNvPr>
          <p:cNvSpPr>
            <a:spLocks noGrp="1"/>
          </p:cNvSpPr>
          <p:nvPr>
            <p:ph type="body" idx="1"/>
          </p:nvPr>
        </p:nvSpPr>
        <p:spPr/>
        <p:txBody>
          <a:bodyPr/>
          <a:lstStyle/>
          <a:p>
            <a:r>
              <a:rPr lang="en-US"/>
              <a:t>Johnny</a:t>
            </a:r>
            <a:br>
              <a:rPr lang="en-US"/>
            </a:br>
            <a:br>
              <a:rPr lang="en-US"/>
            </a:br>
            <a:r>
              <a:rPr lang="en-US"/>
              <a:t>For the literature review, we grouped the existing work into three areas because each one connects to our project, but none of them fully answers our question.</a:t>
            </a:r>
          </a:p>
          <a:p>
            <a:r>
              <a:rPr lang="en-US"/>
              <a:t>The first area is Bayesian networks for sports prediction. This supports our choice of model because it shows that Bayesian networks can be useful for forecasting sports outcomes. The limitation is that these studies usually focus on game-related variables only, without including betting market movement.</a:t>
            </a:r>
          </a:p>
          <a:p>
            <a:endParaRPr lang="en-US"/>
          </a:p>
          <a:p>
            <a:r>
              <a:rPr lang="en-US"/>
              <a:t>The second area combines game statistics with betting odds. These studies are closer to our idea, but they mostly blend the data sources for prediction. They do not directly test whether the market data and game stats contain independent information.</a:t>
            </a:r>
          </a:p>
          <a:p>
            <a:endParaRPr lang="en-US"/>
          </a:p>
          <a:p>
            <a:r>
              <a:rPr lang="en-US"/>
              <a:t>The third area focuses on market efficiency and line movement. These papers look at whether opening and closing lines have predictive value, but they usually do not integrate detailed game statistics into one combined model.</a:t>
            </a:r>
          </a:p>
          <a:p>
            <a:endParaRPr lang="en-US"/>
          </a:p>
          <a:p>
            <a:r>
              <a:rPr lang="en-US"/>
              <a:t>The key gap is shown at the bottom of the slide. A recent review confirmed that no study clearly combines all three pieces: Bayesian networks, game statistics, and market movement. That is where our project fits. We are not only trying to predict games. We are testing whether line movement adds information beyond the game fundamentals.</a:t>
            </a:r>
          </a:p>
          <a:p>
            <a:endParaRPr lang="en-US"/>
          </a:p>
        </p:txBody>
      </p:sp>
      <p:sp>
        <p:nvSpPr>
          <p:cNvPr id="4" name="Slide Number Placeholder 3">
            <a:extLst>
              <a:ext uri="{FF2B5EF4-FFF2-40B4-BE49-F238E27FC236}">
                <a16:creationId xmlns:a16="http://schemas.microsoft.com/office/drawing/2014/main" id="{A47A043F-67D8-A50A-C9E0-4B016BD8F6D9}"/>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39154064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EE69EC-A9FB-A08F-E84B-F5CE9F8136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C8B015-FFD7-6F8E-0BB4-C73FE6C132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DD747D-6DA4-C7F2-A9A6-7F76909A3059}"/>
              </a:ext>
            </a:extLst>
          </p:cNvPr>
          <p:cNvSpPr>
            <a:spLocks noGrp="1"/>
          </p:cNvSpPr>
          <p:nvPr>
            <p:ph type="body" idx="1"/>
          </p:nvPr>
        </p:nvSpPr>
        <p:spPr/>
        <p:txBody>
          <a:bodyPr/>
          <a:lstStyle/>
          <a:p>
            <a:r>
              <a:rPr lang="en-US"/>
              <a:t>Johnny</a:t>
            </a:r>
            <a:br>
              <a:rPr lang="en-US"/>
            </a:br>
            <a:br>
              <a:rPr lang="en-US"/>
            </a:br>
            <a:r>
              <a:rPr lang="en-US"/>
              <a:t>For the literature review, we grouped the existing work into three areas because each one connects to our project, but none of them fully answers our question.</a:t>
            </a:r>
          </a:p>
          <a:p>
            <a:r>
              <a:rPr lang="en-US"/>
              <a:t>The first area is Bayesian networks for sports prediction. This supports our choice of model because it shows that Bayesian networks can be useful for forecasting sports outcomes. The limitation is that these studies usually focus on game-related variables only, without including betting market movement.</a:t>
            </a:r>
          </a:p>
          <a:p>
            <a:endParaRPr lang="en-US"/>
          </a:p>
          <a:p>
            <a:r>
              <a:rPr lang="en-US"/>
              <a:t>The second area combines game statistics with betting odds. These studies are closer to our idea, but they mostly blend the data sources for prediction. They do not directly test whether the market data and game stats contain independent information.</a:t>
            </a:r>
          </a:p>
          <a:p>
            <a:endParaRPr lang="en-US"/>
          </a:p>
          <a:p>
            <a:r>
              <a:rPr lang="en-US"/>
              <a:t>The third area focuses on market efficiency and line movement. These papers look at whether opening and closing lines have predictive value, but they usually do not integrate detailed game statistics into one combined model.</a:t>
            </a:r>
          </a:p>
          <a:p>
            <a:endParaRPr lang="en-US"/>
          </a:p>
          <a:p>
            <a:r>
              <a:rPr lang="en-US"/>
              <a:t>The key gap is shown at the bottom of the slide. A recent review confirmed that no study clearly combines all three pieces: Bayesian networks, game statistics, and market movement. That is where our project fits. We are not only trying to predict games. We are testing whether line movement adds information beyond the game fundamentals.</a:t>
            </a:r>
          </a:p>
          <a:p>
            <a:endParaRPr lang="en-US"/>
          </a:p>
        </p:txBody>
      </p:sp>
      <p:sp>
        <p:nvSpPr>
          <p:cNvPr id="4" name="Slide Number Placeholder 3">
            <a:extLst>
              <a:ext uri="{FF2B5EF4-FFF2-40B4-BE49-F238E27FC236}">
                <a16:creationId xmlns:a16="http://schemas.microsoft.com/office/drawing/2014/main" id="{A47A043F-67D8-A50A-C9E0-4B016BD8F6D9}"/>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39154064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EE69EC-A9FB-A08F-E84B-F5CE9F8136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C8B015-FFD7-6F8E-0BB4-C73FE6C132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DD747D-6DA4-C7F2-A9A6-7F76909A3059}"/>
              </a:ext>
            </a:extLst>
          </p:cNvPr>
          <p:cNvSpPr>
            <a:spLocks noGrp="1"/>
          </p:cNvSpPr>
          <p:nvPr>
            <p:ph type="body" idx="1"/>
          </p:nvPr>
        </p:nvSpPr>
        <p:spPr/>
        <p:txBody>
          <a:bodyPr/>
          <a:lstStyle/>
          <a:p>
            <a:r>
              <a:rPr lang="en-US"/>
              <a:t>Johnny</a:t>
            </a:r>
            <a:br>
              <a:rPr lang="en-US"/>
            </a:br>
            <a:br>
              <a:rPr lang="en-US"/>
            </a:br>
            <a:r>
              <a:rPr lang="en-US"/>
              <a:t>For the literature review, we grouped the existing work into three areas because each one connects to our project, but none of them fully answers our question.</a:t>
            </a:r>
          </a:p>
          <a:p>
            <a:r>
              <a:rPr lang="en-US"/>
              <a:t>The first area is Bayesian networks for sports prediction. This supports our choice of model because it shows that Bayesian networks can be useful for forecasting sports outcomes. The limitation is that these studies usually focus on game-related variables only, without including betting market movement.</a:t>
            </a:r>
          </a:p>
          <a:p>
            <a:endParaRPr lang="en-US"/>
          </a:p>
          <a:p>
            <a:r>
              <a:rPr lang="en-US"/>
              <a:t>The second area combines game statistics with betting odds. These studies are closer to our idea, but they mostly blend the data sources for prediction. They do not directly test whether the market data and game stats contain independent information.</a:t>
            </a:r>
          </a:p>
          <a:p>
            <a:endParaRPr lang="en-US"/>
          </a:p>
          <a:p>
            <a:r>
              <a:rPr lang="en-US"/>
              <a:t>The third area focuses on market efficiency and line movement. These papers look at whether opening and closing lines have predictive value, but they usually do not integrate detailed game statistics into one combined model.</a:t>
            </a:r>
          </a:p>
          <a:p>
            <a:endParaRPr lang="en-US"/>
          </a:p>
          <a:p>
            <a:r>
              <a:rPr lang="en-US"/>
              <a:t>The key gap is shown at the bottom of the slide. A recent review confirmed that no study clearly combines all three pieces: Bayesian networks, game statistics, and market movement. That is where our project fits. We are not only trying to predict games. We are testing whether line movement adds information beyond the game fundamentals.</a:t>
            </a:r>
          </a:p>
          <a:p>
            <a:endParaRPr lang="en-US"/>
          </a:p>
        </p:txBody>
      </p:sp>
      <p:sp>
        <p:nvSpPr>
          <p:cNvPr id="4" name="Slide Number Placeholder 3">
            <a:extLst>
              <a:ext uri="{FF2B5EF4-FFF2-40B4-BE49-F238E27FC236}">
                <a16:creationId xmlns:a16="http://schemas.microsoft.com/office/drawing/2014/main" id="{A47A043F-67D8-A50A-C9E0-4B016BD8F6D9}"/>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39154064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EE69EC-A9FB-A08F-E84B-F5CE9F8136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C8B015-FFD7-6F8E-0BB4-C73FE6C132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DD747D-6DA4-C7F2-A9A6-7F76909A3059}"/>
              </a:ext>
            </a:extLst>
          </p:cNvPr>
          <p:cNvSpPr>
            <a:spLocks noGrp="1"/>
          </p:cNvSpPr>
          <p:nvPr>
            <p:ph type="body" idx="1"/>
          </p:nvPr>
        </p:nvSpPr>
        <p:spPr/>
        <p:txBody>
          <a:bodyPr/>
          <a:lstStyle/>
          <a:p>
            <a:r>
              <a:rPr lang="en-US"/>
              <a:t>Johnny</a:t>
            </a:r>
            <a:br>
              <a:rPr lang="en-US"/>
            </a:br>
            <a:br>
              <a:rPr lang="en-US"/>
            </a:br>
            <a:r>
              <a:rPr lang="en-US"/>
              <a:t>For the literature review, we grouped the existing work into three areas because each one connects to our project, but none of them fully answers our question.</a:t>
            </a:r>
          </a:p>
          <a:p>
            <a:r>
              <a:rPr lang="en-US"/>
              <a:t>The first area is Bayesian networks for sports prediction. This supports our choice of model because it shows that Bayesian networks can be useful for forecasting sports outcomes. The limitation is that these studies usually focus on game-related variables only, without including betting market movement.</a:t>
            </a:r>
          </a:p>
          <a:p>
            <a:endParaRPr lang="en-US"/>
          </a:p>
          <a:p>
            <a:r>
              <a:rPr lang="en-US"/>
              <a:t>The second area combines game statistics with betting odds. These studies are closer to our idea, but they mostly blend the data sources for prediction. They do not directly test whether the market data and game stats contain independent information.</a:t>
            </a:r>
          </a:p>
          <a:p>
            <a:endParaRPr lang="en-US"/>
          </a:p>
          <a:p>
            <a:r>
              <a:rPr lang="en-US"/>
              <a:t>The third area focuses on market efficiency and line movement. These papers look at whether opening and closing lines have predictive value, but they usually do not integrate detailed game statistics into one combined model.</a:t>
            </a:r>
          </a:p>
          <a:p>
            <a:endParaRPr lang="en-US"/>
          </a:p>
          <a:p>
            <a:r>
              <a:rPr lang="en-US"/>
              <a:t>The key gap is shown at the bottom of the slide. A recent review confirmed that no study clearly combines all three pieces: Bayesian networks, game statistics, and market movement. That is where our project fits. We are not only trying to predict games. We are testing whether line movement adds information beyond the game fundamentals.</a:t>
            </a:r>
          </a:p>
          <a:p>
            <a:endParaRPr lang="en-US"/>
          </a:p>
        </p:txBody>
      </p:sp>
      <p:sp>
        <p:nvSpPr>
          <p:cNvPr id="4" name="Slide Number Placeholder 3">
            <a:extLst>
              <a:ext uri="{FF2B5EF4-FFF2-40B4-BE49-F238E27FC236}">
                <a16:creationId xmlns:a16="http://schemas.microsoft.com/office/drawing/2014/main" id="{A47A043F-67D8-A50A-C9E0-4B016BD8F6D9}"/>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39154064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*Leland*</a:t>
            </a:r>
            <a:endParaRPr lang="en-US"/>
          </a:p>
          <a:p>
            <a:endParaRPr lang="en-US"/>
          </a:p>
          <a:p>
            <a:r>
              <a:rPr lang="en-US"/>
              <a:t>Hi everyone, my name is Leland.</a:t>
            </a:r>
          </a:p>
          <a:p>
            <a:endParaRPr lang="en-US"/>
          </a:p>
          <a:p>
            <a:r>
              <a:rPr lang="en-US"/>
              <a:t>My teammates - Johnny and Ishant - and I are going to present our project on how we plan to implement a Bayesian Network to model NFL Game Stats and Market Signals.</a:t>
            </a:r>
          </a:p>
          <a:p>
            <a:endParaRPr lang="en-US"/>
          </a:p>
          <a:p>
            <a:r>
              <a:rPr lang="en-US"/>
              <a:t>I don’t think any of us are particularly interested in sports, but there are a few good reasons why we chose this project.</a:t>
            </a:r>
            <a:endParaRPr lang="en-US">
              <a:ea typeface="Calibri"/>
              <a:cs typeface="Calibri"/>
            </a:endParaRPr>
          </a:p>
          <a:p>
            <a:endParaRPr lang="en-US"/>
          </a:p>
          <a:p>
            <a:r>
              <a:rPr lang="en-US"/>
              <a:t>The data is clean, public, and the causal direction is well known — both lend themselves well to a Bayesian Network.</a:t>
            </a:r>
            <a:endParaRPr lang="en-US">
              <a:ea typeface="Calibri"/>
              <a:cs typeface="+mn-lt"/>
            </a:endParaRPr>
          </a:p>
          <a:p>
            <a:endParaRPr lang="en-US"/>
          </a:p>
          <a:p>
            <a:r>
              <a:rPr lang="en-US"/>
              <a:t>And as much as sports data has been modeled, we believe our project is a truly novel application of a Bayesian Network. </a:t>
            </a:r>
          </a:p>
          <a:p>
            <a:endParaRPr lang="en-US">
              <a:ea typeface="Calibri"/>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E8A020"/>
          </a:solidFill>
          <a:ln w="12700">
            <a:solidFill>
              <a:srgbClr val="E8A020"/>
            </a:solidFill>
            <a:prstDash val="solid"/>
          </a:ln>
        </p:spPr>
        <p:txBody>
          <a:bodyPr/>
          <a:lstStyle/>
          <a:p>
            <a:endParaRPr lang="en-US"/>
          </a:p>
        </p:txBody>
      </p:sp>
      <p:sp>
        <p:nvSpPr>
          <p:cNvPr id="3" name="Shape 1"/>
          <p:cNvSpPr/>
          <p:nvPr/>
        </p:nvSpPr>
        <p:spPr>
          <a:xfrm>
            <a:off x="406400" y="2603500"/>
            <a:ext cx="5207000" cy="50800"/>
          </a:xfrm>
          <a:prstGeom prst="rect">
            <a:avLst/>
          </a:prstGeom>
          <a:solidFill>
            <a:srgbClr val="E8A020"/>
          </a:solidFill>
          <a:ln w="12700">
            <a:solidFill>
              <a:srgbClr val="E8A020"/>
            </a:solidFill>
            <a:prstDash val="solid"/>
          </a:ln>
        </p:spPr>
        <p:txBody>
          <a:bodyPr/>
          <a:lstStyle/>
          <a:p>
            <a:endParaRPr lang="en-US"/>
          </a:p>
        </p:txBody>
      </p:sp>
      <p:sp>
        <p:nvSpPr>
          <p:cNvPr id="4" name="Text 2"/>
          <p:cNvSpPr/>
          <p:nvPr/>
        </p:nvSpPr>
        <p:spPr>
          <a:xfrm>
            <a:off x="411480" y="548640"/>
            <a:ext cx="8046720" cy="640080"/>
          </a:xfrm>
          <a:prstGeom prst="rect">
            <a:avLst/>
          </a:prstGeom>
          <a:noFill/>
          <a:ln/>
        </p:spPr>
        <p:txBody>
          <a:bodyPr wrap="square" rtlCol="0" anchor="ctr"/>
          <a:lstStyle/>
          <a:p>
            <a:pPr marL="0" indent="0" algn="l">
              <a:buNone/>
            </a:pPr>
            <a:r>
              <a:rPr lang="en-US" sz="2800" b="1">
                <a:solidFill>
                  <a:srgbClr val="8BA0B5"/>
                </a:solidFill>
                <a:latin typeface="Calibri" pitchFamily="34" charset="0"/>
                <a:ea typeface="Calibri" pitchFamily="34" charset="-122"/>
                <a:cs typeface="Calibri" pitchFamily="34" charset="-120"/>
              </a:rPr>
              <a:t>Bayesian Network Modeling of</a:t>
            </a:r>
            <a:endParaRPr lang="en-US" sz="2800"/>
          </a:p>
        </p:txBody>
      </p:sp>
      <p:sp>
        <p:nvSpPr>
          <p:cNvPr id="5" name="Text 3"/>
          <p:cNvSpPr/>
          <p:nvPr/>
        </p:nvSpPr>
        <p:spPr>
          <a:xfrm>
            <a:off x="411480" y="1143000"/>
            <a:ext cx="8046720" cy="868680"/>
          </a:xfrm>
          <a:prstGeom prst="rect">
            <a:avLst/>
          </a:prstGeom>
          <a:noFill/>
          <a:ln/>
        </p:spPr>
        <p:txBody>
          <a:bodyPr wrap="square" rtlCol="0" anchor="ctr"/>
          <a:lstStyle/>
          <a:p>
            <a:pPr marL="0" indent="0" algn="l">
              <a:buNone/>
            </a:pPr>
            <a:r>
              <a:rPr lang="en-US" sz="5200" b="1">
                <a:solidFill>
                  <a:srgbClr val="FFFFFF"/>
                </a:solidFill>
                <a:latin typeface="Calibri" pitchFamily="34" charset="0"/>
                <a:ea typeface="Calibri" pitchFamily="34" charset="-122"/>
                <a:cs typeface="Calibri" pitchFamily="34" charset="-120"/>
              </a:rPr>
              <a:t>NFL Game Stats &amp;</a:t>
            </a:r>
            <a:endParaRPr lang="en-US" sz="5200"/>
          </a:p>
        </p:txBody>
      </p:sp>
      <p:sp>
        <p:nvSpPr>
          <p:cNvPr id="6" name="Text 4"/>
          <p:cNvSpPr/>
          <p:nvPr/>
        </p:nvSpPr>
        <p:spPr>
          <a:xfrm>
            <a:off x="411480" y="1920240"/>
            <a:ext cx="8046720" cy="502920"/>
          </a:xfrm>
          <a:prstGeom prst="rect">
            <a:avLst/>
          </a:prstGeom>
          <a:noFill/>
          <a:ln/>
        </p:spPr>
        <p:txBody>
          <a:bodyPr wrap="square" rtlCol="0" anchor="ctr"/>
          <a:lstStyle/>
          <a:p>
            <a:pPr marL="0" indent="0" algn="l">
              <a:buNone/>
            </a:pPr>
            <a:r>
              <a:rPr lang="en-US" sz="3800" b="1">
                <a:solidFill>
                  <a:srgbClr val="E8A020"/>
                </a:solidFill>
                <a:latin typeface="Calibri" pitchFamily="34" charset="0"/>
                <a:ea typeface="Calibri" pitchFamily="34" charset="-122"/>
                <a:cs typeface="Calibri" pitchFamily="34" charset="-120"/>
              </a:rPr>
              <a:t>Market Signals</a:t>
            </a:r>
            <a:endParaRPr lang="en-US" sz="3800"/>
          </a:p>
        </p:txBody>
      </p:sp>
      <p:sp>
        <p:nvSpPr>
          <p:cNvPr id="11" name="Text 6">
            <a:extLst>
              <a:ext uri="{FF2B5EF4-FFF2-40B4-BE49-F238E27FC236}">
                <a16:creationId xmlns:a16="http://schemas.microsoft.com/office/drawing/2014/main" id="{634C908A-02AD-8C99-E32A-DFAD41D154A6}"/>
              </a:ext>
            </a:extLst>
          </p:cNvPr>
          <p:cNvSpPr/>
          <p:nvPr/>
        </p:nvSpPr>
        <p:spPr>
          <a:xfrm>
            <a:off x="411480" y="3154680"/>
            <a:ext cx="8046720" cy="320040"/>
          </a:xfrm>
          <a:prstGeom prst="rect">
            <a:avLst/>
          </a:prstGeom>
          <a:noFill/>
          <a:ln/>
        </p:spPr>
        <p:txBody>
          <a:bodyPr wrap="square" rtlCol="0" anchor="ctr"/>
          <a:lstStyle/>
          <a:p>
            <a:pPr marL="0" indent="0" algn="l">
              <a:buNone/>
            </a:pPr>
            <a:r>
              <a:rPr lang="en-US" sz="1400">
                <a:solidFill>
                  <a:srgbClr val="F0F4F8"/>
                </a:solidFill>
                <a:latin typeface="Calibri" pitchFamily="34" charset="0"/>
                <a:ea typeface="Calibri" pitchFamily="34" charset="-122"/>
                <a:cs typeface="Calibri" pitchFamily="34" charset="-120"/>
              </a:rPr>
              <a:t>Leland Weeks  ·  Johnny Belichev  ·  Ishant Somal</a:t>
            </a:r>
            <a:endParaRPr lang="en-US" sz="1400"/>
          </a:p>
        </p:txBody>
      </p:sp>
      <p:sp>
        <p:nvSpPr>
          <p:cNvPr id="12" name="Text 7">
            <a:extLst>
              <a:ext uri="{FF2B5EF4-FFF2-40B4-BE49-F238E27FC236}">
                <a16:creationId xmlns:a16="http://schemas.microsoft.com/office/drawing/2014/main" id="{5FB2D9DF-48BE-6B49-26A7-C90AC810BEDB}"/>
              </a:ext>
            </a:extLst>
          </p:cNvPr>
          <p:cNvSpPr/>
          <p:nvPr/>
        </p:nvSpPr>
        <p:spPr>
          <a:xfrm>
            <a:off x="411480" y="3493008"/>
            <a:ext cx="8046720" cy="274320"/>
          </a:xfrm>
          <a:prstGeom prst="rect">
            <a:avLst/>
          </a:prstGeom>
          <a:noFill/>
          <a:ln/>
        </p:spPr>
        <p:txBody>
          <a:bodyPr wrap="square" rtlCol="0" anchor="ctr"/>
          <a:lstStyle/>
          <a:p>
            <a:pPr marL="0" indent="0" algn="l">
              <a:buNone/>
            </a:pPr>
            <a:r>
              <a:rPr lang="en-US" sz="1300">
                <a:solidFill>
                  <a:srgbClr val="8BA0B5"/>
                </a:solidFill>
                <a:latin typeface="Calibri" pitchFamily="34" charset="0"/>
                <a:ea typeface="Calibri" pitchFamily="34" charset="-122"/>
                <a:cs typeface="Calibri" pitchFamily="34" charset="-120"/>
              </a:rPr>
              <a:t>CS 610  ·  Drexel University  ·  June 2026</a:t>
            </a:r>
            <a:endParaRPr lang="en-US" sz="1300"/>
          </a:p>
        </p:txBody>
      </p:sp>
      <p:sp>
        <p:nvSpPr>
          <p:cNvPr id="7" name="Rectangle 6">
            <a:extLst>
              <a:ext uri="{FF2B5EF4-FFF2-40B4-BE49-F238E27FC236}">
                <a16:creationId xmlns:a16="http://schemas.microsoft.com/office/drawing/2014/main" id="{2B294541-185D-E54A-BFF7-A1FA5F426196}"/>
              </a:ext>
            </a:extLst>
          </p:cNvPr>
          <p:cNvSpPr/>
          <p:nvPr/>
        </p:nvSpPr>
        <p:spPr>
          <a:xfrm>
            <a:off x="5969000" y="2946400"/>
            <a:ext cx="1333500" cy="787400"/>
          </a:xfrm>
          <a:prstGeom prst="rect">
            <a:avLst/>
          </a:prstGeom>
          <a:solidFill>
            <a:srgbClr val="1B3A5C"/>
          </a:solidFill>
          <a:ln w="12700" cap="flat" cmpd="sng" algn="ctr">
            <a:solidFill>
              <a:srgbClr val="E8A02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marL="0" indent="0" algn="ctr">
              <a:buNone/>
            </a:pPr>
            <a:r>
              <a:rPr lang="en-US" sz="2400" b="1">
                <a:solidFill>
                  <a:srgbClr val="E8A020"/>
                </a:solidFill>
                <a:latin typeface="Calibri"/>
                <a:cs typeface="Calibri"/>
              </a:rPr>
              <a:t>3,990</a:t>
            </a:r>
          </a:p>
          <a:p>
            <a:pPr marL="0" indent="0" algn="ctr">
              <a:buNone/>
            </a:pPr>
            <a:r>
              <a:rPr lang="en-US" sz="1100">
                <a:solidFill>
                  <a:srgbClr val="FFFFFF"/>
                </a:solidFill>
                <a:latin typeface="Calibri"/>
                <a:cs typeface="Calibri"/>
              </a:rPr>
              <a:t>NFL Games</a:t>
            </a:r>
          </a:p>
        </p:txBody>
      </p:sp>
      <p:sp>
        <p:nvSpPr>
          <p:cNvPr id="8" name="Rectangle 7">
            <a:extLst>
              <a:ext uri="{FF2B5EF4-FFF2-40B4-BE49-F238E27FC236}">
                <a16:creationId xmlns:a16="http://schemas.microsoft.com/office/drawing/2014/main" id="{FEE965EB-8C92-234D-805C-C0AD97126A87}"/>
              </a:ext>
            </a:extLst>
          </p:cNvPr>
          <p:cNvSpPr/>
          <p:nvPr/>
        </p:nvSpPr>
        <p:spPr>
          <a:xfrm>
            <a:off x="7442200" y="2946400"/>
            <a:ext cx="1333500" cy="787400"/>
          </a:xfrm>
          <a:prstGeom prst="rect">
            <a:avLst/>
          </a:prstGeom>
          <a:solidFill>
            <a:srgbClr val="1B3A5C"/>
          </a:solidFill>
          <a:ln w="12700" cap="flat" cmpd="sng" algn="ctr">
            <a:solidFill>
              <a:srgbClr val="E8A02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marL="0" indent="0" algn="ctr">
              <a:buNone/>
            </a:pPr>
            <a:r>
              <a:rPr lang="en-US" sz="2400" b="1">
                <a:solidFill>
                  <a:srgbClr val="E8A020"/>
                </a:solidFill>
                <a:latin typeface="Calibri"/>
                <a:cs typeface="Calibri"/>
              </a:rPr>
              <a:t>15</a:t>
            </a:r>
          </a:p>
          <a:p>
            <a:pPr marL="0" indent="0" algn="ctr">
              <a:buNone/>
            </a:pPr>
            <a:r>
              <a:rPr lang="en-US" sz="1100">
                <a:solidFill>
                  <a:srgbClr val="FFFFFF"/>
                </a:solidFill>
                <a:latin typeface="Calibri"/>
                <a:cs typeface="Calibri"/>
              </a:rPr>
              <a:t>Seasons</a:t>
            </a:r>
          </a:p>
        </p:txBody>
      </p:sp>
      <p:sp>
        <p:nvSpPr>
          <p:cNvPr id="9" name="Rectangle 8">
            <a:extLst>
              <a:ext uri="{FF2B5EF4-FFF2-40B4-BE49-F238E27FC236}">
                <a16:creationId xmlns:a16="http://schemas.microsoft.com/office/drawing/2014/main" id="{0957BE30-B2E0-8444-8BBE-D1106CE18790}"/>
              </a:ext>
            </a:extLst>
          </p:cNvPr>
          <p:cNvSpPr/>
          <p:nvPr/>
        </p:nvSpPr>
        <p:spPr>
          <a:xfrm>
            <a:off x="5969000" y="3873500"/>
            <a:ext cx="1333500" cy="787400"/>
          </a:xfrm>
          <a:prstGeom prst="rect">
            <a:avLst/>
          </a:prstGeom>
          <a:solidFill>
            <a:srgbClr val="1B3A5C"/>
          </a:solidFill>
          <a:ln w="12700" cap="flat" cmpd="sng" algn="ctr">
            <a:solidFill>
              <a:srgbClr val="E8A02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marL="0" indent="0" algn="ctr">
              <a:buNone/>
            </a:pPr>
            <a:r>
              <a:rPr lang="en-US" sz="2400" b="1">
                <a:solidFill>
                  <a:srgbClr val="E8A020"/>
                </a:solidFill>
                <a:latin typeface="Calibri"/>
                <a:cs typeface="Calibri"/>
              </a:rPr>
              <a:t>6</a:t>
            </a:r>
          </a:p>
          <a:p>
            <a:pPr marL="0" indent="0" algn="ctr">
              <a:buNone/>
            </a:pPr>
            <a:r>
              <a:rPr lang="en-US" sz="1100">
                <a:solidFill>
                  <a:srgbClr val="FFFFFF"/>
                </a:solidFill>
                <a:latin typeface="Calibri"/>
                <a:cs typeface="Calibri"/>
              </a:rPr>
              <a:t>Market Pts / Game</a:t>
            </a:r>
          </a:p>
        </p:txBody>
      </p:sp>
      <p:sp>
        <p:nvSpPr>
          <p:cNvPr id="10" name="Rectangle 9">
            <a:extLst>
              <a:ext uri="{FF2B5EF4-FFF2-40B4-BE49-F238E27FC236}">
                <a16:creationId xmlns:a16="http://schemas.microsoft.com/office/drawing/2014/main" id="{BCF2E100-AA81-1A44-A7E0-DCA009B85C45}"/>
              </a:ext>
            </a:extLst>
          </p:cNvPr>
          <p:cNvSpPr/>
          <p:nvPr/>
        </p:nvSpPr>
        <p:spPr>
          <a:xfrm>
            <a:off x="7442200" y="3873500"/>
            <a:ext cx="1333500" cy="787400"/>
          </a:xfrm>
          <a:prstGeom prst="rect">
            <a:avLst/>
          </a:prstGeom>
          <a:solidFill>
            <a:srgbClr val="1B3A5C"/>
          </a:solidFill>
          <a:ln w="12700" cap="flat" cmpd="sng" algn="ctr">
            <a:solidFill>
              <a:srgbClr val="E8A02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marL="0" indent="0" algn="ctr">
              <a:buNone/>
            </a:pPr>
            <a:r>
              <a:rPr lang="en-US" sz="2400" b="1">
                <a:solidFill>
                  <a:srgbClr val="E8A020"/>
                </a:solidFill>
                <a:latin typeface="Calibri"/>
                <a:cs typeface="Calibri"/>
              </a:rPr>
              <a:t>2</a:t>
            </a:r>
          </a:p>
          <a:p>
            <a:pPr marL="0" indent="0" algn="ctr">
              <a:buNone/>
            </a:pPr>
            <a:r>
              <a:rPr lang="en-US" sz="1100">
                <a:solidFill>
                  <a:srgbClr val="FFFFFF"/>
                </a:solidFill>
                <a:latin typeface="Calibri"/>
                <a:cs typeface="Calibri"/>
              </a:rPr>
              <a:t>Data Sources</a:t>
            </a:r>
          </a:p>
        </p:txBody>
      </p:sp>
    </p:spTree>
    <p:extLst>
      <p:ext uri="{BB962C8B-B14F-4D97-AF65-F5344CB8AC3E}">
        <p14:creationId xmlns:p14="http://schemas.microsoft.com/office/powerpoint/2010/main" val="36881394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255017DA-795F-8348-BFA2-64EA0E0DD087}"/>
              </a:ext>
            </a:extLst>
          </p:cNvPr>
          <p:cNvSpPr/>
          <p:nvPr/>
        </p:nvSpPr>
        <p:spPr>
          <a:xfrm>
            <a:off x="0" y="0"/>
            <a:ext cx="9144000" cy="965200"/>
          </a:xfrm>
          <a:prstGeom prst="rect">
            <a:avLst/>
          </a:prstGeom>
          <a:solidFill>
            <a:srgbClr val="0D1B2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 name="Shape 1">
            <a:extLst>
              <a:ext uri="{FF2B5EF4-FFF2-40B4-BE49-F238E27FC236}">
                <a16:creationId xmlns:a16="http://schemas.microsoft.com/office/drawing/2014/main" id="{6E9BAACF-E22F-A640-860E-11A3E6307F55}"/>
              </a:ext>
            </a:extLst>
          </p:cNvPr>
          <p:cNvSpPr/>
          <p:nvPr/>
        </p:nvSpPr>
        <p:spPr>
          <a:xfrm>
            <a:off x="0" y="965200"/>
            <a:ext cx="9144000" cy="63500"/>
          </a:xfrm>
          <a:prstGeom prst="rect">
            <a:avLst/>
          </a:prstGeom>
          <a:solidFill>
            <a:srgbClr val="E8A02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 name="Text 2">
            <a:extLst>
              <a:ext uri="{FF2B5EF4-FFF2-40B4-BE49-F238E27FC236}">
                <a16:creationId xmlns:a16="http://schemas.microsoft.com/office/drawing/2014/main" id="{1F737B3D-03C4-E043-B3CA-0EB22188C213}"/>
              </a:ext>
            </a:extLst>
          </p:cNvPr>
          <p:cNvSpPr txBox="1"/>
          <p:nvPr/>
        </p:nvSpPr>
        <p:spPr>
          <a:xfrm>
            <a:off x="368300" y="139700"/>
            <a:ext cx="8407400" cy="685800"/>
          </a:xfrm>
          <a:prstGeom prst="rect">
            <a:avLst/>
          </a:prstGeom>
          <a:noFill/>
        </p:spPr>
        <p:txBody>
          <a:bodyPr vertOverflow="overflow" vert="horz" wrap="square" rtlCol="0" anchor="ctr" anchorCtr="0">
            <a:spAutoFit/>
          </a:bodyPr>
          <a:lstStyle/>
          <a:p>
            <a:pPr algn="l"/>
            <a:r>
              <a:rPr lang="en-US" sz="2800" b="1">
                <a:solidFill>
                  <a:srgbClr val="FFFFFF"/>
                </a:solidFill>
                <a:latin typeface="Calibri"/>
                <a:cs typeface="Calibri"/>
              </a:rPr>
              <a:t>The Question, Before the Math</a:t>
            </a:r>
          </a:p>
        </p:txBody>
      </p:sp>
      <p:sp>
        <p:nvSpPr>
          <p:cNvPr id="12" name="ViscQuestion">
            <a:extLst>
              <a:ext uri="{FF2B5EF4-FFF2-40B4-BE49-F238E27FC236}">
                <a16:creationId xmlns:a16="http://schemas.microsoft.com/office/drawing/2014/main" id="{420207D5-08AF-4742-86FA-254868C3CED6}"/>
              </a:ext>
            </a:extLst>
          </p:cNvPr>
          <p:cNvSpPr txBox="1"/>
          <p:nvPr/>
        </p:nvSpPr>
        <p:spPr>
          <a:xfrm>
            <a:off x="368300" y="1225034"/>
            <a:ext cx="8128000" cy="369332"/>
          </a:xfrm>
          <a:prstGeom prst="rect">
            <a:avLst/>
          </a:prstGeom>
          <a:noFill/>
        </p:spPr>
        <p:txBody>
          <a:bodyPr vertOverflow="overflow" vert="horz" wrap="square" rtlCol="0" anchor="ctr" anchorCtr="0">
            <a:spAutoFit/>
          </a:bodyPr>
          <a:lstStyle/>
          <a:p>
            <a:pPr algn="l"/>
            <a:r>
              <a:rPr lang="en-US" sz="1800" b="1" dirty="0">
                <a:solidFill>
                  <a:srgbClr val="E8A020"/>
                </a:solidFill>
                <a:latin typeface="Calibri"/>
                <a:cs typeface="Calibri"/>
              </a:rPr>
              <a:t>Does any of this tell you something the box score doesn't?</a:t>
            </a:r>
          </a:p>
        </p:txBody>
      </p:sp>
      <p:pic>
        <p:nvPicPr>
          <p:cNvPr id="16" name="Picture 15">
            <a:extLst>
              <a:ext uri="{FF2B5EF4-FFF2-40B4-BE49-F238E27FC236}">
                <a16:creationId xmlns:a16="http://schemas.microsoft.com/office/drawing/2014/main" id="{D15C1054-18C6-E969-521B-B66449ECE055}"/>
              </a:ext>
            </a:extLst>
          </p:cNvPr>
          <p:cNvPicPr>
            <a:picLocks noChangeAspect="1"/>
          </p:cNvPicPr>
          <p:nvPr/>
        </p:nvPicPr>
        <p:blipFill>
          <a:blip r:embed="rId2"/>
          <a:stretch>
            <a:fillRect/>
          </a:stretch>
        </p:blipFill>
        <p:spPr>
          <a:xfrm>
            <a:off x="508000" y="1790700"/>
            <a:ext cx="8128000" cy="3034453"/>
          </a:xfrm>
          <a:prstGeom prst="rect">
            <a:avLst/>
          </a:prstGeom>
        </p:spPr>
      </p:pic>
    </p:spTree>
    <p:extLst>
      <p:ext uri="{BB962C8B-B14F-4D97-AF65-F5344CB8AC3E}">
        <p14:creationId xmlns:p14="http://schemas.microsoft.com/office/powerpoint/2010/main" val="40974020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
          <a:extLst>
            <a:ext uri="{FF2B5EF4-FFF2-40B4-BE49-F238E27FC236}">
              <a16:creationId xmlns:a16="http://schemas.microsoft.com/office/drawing/2014/main" id="{F9C8B6B9-46C4-86CC-4DE1-53177C69945D}"/>
            </a:ext>
          </a:extLst>
        </p:cNvPr>
        <p:cNvGrpSpPr/>
        <p:nvPr/>
      </p:nvGrpSpPr>
      <p:grpSpPr>
        <a:xfrm>
          <a:off x="0" y="0"/>
          <a:ext cx="0" cy="0"/>
          <a:chOff x="0" y="0"/>
          <a:chExt cx="0" cy="0"/>
        </a:xfrm>
      </p:grpSpPr>
      <p:sp>
        <p:nvSpPr>
          <p:cNvPr id="6" name="Rounded Rectangle 5">
            <a:extLst>
              <a:ext uri="{FF2B5EF4-FFF2-40B4-BE49-F238E27FC236}">
                <a16:creationId xmlns:a16="http://schemas.microsoft.com/office/drawing/2014/main" id="{7C1092F7-F32B-DB4F-93E7-77045B6398B0}"/>
              </a:ext>
            </a:extLst>
          </p:cNvPr>
          <p:cNvSpPr/>
          <p:nvPr/>
        </p:nvSpPr>
        <p:spPr>
          <a:xfrm>
            <a:off x="254000" y="3759200"/>
            <a:ext cx="8636000" cy="1168400"/>
          </a:xfrm>
          <a:prstGeom prst="roundRect">
            <a:avLst/>
          </a:prstGeom>
          <a:solidFill>
            <a:srgbClr val="F4F7FA"/>
          </a:solidFill>
          <a:ln w="12700" cap="flat" cmpd="sng" algn="ctr">
            <a:solidFill>
              <a:srgbClr val="E8A02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 name="Shape 0">
            <a:extLst>
              <a:ext uri="{FF2B5EF4-FFF2-40B4-BE49-F238E27FC236}">
                <a16:creationId xmlns:a16="http://schemas.microsoft.com/office/drawing/2014/main" id="{91F42CA5-B5D4-0171-9177-FC191A1D758B}"/>
              </a:ext>
            </a:extLst>
          </p:cNvPr>
          <p:cNvSpPr/>
          <p:nvPr/>
        </p:nvSpPr>
        <p:spPr>
          <a:xfrm>
            <a:off x="0" y="0"/>
            <a:ext cx="9144000" cy="960120"/>
          </a:xfrm>
          <a:prstGeom prst="rect">
            <a:avLst/>
          </a:prstGeom>
          <a:solidFill>
            <a:srgbClr val="0D1B2A"/>
          </a:solidFill>
          <a:ln w="12700">
            <a:solidFill>
              <a:srgbClr val="0D1B2A"/>
            </a:solidFill>
            <a:prstDash val="solid"/>
          </a:ln>
        </p:spPr>
        <p:txBody>
          <a:bodyPr/>
          <a:lstStyle/>
          <a:p>
            <a:endParaRPr lang="en-US"/>
          </a:p>
        </p:txBody>
      </p:sp>
      <p:sp>
        <p:nvSpPr>
          <p:cNvPr id="3" name="Shape 1">
            <a:extLst>
              <a:ext uri="{FF2B5EF4-FFF2-40B4-BE49-F238E27FC236}">
                <a16:creationId xmlns:a16="http://schemas.microsoft.com/office/drawing/2014/main" id="{CFA95742-D651-1FB6-CF7D-84DA353D307C}"/>
              </a:ext>
            </a:extLst>
          </p:cNvPr>
          <p:cNvSpPr/>
          <p:nvPr/>
        </p:nvSpPr>
        <p:spPr>
          <a:xfrm>
            <a:off x="0" y="960120"/>
            <a:ext cx="9144000" cy="64008"/>
          </a:xfrm>
          <a:prstGeom prst="rect">
            <a:avLst/>
          </a:prstGeom>
          <a:solidFill>
            <a:srgbClr val="E8A020"/>
          </a:solidFill>
          <a:ln w="12700">
            <a:solidFill>
              <a:srgbClr val="E8A020"/>
            </a:solidFill>
            <a:prstDash val="solid"/>
          </a:ln>
        </p:spPr>
        <p:txBody>
          <a:bodyPr/>
          <a:lstStyle/>
          <a:p>
            <a:endParaRPr lang="en-US"/>
          </a:p>
        </p:txBody>
      </p:sp>
      <p:sp>
        <p:nvSpPr>
          <p:cNvPr id="4" name="Text 2">
            <a:extLst>
              <a:ext uri="{FF2B5EF4-FFF2-40B4-BE49-F238E27FC236}">
                <a16:creationId xmlns:a16="http://schemas.microsoft.com/office/drawing/2014/main" id="{44DC2004-EDBE-B484-5854-68F418A3E8DB}"/>
              </a:ext>
            </a:extLst>
          </p:cNvPr>
          <p:cNvSpPr/>
          <p:nvPr/>
        </p:nvSpPr>
        <p:spPr>
          <a:xfrm>
            <a:off x="365760" y="137160"/>
            <a:ext cx="8412480" cy="685800"/>
          </a:xfrm>
          <a:prstGeom prst="rect">
            <a:avLst/>
          </a:prstGeom>
          <a:noFill/>
          <a:ln/>
        </p:spPr>
        <p:txBody>
          <a:bodyPr wrap="square" lIns="91440" tIns="45720" rIns="91440" bIns="45720" rtlCol="0" anchor="ctr"/>
          <a:lstStyle/>
          <a:p>
            <a:r>
              <a:rPr lang="en-US" sz="2800" b="1">
                <a:solidFill>
                  <a:srgbClr val="FFFFFF"/>
                </a:solidFill>
                <a:latin typeface="Calibri"/>
                <a:cs typeface="Calibri"/>
              </a:rPr>
              <a:t>Objectives</a:t>
            </a:r>
          </a:p>
        </p:txBody>
      </p:sp>
      <p:sp>
        <p:nvSpPr>
          <p:cNvPr id="25" name="RQ_Card">
            <a:extLst>
              <a:ext uri="{FF2B5EF4-FFF2-40B4-BE49-F238E27FC236}">
                <a16:creationId xmlns:a16="http://schemas.microsoft.com/office/drawing/2014/main" id="{2ABF7847-FDE6-3A4E-853E-1D6E7A7FAF1C}"/>
              </a:ext>
            </a:extLst>
          </p:cNvPr>
          <p:cNvSpPr/>
          <p:nvPr/>
        </p:nvSpPr>
        <p:spPr>
          <a:xfrm>
            <a:off x="254000" y="1130300"/>
            <a:ext cx="8636000" cy="1219200"/>
          </a:xfrm>
          <a:prstGeom prst="rect">
            <a:avLst/>
          </a:prstGeom>
          <a:solidFill>
            <a:srgbClr val="FFFFFF"/>
          </a:solidFill>
          <a:ln w="15875" cap="flat" cmpd="sng" algn="ctr">
            <a:solidFill>
              <a:srgbClr val="1B3A5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ctr"/>
            <a:r>
              <a:rPr lang="en-US" sz="2400" dirty="0">
                <a:solidFill>
                  <a:srgbClr val="404040"/>
                </a:solidFill>
                <a:latin typeface="Calibri"/>
                <a:cs typeface="Calibri"/>
              </a:rPr>
              <a:t>Is line movement </a:t>
            </a:r>
            <a:r>
              <a:rPr lang="en-US" sz="2400" b="1" dirty="0">
                <a:solidFill>
                  <a:srgbClr val="E8A020"/>
                </a:solidFill>
                <a:latin typeface="Calibri"/>
                <a:cs typeface="Calibri"/>
              </a:rPr>
              <a:t>conditionally independent</a:t>
            </a:r>
            <a:endParaRPr lang="en-US" sz="2400" b="1" dirty="0">
              <a:solidFill>
                <a:srgbClr val="404040"/>
              </a:solidFill>
              <a:latin typeface="Calibri"/>
              <a:cs typeface="Calibri"/>
            </a:endParaRPr>
          </a:p>
          <a:p>
            <a:pPr algn="ctr"/>
            <a:r>
              <a:rPr lang="en-US" sz="2400" dirty="0">
                <a:solidFill>
                  <a:srgbClr val="404040"/>
                </a:solidFill>
                <a:latin typeface="Calibri"/>
                <a:cs typeface="Calibri"/>
              </a:rPr>
              <a:t>of ATS outcome given game fundamentals?</a:t>
            </a:r>
          </a:p>
        </p:txBody>
      </p:sp>
      <p:sp>
        <p:nvSpPr>
          <p:cNvPr id="26" name="Obj_Bullets">
            <a:extLst>
              <a:ext uri="{FF2B5EF4-FFF2-40B4-BE49-F238E27FC236}">
                <a16:creationId xmlns:a16="http://schemas.microsoft.com/office/drawing/2014/main" id="{949A6856-D0F1-0948-8F81-5672588EFF47}"/>
              </a:ext>
            </a:extLst>
          </p:cNvPr>
          <p:cNvSpPr txBox="1"/>
          <p:nvPr/>
        </p:nvSpPr>
        <p:spPr>
          <a:xfrm>
            <a:off x="365760" y="2442904"/>
            <a:ext cx="8636000" cy="1255027"/>
          </a:xfrm>
          <a:prstGeom prst="rect">
            <a:avLst/>
          </a:prstGeom>
          <a:noFill/>
        </p:spPr>
        <p:txBody>
          <a:bodyPr vertOverflow="overflow" vert="horz" wrap="square" rtlCol="0" anchor="t">
            <a:noAutofit/>
          </a:bodyPr>
          <a:lstStyle/>
          <a:p>
            <a:pPr algn="l">
              <a:spcAft>
                <a:spcPts val="600"/>
              </a:spcAft>
              <a:buNone/>
            </a:pPr>
            <a:r>
              <a:rPr lang="en-US" sz="1600" b="1" dirty="0">
                <a:solidFill>
                  <a:srgbClr val="E8A020"/>
                </a:solidFill>
                <a:latin typeface="Calibri"/>
                <a:cs typeface="Calibri"/>
              </a:rPr>
              <a:t>Objectives</a:t>
            </a:r>
          </a:p>
          <a:p>
            <a:pPr marL="228600" indent="-228600">
              <a:lnSpc>
                <a:spcPts val="2000"/>
              </a:lnSpc>
              <a:spcAft>
                <a:spcPts val="400"/>
              </a:spcAft>
              <a:buFont typeface="Arial"/>
              <a:buChar char="•"/>
            </a:pPr>
            <a:r>
              <a:rPr lang="en-US" sz="1700" dirty="0">
                <a:solidFill>
                  <a:srgbClr val="404040"/>
                </a:solidFill>
                <a:latin typeface="Calibri"/>
                <a:cs typeface="Calibri"/>
              </a:rPr>
              <a:t>Test whether line movement is conditionally independent of ATS outcome given game fundamentals</a:t>
            </a:r>
          </a:p>
          <a:p>
            <a:pPr marL="228600" indent="-228600">
              <a:lnSpc>
                <a:spcPts val="2000"/>
              </a:lnSpc>
              <a:spcAft>
                <a:spcPts val="400"/>
              </a:spcAft>
              <a:buFont typeface="Arial"/>
              <a:buChar char="•"/>
            </a:pPr>
            <a:r>
              <a:rPr lang="en-US" sz="1700" dirty="0">
                <a:solidFill>
                  <a:srgbClr val="404040"/>
                </a:solidFill>
                <a:latin typeface="Calibri"/>
                <a:cs typeface="Calibri"/>
              </a:rPr>
              <a:t>Isolate whether market signals add predictive information beyond game statistics</a:t>
            </a:r>
          </a:p>
        </p:txBody>
      </p:sp>
      <p:sp>
        <p:nvSpPr>
          <p:cNvPr id="7" name="Rectangle 6">
            <a:extLst>
              <a:ext uri="{FF2B5EF4-FFF2-40B4-BE49-F238E27FC236}">
                <a16:creationId xmlns:a16="http://schemas.microsoft.com/office/drawing/2014/main" id="{49D797A4-7C30-864A-B4A4-5AC07DC16647}"/>
              </a:ext>
            </a:extLst>
          </p:cNvPr>
          <p:cNvSpPr/>
          <p:nvPr/>
        </p:nvSpPr>
        <p:spPr>
          <a:xfrm>
            <a:off x="254000" y="3759200"/>
            <a:ext cx="76200" cy="1168400"/>
          </a:xfrm>
          <a:prstGeom prst="rect">
            <a:avLst/>
          </a:prstGeom>
          <a:solidFill>
            <a:srgbClr val="E8A02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Answer_OneLiner">
            <a:extLst>
              <a:ext uri="{FF2B5EF4-FFF2-40B4-BE49-F238E27FC236}">
                <a16:creationId xmlns:a16="http://schemas.microsoft.com/office/drawing/2014/main" id="{737BCCF0-5CA2-4049-82E1-21D6E4C7722E}"/>
              </a:ext>
            </a:extLst>
          </p:cNvPr>
          <p:cNvSpPr txBox="1"/>
          <p:nvPr/>
        </p:nvSpPr>
        <p:spPr>
          <a:xfrm>
            <a:off x="508000" y="3860800"/>
            <a:ext cx="8229600" cy="1212215"/>
          </a:xfrm>
          <a:prstGeom prst="rect">
            <a:avLst/>
          </a:prstGeom>
          <a:noFill/>
        </p:spPr>
        <p:txBody>
          <a:bodyPr vertOverflow="overflow" vert="horz" wrap="square" rtlCol="0" anchor="ctr" anchorCtr="0">
            <a:noAutofit/>
          </a:bodyPr>
          <a:lstStyle/>
          <a:p>
            <a:pPr algn="l">
              <a:spcAft>
                <a:spcPts val="600"/>
              </a:spcAft>
            </a:pPr>
            <a:r>
              <a:rPr lang="en-US" sz="1500" b="1" dirty="0">
                <a:solidFill>
                  <a:srgbClr val="0D1B2A"/>
                </a:solidFill>
                <a:latin typeface="Calibri"/>
                <a:cs typeface="Calibri"/>
              </a:rPr>
              <a:t>Our models proved that </a:t>
            </a:r>
            <a:r>
              <a:rPr lang="en-US" sz="1500" b="1" dirty="0">
                <a:solidFill>
                  <a:srgbClr val="E8A020"/>
                </a:solidFill>
                <a:latin typeface="Calibri"/>
                <a:cs typeface="Calibri"/>
              </a:rPr>
              <a:t>market signals</a:t>
            </a:r>
            <a:r>
              <a:rPr lang="en-US" sz="1500" b="1" dirty="0">
                <a:solidFill>
                  <a:srgbClr val="0D1B2A"/>
                </a:solidFill>
                <a:latin typeface="Calibri"/>
                <a:cs typeface="Calibri"/>
              </a:rPr>
              <a:t>:</a:t>
            </a:r>
          </a:p>
          <a:p>
            <a:pPr marL="285750" indent="-285750" algn="l">
              <a:spcBef>
                <a:spcPts val="300"/>
              </a:spcBef>
              <a:buClr>
                <a:srgbClr val="C0392B"/>
              </a:buClr>
              <a:buFont typeface="Arial" panose="020B0604020202020204" pitchFamily="34" charset="0"/>
              <a:buChar char="•"/>
            </a:pPr>
            <a:r>
              <a:rPr lang="en-US" sz="1400" b="1" dirty="0">
                <a:solidFill>
                  <a:srgbClr val="C0392B"/>
                </a:solidFill>
                <a:latin typeface="Calibri"/>
                <a:cs typeface="Calibri"/>
              </a:rPr>
              <a:t>do NOT </a:t>
            </a:r>
            <a:r>
              <a:rPr lang="en-US" sz="1400" dirty="0">
                <a:solidFill>
                  <a:srgbClr val="0D1B2A"/>
                </a:solidFill>
                <a:latin typeface="Calibri"/>
                <a:cs typeface="Calibri"/>
              </a:rPr>
              <a:t>improve accuracy beyond game stats</a:t>
            </a:r>
          </a:p>
          <a:p>
            <a:pPr marL="285750" indent="-285750" algn="l">
              <a:spcBef>
                <a:spcPts val="300"/>
              </a:spcBef>
              <a:buClr>
                <a:srgbClr val="2E8B57"/>
              </a:buClr>
              <a:buFont typeface="Arial" panose="020B0604020202020204" pitchFamily="34" charset="0"/>
              <a:buChar char="•"/>
            </a:pPr>
            <a:r>
              <a:rPr lang="en-US" sz="1400" b="1" dirty="0">
                <a:solidFill>
                  <a:srgbClr val="2E8B57"/>
                </a:solidFill>
                <a:latin typeface="Calibri"/>
                <a:cs typeface="Calibri"/>
              </a:rPr>
              <a:t>but they DO </a:t>
            </a:r>
            <a:r>
              <a:rPr lang="en-US" sz="1400" dirty="0">
                <a:solidFill>
                  <a:srgbClr val="0D1B2A"/>
                </a:solidFill>
                <a:latin typeface="Calibri"/>
                <a:cs typeface="Calibri"/>
              </a:rPr>
              <a:t>improve calibration</a:t>
            </a:r>
          </a:p>
        </p:txBody>
      </p:sp>
    </p:spTree>
    <p:extLst>
      <p:ext uri="{BB962C8B-B14F-4D97-AF65-F5344CB8AC3E}">
        <p14:creationId xmlns:p14="http://schemas.microsoft.com/office/powerpoint/2010/main" val="9486959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
          <a:extLst>
            <a:ext uri="{FF2B5EF4-FFF2-40B4-BE49-F238E27FC236}">
              <a16:creationId xmlns:a16="http://schemas.microsoft.com/office/drawing/2014/main" id="{F9C8B6B9-46C4-86CC-4DE1-53177C69945D}"/>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E5E03421-CA6B-1B22-E27A-21BA271D7750}"/>
              </a:ext>
            </a:extLst>
          </p:cNvPr>
          <p:cNvSpPr/>
          <p:nvPr/>
        </p:nvSpPr>
        <p:spPr>
          <a:xfrm>
            <a:off x="6096000" y="1130300"/>
            <a:ext cx="2755900" cy="2387600"/>
          </a:xfrm>
          <a:prstGeom prst="rect">
            <a:avLst/>
          </a:prstGeom>
          <a:solidFill>
            <a:srgbClr val="FFFFFF"/>
          </a:solidFill>
          <a:ln w="15875" cap="flat" cmpd="sng" algn="ctr">
            <a:solidFill>
              <a:srgbClr val="1B3A5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 name="Rectangle 9">
            <a:extLst>
              <a:ext uri="{FF2B5EF4-FFF2-40B4-BE49-F238E27FC236}">
                <a16:creationId xmlns:a16="http://schemas.microsoft.com/office/drawing/2014/main" id="{0CA5FABE-2A78-51CE-04CC-EBF1B75FB27D}"/>
              </a:ext>
            </a:extLst>
          </p:cNvPr>
          <p:cNvSpPr/>
          <p:nvPr/>
        </p:nvSpPr>
        <p:spPr>
          <a:xfrm>
            <a:off x="3175000" y="1130300"/>
            <a:ext cx="2755900" cy="2387600"/>
          </a:xfrm>
          <a:prstGeom prst="rect">
            <a:avLst/>
          </a:prstGeom>
          <a:solidFill>
            <a:srgbClr val="FFFFFF"/>
          </a:solidFill>
          <a:ln w="15875" cap="flat" cmpd="sng" algn="ctr">
            <a:solidFill>
              <a:srgbClr val="1B3A5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Rectangle 4">
            <a:extLst>
              <a:ext uri="{FF2B5EF4-FFF2-40B4-BE49-F238E27FC236}">
                <a16:creationId xmlns:a16="http://schemas.microsoft.com/office/drawing/2014/main" id="{A304381F-DB86-4694-FA62-5E5F0E0DDE4C}"/>
              </a:ext>
            </a:extLst>
          </p:cNvPr>
          <p:cNvSpPr/>
          <p:nvPr/>
        </p:nvSpPr>
        <p:spPr>
          <a:xfrm>
            <a:off x="254000" y="1130300"/>
            <a:ext cx="2755900" cy="2387600"/>
          </a:xfrm>
          <a:prstGeom prst="rect">
            <a:avLst/>
          </a:prstGeom>
          <a:solidFill>
            <a:srgbClr val="FFFFFF"/>
          </a:solidFill>
          <a:ln w="15875" cap="flat" cmpd="sng" algn="ctr">
            <a:solidFill>
              <a:srgbClr val="1B3A5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 name="Shape 0">
            <a:extLst>
              <a:ext uri="{FF2B5EF4-FFF2-40B4-BE49-F238E27FC236}">
                <a16:creationId xmlns:a16="http://schemas.microsoft.com/office/drawing/2014/main" id="{91F42CA5-B5D4-0171-9177-FC191A1D758B}"/>
              </a:ext>
            </a:extLst>
          </p:cNvPr>
          <p:cNvSpPr/>
          <p:nvPr/>
        </p:nvSpPr>
        <p:spPr>
          <a:xfrm>
            <a:off x="0" y="0"/>
            <a:ext cx="9144000" cy="960120"/>
          </a:xfrm>
          <a:prstGeom prst="rect">
            <a:avLst/>
          </a:prstGeom>
          <a:solidFill>
            <a:srgbClr val="0D1B2A"/>
          </a:solidFill>
          <a:ln w="12700">
            <a:solidFill>
              <a:srgbClr val="0D1B2A"/>
            </a:solidFill>
            <a:prstDash val="solid"/>
          </a:ln>
        </p:spPr>
        <p:txBody>
          <a:bodyPr/>
          <a:lstStyle/>
          <a:p>
            <a:endParaRPr lang="en-US"/>
          </a:p>
        </p:txBody>
      </p:sp>
      <p:sp>
        <p:nvSpPr>
          <p:cNvPr id="3" name="Shape 1">
            <a:extLst>
              <a:ext uri="{FF2B5EF4-FFF2-40B4-BE49-F238E27FC236}">
                <a16:creationId xmlns:a16="http://schemas.microsoft.com/office/drawing/2014/main" id="{CFA95742-D651-1FB6-CF7D-84DA353D307C}"/>
              </a:ext>
            </a:extLst>
          </p:cNvPr>
          <p:cNvSpPr/>
          <p:nvPr/>
        </p:nvSpPr>
        <p:spPr>
          <a:xfrm>
            <a:off x="0" y="960120"/>
            <a:ext cx="9144000" cy="64008"/>
          </a:xfrm>
          <a:prstGeom prst="rect">
            <a:avLst/>
          </a:prstGeom>
          <a:solidFill>
            <a:srgbClr val="E8A020"/>
          </a:solidFill>
          <a:ln w="12700">
            <a:solidFill>
              <a:srgbClr val="E8A020"/>
            </a:solidFill>
            <a:prstDash val="solid"/>
          </a:ln>
        </p:spPr>
        <p:txBody>
          <a:bodyPr/>
          <a:lstStyle/>
          <a:p>
            <a:endParaRPr lang="en-US"/>
          </a:p>
        </p:txBody>
      </p:sp>
      <p:sp>
        <p:nvSpPr>
          <p:cNvPr id="4" name="Text 2">
            <a:extLst>
              <a:ext uri="{FF2B5EF4-FFF2-40B4-BE49-F238E27FC236}">
                <a16:creationId xmlns:a16="http://schemas.microsoft.com/office/drawing/2014/main" id="{44DC2004-EDBE-B484-5854-68F418A3E8DB}"/>
              </a:ext>
            </a:extLst>
          </p:cNvPr>
          <p:cNvSpPr/>
          <p:nvPr/>
        </p:nvSpPr>
        <p:spPr>
          <a:xfrm>
            <a:off x="365760" y="137160"/>
            <a:ext cx="8412480" cy="685800"/>
          </a:xfrm>
          <a:prstGeom prst="rect">
            <a:avLst/>
          </a:prstGeom>
          <a:noFill/>
          <a:ln/>
        </p:spPr>
        <p:txBody>
          <a:bodyPr wrap="square" lIns="91440" tIns="45720" rIns="91440" bIns="45720" rtlCol="0" anchor="ctr"/>
          <a:lstStyle/>
          <a:p>
            <a:r>
              <a:rPr lang="en-US" sz="2800" b="1">
                <a:solidFill>
                  <a:srgbClr val="FFFFFF"/>
                </a:solidFill>
                <a:latin typeface="Calibri"/>
                <a:cs typeface="Calibri"/>
              </a:rPr>
              <a:t>Gap in the Literature</a:t>
            </a:r>
          </a:p>
        </p:txBody>
      </p:sp>
      <p:sp>
        <p:nvSpPr>
          <p:cNvPr id="6" name="Rectangle 5">
            <a:extLst>
              <a:ext uri="{FF2B5EF4-FFF2-40B4-BE49-F238E27FC236}">
                <a16:creationId xmlns:a16="http://schemas.microsoft.com/office/drawing/2014/main" id="{9B2F089C-302C-F961-9DF0-F6A22CBBBC58}"/>
              </a:ext>
            </a:extLst>
          </p:cNvPr>
          <p:cNvSpPr/>
          <p:nvPr/>
        </p:nvSpPr>
        <p:spPr>
          <a:xfrm>
            <a:off x="254000" y="1130300"/>
            <a:ext cx="2755900" cy="381000"/>
          </a:xfrm>
          <a:prstGeom prst="rect">
            <a:avLst/>
          </a:prstGeom>
          <a:solidFill>
            <a:srgbClr val="1B3A5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 name="GroupHeaderText_Group1">
            <a:extLst>
              <a:ext uri="{FF2B5EF4-FFF2-40B4-BE49-F238E27FC236}">
                <a16:creationId xmlns:a16="http://schemas.microsoft.com/office/drawing/2014/main" id="{ECC02653-D028-86D1-6FB7-697D031FBBBD}"/>
              </a:ext>
            </a:extLst>
          </p:cNvPr>
          <p:cNvSpPr txBox="1"/>
          <p:nvPr/>
        </p:nvSpPr>
        <p:spPr>
          <a:xfrm>
            <a:off x="254000" y="1130300"/>
            <a:ext cx="2755900" cy="381000"/>
          </a:xfrm>
          <a:prstGeom prst="rect">
            <a:avLst/>
          </a:prstGeom>
          <a:noFill/>
          <a:ln>
            <a:noFill/>
          </a:ln>
        </p:spPr>
        <p:txBody>
          <a:bodyPr vertOverflow="overflow" vert="horz" wrap="square" rtlCol="0" anchor="ctr" anchorCtr="0">
            <a:noAutofit/>
          </a:bodyPr>
          <a:lstStyle/>
          <a:p>
            <a:pPr algn="l"/>
            <a:r>
              <a:rPr lang="en-US" sz="1600" b="1">
                <a:solidFill>
                  <a:srgbClr val="FFFFFF"/>
                </a:solidFill>
                <a:latin typeface="Calibri"/>
                <a:cs typeface="Calibri"/>
              </a:rPr>
              <a:t>BNs for Sports Prediction</a:t>
            </a:r>
          </a:p>
        </p:txBody>
      </p:sp>
      <p:sp>
        <p:nvSpPr>
          <p:cNvPr id="8" name="TextBox 7">
            <a:extLst>
              <a:ext uri="{FF2B5EF4-FFF2-40B4-BE49-F238E27FC236}">
                <a16:creationId xmlns:a16="http://schemas.microsoft.com/office/drawing/2014/main" id="{85B2C095-1942-FB66-7121-E3FA6D1B42C7}"/>
              </a:ext>
            </a:extLst>
          </p:cNvPr>
          <p:cNvSpPr txBox="1"/>
          <p:nvPr/>
        </p:nvSpPr>
        <p:spPr>
          <a:xfrm>
            <a:off x="381000" y="1587500"/>
            <a:ext cx="2501900" cy="228600"/>
          </a:xfrm>
          <a:prstGeom prst="rect">
            <a:avLst/>
          </a:prstGeom>
          <a:noFill/>
          <a:ln>
            <a:noFill/>
          </a:ln>
        </p:spPr>
        <p:txBody>
          <a:bodyPr vertOverflow="overflow" vert="horz" wrap="square" rtlCol="0" anchor="t" anchorCtr="0">
            <a:noAutofit/>
          </a:bodyPr>
          <a:lstStyle/>
          <a:p>
            <a:endParaRPr lang="en-US" sz="1200"/>
          </a:p>
        </p:txBody>
      </p:sp>
      <p:sp>
        <p:nvSpPr>
          <p:cNvPr id="9" name="TextBox 8">
            <a:extLst>
              <a:ext uri="{FF2B5EF4-FFF2-40B4-BE49-F238E27FC236}">
                <a16:creationId xmlns:a16="http://schemas.microsoft.com/office/drawing/2014/main" id="{1BA2B655-FD42-7837-E35E-BAA20709A2C2}"/>
              </a:ext>
            </a:extLst>
          </p:cNvPr>
          <p:cNvSpPr txBox="1"/>
          <p:nvPr/>
        </p:nvSpPr>
        <p:spPr>
          <a:xfrm>
            <a:off x="381000" y="1600200"/>
            <a:ext cx="2501900" cy="1841500"/>
          </a:xfrm>
          <a:prstGeom prst="rect">
            <a:avLst/>
          </a:prstGeom>
          <a:noFill/>
          <a:ln>
            <a:noFill/>
          </a:ln>
        </p:spPr>
        <p:txBody>
          <a:bodyPr vertOverflow="overflow" vert="horz" wrap="square" rtlCol="0" anchor="t" anchorCtr="0">
            <a:noAutofit/>
          </a:bodyPr>
          <a:lstStyle/>
          <a:p>
            <a:pPr algn="l">
              <a:lnSpc>
                <a:spcPts val="1900"/>
              </a:lnSpc>
            </a:pPr>
            <a:r>
              <a:rPr lang="en-US" sz="1500">
                <a:solidFill>
                  <a:srgbClr val="404040"/>
                </a:solidFill>
                <a:latin typeface="Calibri"/>
                <a:cs typeface="Calibri"/>
              </a:rPr>
              <a:t>Constantinou, Fenton &amp; Neil (2012–13): BN for soccer forecasting — game variables only, no market movement.</a:t>
            </a:r>
          </a:p>
        </p:txBody>
      </p:sp>
      <p:sp>
        <p:nvSpPr>
          <p:cNvPr id="11" name="Rectangle 10">
            <a:extLst>
              <a:ext uri="{FF2B5EF4-FFF2-40B4-BE49-F238E27FC236}">
                <a16:creationId xmlns:a16="http://schemas.microsoft.com/office/drawing/2014/main" id="{0EC68221-78B2-AF38-C2F9-AD4B8291A4DF}"/>
              </a:ext>
            </a:extLst>
          </p:cNvPr>
          <p:cNvSpPr/>
          <p:nvPr/>
        </p:nvSpPr>
        <p:spPr>
          <a:xfrm>
            <a:off x="3175000" y="1130300"/>
            <a:ext cx="2755900" cy="381000"/>
          </a:xfrm>
          <a:prstGeom prst="rect">
            <a:avLst/>
          </a:prstGeom>
          <a:solidFill>
            <a:srgbClr val="1B3A5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2" name="GroupHeaderText_Group2">
            <a:extLst>
              <a:ext uri="{FF2B5EF4-FFF2-40B4-BE49-F238E27FC236}">
                <a16:creationId xmlns:a16="http://schemas.microsoft.com/office/drawing/2014/main" id="{DA92B316-C83D-57A8-C826-115753A83BBF}"/>
              </a:ext>
            </a:extLst>
          </p:cNvPr>
          <p:cNvSpPr txBox="1"/>
          <p:nvPr/>
        </p:nvSpPr>
        <p:spPr>
          <a:xfrm>
            <a:off x="3175000" y="1130300"/>
            <a:ext cx="2755900" cy="381000"/>
          </a:xfrm>
          <a:prstGeom prst="rect">
            <a:avLst/>
          </a:prstGeom>
          <a:noFill/>
          <a:ln>
            <a:noFill/>
          </a:ln>
        </p:spPr>
        <p:txBody>
          <a:bodyPr vertOverflow="overflow" vert="horz" wrap="square" rtlCol="0" anchor="ctr" anchorCtr="0">
            <a:noAutofit/>
          </a:bodyPr>
          <a:lstStyle/>
          <a:p>
            <a:pPr algn="l"/>
            <a:r>
              <a:rPr lang="en-US" sz="1600" b="1">
                <a:solidFill>
                  <a:srgbClr val="FFFFFF"/>
                </a:solidFill>
                <a:latin typeface="Calibri"/>
                <a:cs typeface="Calibri"/>
              </a:rPr>
              <a:t>Stats + Odds Combined</a:t>
            </a:r>
          </a:p>
        </p:txBody>
      </p:sp>
      <p:sp>
        <p:nvSpPr>
          <p:cNvPr id="13" name="TextBox 12">
            <a:extLst>
              <a:ext uri="{FF2B5EF4-FFF2-40B4-BE49-F238E27FC236}">
                <a16:creationId xmlns:a16="http://schemas.microsoft.com/office/drawing/2014/main" id="{B70DF717-DDED-11EA-D17D-B21CC150AE4B}"/>
              </a:ext>
            </a:extLst>
          </p:cNvPr>
          <p:cNvSpPr txBox="1"/>
          <p:nvPr/>
        </p:nvSpPr>
        <p:spPr>
          <a:xfrm>
            <a:off x="3302000" y="1587500"/>
            <a:ext cx="2501900" cy="228600"/>
          </a:xfrm>
          <a:prstGeom prst="rect">
            <a:avLst/>
          </a:prstGeom>
          <a:noFill/>
          <a:ln>
            <a:noFill/>
          </a:ln>
        </p:spPr>
        <p:txBody>
          <a:bodyPr vertOverflow="overflow" vert="horz" wrap="square" rtlCol="0" anchor="t" anchorCtr="0">
            <a:noAutofit/>
          </a:bodyPr>
          <a:lstStyle/>
          <a:p>
            <a:endParaRPr lang="en-US" sz="1200"/>
          </a:p>
        </p:txBody>
      </p:sp>
      <p:sp>
        <p:nvSpPr>
          <p:cNvPr id="14" name="TextBox 13">
            <a:extLst>
              <a:ext uri="{FF2B5EF4-FFF2-40B4-BE49-F238E27FC236}">
                <a16:creationId xmlns:a16="http://schemas.microsoft.com/office/drawing/2014/main" id="{D1CCF0C0-068A-6BA2-999A-8351870D7DE4}"/>
              </a:ext>
            </a:extLst>
          </p:cNvPr>
          <p:cNvSpPr txBox="1"/>
          <p:nvPr/>
        </p:nvSpPr>
        <p:spPr>
          <a:xfrm>
            <a:off x="3302000" y="1600200"/>
            <a:ext cx="2501900" cy="1841500"/>
          </a:xfrm>
          <a:prstGeom prst="rect">
            <a:avLst/>
          </a:prstGeom>
          <a:noFill/>
          <a:ln>
            <a:noFill/>
          </a:ln>
        </p:spPr>
        <p:txBody>
          <a:bodyPr vertOverflow="overflow" vert="horz" wrap="square" rtlCol="0" anchor="t" anchorCtr="0">
            <a:noAutofit/>
          </a:bodyPr>
          <a:lstStyle/>
          <a:p>
            <a:pPr algn="l">
              <a:lnSpc>
                <a:spcPts val="1900"/>
              </a:lnSpc>
            </a:pPr>
            <a:r>
              <a:rPr lang="en-US" sz="1500">
                <a:solidFill>
                  <a:srgbClr val="404040"/>
                </a:solidFill>
                <a:latin typeface="Calibri"/>
                <a:cs typeface="Calibri"/>
              </a:rPr>
              <a:t>Egidi, Pauli &amp; Torelli (2018): hierarchical Bayes blending odds — no conditional dependence structure.</a:t>
            </a:r>
          </a:p>
        </p:txBody>
      </p:sp>
      <p:sp>
        <p:nvSpPr>
          <p:cNvPr id="16" name="Rectangle 15">
            <a:extLst>
              <a:ext uri="{FF2B5EF4-FFF2-40B4-BE49-F238E27FC236}">
                <a16:creationId xmlns:a16="http://schemas.microsoft.com/office/drawing/2014/main" id="{500A20A5-55E9-B100-6CFA-50AED3B99A3B}"/>
              </a:ext>
            </a:extLst>
          </p:cNvPr>
          <p:cNvSpPr/>
          <p:nvPr/>
        </p:nvSpPr>
        <p:spPr>
          <a:xfrm>
            <a:off x="6096000" y="1130300"/>
            <a:ext cx="2755900" cy="381000"/>
          </a:xfrm>
          <a:prstGeom prst="rect">
            <a:avLst/>
          </a:prstGeom>
          <a:solidFill>
            <a:srgbClr val="1B3A5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7" name="GroupHeaderText_Group3">
            <a:extLst>
              <a:ext uri="{FF2B5EF4-FFF2-40B4-BE49-F238E27FC236}">
                <a16:creationId xmlns:a16="http://schemas.microsoft.com/office/drawing/2014/main" id="{7A08DBE0-8AF4-2758-FABC-938D706FE12D}"/>
              </a:ext>
            </a:extLst>
          </p:cNvPr>
          <p:cNvSpPr txBox="1"/>
          <p:nvPr/>
        </p:nvSpPr>
        <p:spPr>
          <a:xfrm>
            <a:off x="6096000" y="1130300"/>
            <a:ext cx="2755900" cy="381000"/>
          </a:xfrm>
          <a:prstGeom prst="rect">
            <a:avLst/>
          </a:prstGeom>
          <a:noFill/>
          <a:ln>
            <a:noFill/>
          </a:ln>
        </p:spPr>
        <p:txBody>
          <a:bodyPr vertOverflow="overflow" vert="horz" wrap="square" rtlCol="0" anchor="ctr" anchorCtr="0">
            <a:noAutofit/>
          </a:bodyPr>
          <a:lstStyle/>
          <a:p>
            <a:pPr algn="l"/>
            <a:r>
              <a:rPr lang="en-US" sz="1600" b="1">
                <a:solidFill>
                  <a:srgbClr val="FFFFFF"/>
                </a:solidFill>
                <a:latin typeface="Calibri"/>
                <a:cs typeface="Calibri"/>
              </a:rPr>
              <a:t>Market Efficiency</a:t>
            </a:r>
          </a:p>
        </p:txBody>
      </p:sp>
      <p:sp>
        <p:nvSpPr>
          <p:cNvPr id="18" name="TextBox 17">
            <a:extLst>
              <a:ext uri="{FF2B5EF4-FFF2-40B4-BE49-F238E27FC236}">
                <a16:creationId xmlns:a16="http://schemas.microsoft.com/office/drawing/2014/main" id="{07381AD6-C2D8-2F3C-2FAB-03E58226397E}"/>
              </a:ext>
            </a:extLst>
          </p:cNvPr>
          <p:cNvSpPr txBox="1"/>
          <p:nvPr/>
        </p:nvSpPr>
        <p:spPr>
          <a:xfrm>
            <a:off x="6223000" y="1587500"/>
            <a:ext cx="2501900" cy="228600"/>
          </a:xfrm>
          <a:prstGeom prst="rect">
            <a:avLst/>
          </a:prstGeom>
          <a:noFill/>
          <a:ln>
            <a:noFill/>
          </a:ln>
        </p:spPr>
        <p:txBody>
          <a:bodyPr vertOverflow="overflow" vert="horz" wrap="square" rtlCol="0" anchor="t" anchorCtr="0">
            <a:noAutofit/>
          </a:bodyPr>
          <a:lstStyle/>
          <a:p>
            <a:endParaRPr lang="en-US" sz="1200"/>
          </a:p>
        </p:txBody>
      </p:sp>
      <p:sp>
        <p:nvSpPr>
          <p:cNvPr id="19" name="TextBox 18">
            <a:extLst>
              <a:ext uri="{FF2B5EF4-FFF2-40B4-BE49-F238E27FC236}">
                <a16:creationId xmlns:a16="http://schemas.microsoft.com/office/drawing/2014/main" id="{56010B7E-14D9-7D16-A3A7-B2761B1A587E}"/>
              </a:ext>
            </a:extLst>
          </p:cNvPr>
          <p:cNvSpPr txBox="1"/>
          <p:nvPr/>
        </p:nvSpPr>
        <p:spPr>
          <a:xfrm>
            <a:off x="6223000" y="1600200"/>
            <a:ext cx="2501900" cy="1841500"/>
          </a:xfrm>
          <a:prstGeom prst="rect">
            <a:avLst/>
          </a:prstGeom>
          <a:noFill/>
          <a:ln>
            <a:noFill/>
          </a:ln>
        </p:spPr>
        <p:txBody>
          <a:bodyPr vertOverflow="overflow" vert="horz" wrap="square" rtlCol="0" anchor="t" anchorCtr="0">
            <a:noAutofit/>
          </a:bodyPr>
          <a:lstStyle/>
          <a:p>
            <a:pPr algn="l">
              <a:lnSpc>
                <a:spcPts val="1900"/>
              </a:lnSpc>
            </a:pPr>
            <a:r>
              <a:rPr lang="en-US" sz="1500">
                <a:solidFill>
                  <a:srgbClr val="404040"/>
                </a:solidFill>
                <a:latin typeface="Calibri"/>
                <a:cs typeface="Calibri"/>
              </a:rPr>
              <a:t>Simon (2024), Moskowitz (2021): line-movement efficiency — no game-stats integration.</a:t>
            </a:r>
          </a:p>
        </p:txBody>
      </p:sp>
      <p:sp>
        <p:nvSpPr>
          <p:cNvPr id="24" name="Rectangle 23">
            <a:extLst>
              <a:ext uri="{FF2B5EF4-FFF2-40B4-BE49-F238E27FC236}">
                <a16:creationId xmlns:a16="http://schemas.microsoft.com/office/drawing/2014/main" id="{931259EF-72AD-6CE0-6124-3FE0322388E7}"/>
              </a:ext>
            </a:extLst>
          </p:cNvPr>
          <p:cNvSpPr/>
          <p:nvPr/>
        </p:nvSpPr>
        <p:spPr>
          <a:xfrm>
            <a:off x="254000" y="3759200"/>
            <a:ext cx="8636000" cy="1117600"/>
          </a:xfrm>
          <a:prstGeom prst="rect">
            <a:avLst/>
          </a:prstGeom>
          <a:solidFill>
            <a:srgbClr val="FBF3DF"/>
          </a:solidFill>
          <a:ln w="9525" cap="flat" cmpd="sng" algn="ctr">
            <a:solidFill>
              <a:srgbClr val="E0A93D"/>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0" name="Rectangle 39">
            <a:extLst>
              <a:ext uri="{FF2B5EF4-FFF2-40B4-BE49-F238E27FC236}">
                <a16:creationId xmlns:a16="http://schemas.microsoft.com/office/drawing/2014/main" id="{91ECF7EA-EF31-BE2B-B5BB-F83AA4E58938}"/>
              </a:ext>
            </a:extLst>
          </p:cNvPr>
          <p:cNvSpPr/>
          <p:nvPr/>
        </p:nvSpPr>
        <p:spPr>
          <a:xfrm>
            <a:off x="254000" y="3759200"/>
            <a:ext cx="50800" cy="1117600"/>
          </a:xfrm>
          <a:prstGeom prst="rect">
            <a:avLst/>
          </a:prstGeom>
          <a:solidFill>
            <a:srgbClr val="E0A93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1" name="TextBox 40">
            <a:extLst>
              <a:ext uri="{FF2B5EF4-FFF2-40B4-BE49-F238E27FC236}">
                <a16:creationId xmlns:a16="http://schemas.microsoft.com/office/drawing/2014/main" id="{AAD25D1A-5288-EE90-4501-06C2A5FA609C}"/>
              </a:ext>
            </a:extLst>
          </p:cNvPr>
          <p:cNvSpPr txBox="1"/>
          <p:nvPr/>
        </p:nvSpPr>
        <p:spPr>
          <a:xfrm>
            <a:off x="457200" y="3860800"/>
            <a:ext cx="2540000" cy="304800"/>
          </a:xfrm>
          <a:prstGeom prst="rect">
            <a:avLst/>
          </a:prstGeom>
          <a:noFill/>
          <a:ln>
            <a:noFill/>
          </a:ln>
        </p:spPr>
        <p:txBody>
          <a:bodyPr vertOverflow="overflow" vert="horz" wrap="none" rtlCol="0" anchor="t" anchorCtr="0">
            <a:noAutofit/>
          </a:bodyPr>
          <a:lstStyle/>
          <a:p>
            <a:pPr algn="l"/>
            <a:r>
              <a:rPr lang="en-US" sz="1800" b="1">
                <a:solidFill>
                  <a:srgbClr val="E0A93D"/>
                </a:solidFill>
                <a:latin typeface="Calibri"/>
                <a:cs typeface="Calibri"/>
              </a:rPr>
              <a:t>GAP CONFIRMED</a:t>
            </a:r>
          </a:p>
        </p:txBody>
      </p:sp>
      <p:sp>
        <p:nvSpPr>
          <p:cNvPr id="42" name="TextBox 41">
            <a:extLst>
              <a:ext uri="{FF2B5EF4-FFF2-40B4-BE49-F238E27FC236}">
                <a16:creationId xmlns:a16="http://schemas.microsoft.com/office/drawing/2014/main" id="{5BF94E69-CA15-01B8-A118-ADC80E63E5C6}"/>
              </a:ext>
            </a:extLst>
          </p:cNvPr>
          <p:cNvSpPr txBox="1"/>
          <p:nvPr/>
        </p:nvSpPr>
        <p:spPr>
          <a:xfrm>
            <a:off x="457200" y="4191000"/>
            <a:ext cx="8305800" cy="304800"/>
          </a:xfrm>
          <a:prstGeom prst="rect">
            <a:avLst/>
          </a:prstGeom>
          <a:noFill/>
          <a:ln>
            <a:noFill/>
          </a:ln>
        </p:spPr>
        <p:txBody>
          <a:bodyPr vertOverflow="overflow" vert="horz" wrap="none" rtlCol="0" anchor="t" anchorCtr="0">
            <a:noAutofit/>
          </a:bodyPr>
          <a:lstStyle/>
          <a:p>
            <a:r>
              <a:rPr lang="en-US" sz="1500">
                <a:solidFill>
                  <a:srgbClr val="404040"/>
                </a:solidFill>
                <a:latin typeface="Calibri"/>
                <a:cs typeface="Calibri"/>
              </a:rPr>
              <a:t>Walsh &amp; Joshi (2024) systematic review of 219 papers confirms no study integrates all three silos.</a:t>
            </a:r>
          </a:p>
        </p:txBody>
      </p:sp>
      <p:sp>
        <p:nvSpPr>
          <p:cNvPr id="43" name="TextBox 42">
            <a:extLst>
              <a:ext uri="{FF2B5EF4-FFF2-40B4-BE49-F238E27FC236}">
                <a16:creationId xmlns:a16="http://schemas.microsoft.com/office/drawing/2014/main" id="{BD3D6678-9B47-1683-EB0D-69FA649AFA52}"/>
              </a:ext>
            </a:extLst>
          </p:cNvPr>
          <p:cNvSpPr txBox="1"/>
          <p:nvPr/>
        </p:nvSpPr>
        <p:spPr>
          <a:xfrm>
            <a:off x="457200" y="4546600"/>
            <a:ext cx="8305800" cy="355600"/>
          </a:xfrm>
          <a:prstGeom prst="rect">
            <a:avLst/>
          </a:prstGeom>
          <a:noFill/>
          <a:ln>
            <a:noFill/>
          </a:ln>
        </p:spPr>
        <p:txBody>
          <a:bodyPr vertOverflow="overflow" vert="horz" wrap="none" rtlCol="0" anchor="t" anchorCtr="0">
            <a:noAutofit/>
          </a:bodyPr>
          <a:lstStyle/>
          <a:p>
            <a:endParaRPr/>
          </a:p>
        </p:txBody>
      </p:sp>
    </p:spTree>
    <p:extLst>
      <p:ext uri="{BB962C8B-B14F-4D97-AF65-F5344CB8AC3E}">
        <p14:creationId xmlns:p14="http://schemas.microsoft.com/office/powerpoint/2010/main" val="1071826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
          <a:extLst>
            <a:ext uri="{FF2B5EF4-FFF2-40B4-BE49-F238E27FC236}">
              <a16:creationId xmlns:a16="http://schemas.microsoft.com/office/drawing/2014/main" id="{F9C8B6B9-46C4-86CC-4DE1-53177C69945D}"/>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E5E03421-CA6B-1B22-E27A-21BA271D7750}"/>
              </a:ext>
            </a:extLst>
          </p:cNvPr>
          <p:cNvSpPr/>
          <p:nvPr/>
        </p:nvSpPr>
        <p:spPr>
          <a:xfrm>
            <a:off x="4724400" y="1117600"/>
            <a:ext cx="4165600" cy="3416300"/>
          </a:xfrm>
          <a:prstGeom prst="rect">
            <a:avLst/>
          </a:prstGeom>
          <a:solidFill>
            <a:srgbClr val="FFFFFF"/>
          </a:solidFill>
          <a:ln w="15875" cap="flat" cmpd="sng" algn="ctr">
            <a:solidFill>
              <a:srgbClr val="1B3A5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 name="Rectangle 9">
            <a:extLst>
              <a:ext uri="{FF2B5EF4-FFF2-40B4-BE49-F238E27FC236}">
                <a16:creationId xmlns:a16="http://schemas.microsoft.com/office/drawing/2014/main" id="{0CA5FABE-2A78-51CE-04CC-EBF1B75FB27D}"/>
              </a:ext>
            </a:extLst>
          </p:cNvPr>
          <p:cNvSpPr/>
          <p:nvPr/>
        </p:nvSpPr>
        <p:spPr>
          <a:xfrm>
            <a:off x="254000" y="2933700"/>
            <a:ext cx="4318000" cy="1600200"/>
          </a:xfrm>
          <a:prstGeom prst="rect">
            <a:avLst/>
          </a:prstGeom>
          <a:solidFill>
            <a:srgbClr val="FFFFFF"/>
          </a:solidFill>
          <a:ln w="15875" cap="flat" cmpd="sng" algn="ctr">
            <a:solidFill>
              <a:srgbClr val="1B3A5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Rectangle 4">
            <a:extLst>
              <a:ext uri="{FF2B5EF4-FFF2-40B4-BE49-F238E27FC236}">
                <a16:creationId xmlns:a16="http://schemas.microsoft.com/office/drawing/2014/main" id="{A304381F-DB86-4694-FA62-5E5F0E0DDE4C}"/>
              </a:ext>
            </a:extLst>
          </p:cNvPr>
          <p:cNvSpPr/>
          <p:nvPr/>
        </p:nvSpPr>
        <p:spPr>
          <a:xfrm>
            <a:off x="254000" y="1130300"/>
            <a:ext cx="4318000" cy="1600200"/>
          </a:xfrm>
          <a:prstGeom prst="rect">
            <a:avLst/>
          </a:prstGeom>
          <a:solidFill>
            <a:srgbClr val="FFFFFF"/>
          </a:solidFill>
          <a:ln w="15875" cap="flat" cmpd="sng" algn="ctr">
            <a:solidFill>
              <a:srgbClr val="1B3A5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 name="Shape 0">
            <a:extLst>
              <a:ext uri="{FF2B5EF4-FFF2-40B4-BE49-F238E27FC236}">
                <a16:creationId xmlns:a16="http://schemas.microsoft.com/office/drawing/2014/main" id="{91F42CA5-B5D4-0171-9177-FC191A1D758B}"/>
              </a:ext>
            </a:extLst>
          </p:cNvPr>
          <p:cNvSpPr/>
          <p:nvPr/>
        </p:nvSpPr>
        <p:spPr>
          <a:xfrm>
            <a:off x="0" y="0"/>
            <a:ext cx="9144000" cy="960120"/>
          </a:xfrm>
          <a:prstGeom prst="rect">
            <a:avLst/>
          </a:prstGeom>
          <a:solidFill>
            <a:srgbClr val="0D1B2A"/>
          </a:solidFill>
          <a:ln w="12700">
            <a:solidFill>
              <a:srgbClr val="0D1B2A"/>
            </a:solidFill>
            <a:prstDash val="solid"/>
          </a:ln>
        </p:spPr>
        <p:txBody>
          <a:bodyPr/>
          <a:lstStyle/>
          <a:p>
            <a:endParaRPr lang="en-US"/>
          </a:p>
        </p:txBody>
      </p:sp>
      <p:sp>
        <p:nvSpPr>
          <p:cNvPr id="3" name="Shape 1">
            <a:extLst>
              <a:ext uri="{FF2B5EF4-FFF2-40B4-BE49-F238E27FC236}">
                <a16:creationId xmlns:a16="http://schemas.microsoft.com/office/drawing/2014/main" id="{CFA95742-D651-1FB6-CF7D-84DA353D307C}"/>
              </a:ext>
            </a:extLst>
          </p:cNvPr>
          <p:cNvSpPr/>
          <p:nvPr/>
        </p:nvSpPr>
        <p:spPr>
          <a:xfrm>
            <a:off x="0" y="960120"/>
            <a:ext cx="9144000" cy="64008"/>
          </a:xfrm>
          <a:prstGeom prst="rect">
            <a:avLst/>
          </a:prstGeom>
          <a:solidFill>
            <a:srgbClr val="E8A020"/>
          </a:solidFill>
          <a:ln w="12700">
            <a:solidFill>
              <a:srgbClr val="E8A020"/>
            </a:solidFill>
            <a:prstDash val="solid"/>
          </a:ln>
        </p:spPr>
        <p:txBody>
          <a:bodyPr/>
          <a:lstStyle/>
          <a:p>
            <a:endParaRPr lang="en-US"/>
          </a:p>
        </p:txBody>
      </p:sp>
      <p:sp>
        <p:nvSpPr>
          <p:cNvPr id="4" name="Text 2">
            <a:extLst>
              <a:ext uri="{FF2B5EF4-FFF2-40B4-BE49-F238E27FC236}">
                <a16:creationId xmlns:a16="http://schemas.microsoft.com/office/drawing/2014/main" id="{44DC2004-EDBE-B484-5854-68F418A3E8DB}"/>
              </a:ext>
            </a:extLst>
          </p:cNvPr>
          <p:cNvSpPr/>
          <p:nvPr/>
        </p:nvSpPr>
        <p:spPr>
          <a:xfrm>
            <a:off x="365760" y="137160"/>
            <a:ext cx="8412480" cy="685800"/>
          </a:xfrm>
          <a:prstGeom prst="rect">
            <a:avLst/>
          </a:prstGeom>
          <a:noFill/>
          <a:ln/>
        </p:spPr>
        <p:txBody>
          <a:bodyPr wrap="square" lIns="91440" tIns="45720" rIns="91440" bIns="45720" rtlCol="0" anchor="ctr"/>
          <a:lstStyle/>
          <a:p>
            <a:r>
              <a:rPr lang="en-US" sz="2800" b="1">
                <a:solidFill>
                  <a:srgbClr val="FFFFFF"/>
                </a:solidFill>
                <a:latin typeface="Calibri"/>
                <a:cs typeface="Calibri"/>
              </a:rPr>
              <a:t>Methodology</a:t>
            </a:r>
          </a:p>
        </p:txBody>
      </p:sp>
      <p:sp>
        <p:nvSpPr>
          <p:cNvPr id="6" name="Rectangle 5">
            <a:extLst>
              <a:ext uri="{FF2B5EF4-FFF2-40B4-BE49-F238E27FC236}">
                <a16:creationId xmlns:a16="http://schemas.microsoft.com/office/drawing/2014/main" id="{9B2F089C-302C-F961-9DF0-F6A22CBBBC58}"/>
              </a:ext>
            </a:extLst>
          </p:cNvPr>
          <p:cNvSpPr/>
          <p:nvPr/>
        </p:nvSpPr>
        <p:spPr>
          <a:xfrm>
            <a:off x="254000" y="1130300"/>
            <a:ext cx="4318000" cy="355600"/>
          </a:xfrm>
          <a:prstGeom prst="rect">
            <a:avLst/>
          </a:prstGeom>
          <a:solidFill>
            <a:srgbClr val="1B3A5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 name="GroupHeaderText_Group1">
            <a:extLst>
              <a:ext uri="{FF2B5EF4-FFF2-40B4-BE49-F238E27FC236}">
                <a16:creationId xmlns:a16="http://schemas.microsoft.com/office/drawing/2014/main" id="{ECC02653-D028-86D1-6FB7-697D031FBBBD}"/>
              </a:ext>
            </a:extLst>
          </p:cNvPr>
          <p:cNvSpPr txBox="1"/>
          <p:nvPr/>
        </p:nvSpPr>
        <p:spPr>
          <a:xfrm>
            <a:off x="254000" y="1130300"/>
            <a:ext cx="4318000" cy="355600"/>
          </a:xfrm>
          <a:prstGeom prst="rect">
            <a:avLst/>
          </a:prstGeom>
          <a:noFill/>
          <a:ln>
            <a:noFill/>
          </a:ln>
        </p:spPr>
        <p:txBody>
          <a:bodyPr vertOverflow="overflow" vert="horz" wrap="square" rtlCol="0" anchor="ctr" anchorCtr="0">
            <a:noAutofit/>
          </a:bodyPr>
          <a:lstStyle/>
          <a:p>
            <a:pPr algn="l"/>
            <a:r>
              <a:rPr lang="en-US" sz="1500" b="1">
                <a:solidFill>
                  <a:srgbClr val="FFFFFF"/>
                </a:solidFill>
                <a:latin typeface="Calibri"/>
                <a:cs typeface="Calibri"/>
              </a:rPr>
              <a:t>MODEL ARCHITECTURE</a:t>
            </a:r>
          </a:p>
        </p:txBody>
      </p:sp>
      <p:sp>
        <p:nvSpPr>
          <p:cNvPr id="8" name="TextBox 7">
            <a:extLst>
              <a:ext uri="{FF2B5EF4-FFF2-40B4-BE49-F238E27FC236}">
                <a16:creationId xmlns:a16="http://schemas.microsoft.com/office/drawing/2014/main" id="{85B2C095-1942-FB66-7121-E3FA6D1B42C7}"/>
              </a:ext>
            </a:extLst>
          </p:cNvPr>
          <p:cNvSpPr txBox="1"/>
          <p:nvPr/>
        </p:nvSpPr>
        <p:spPr>
          <a:xfrm>
            <a:off x="381000" y="1587500"/>
            <a:ext cx="4089400" cy="228600"/>
          </a:xfrm>
          <a:prstGeom prst="rect">
            <a:avLst/>
          </a:prstGeom>
          <a:noFill/>
          <a:ln>
            <a:noFill/>
          </a:ln>
        </p:spPr>
        <p:txBody>
          <a:bodyPr vertOverflow="overflow" vert="horz" wrap="square" rtlCol="0" anchor="t" anchorCtr="0">
            <a:noAutofit/>
          </a:bodyPr>
          <a:lstStyle/>
          <a:p>
            <a:r>
              <a:rPr lang="en-US" sz="1100">
                <a:solidFill>
                  <a:srgbClr val="404040"/>
                </a:solidFill>
                <a:latin typeface="Calibri"/>
                <a:cs typeface="Calibri"/>
              </a:rPr>
              <a:t> </a:t>
            </a:r>
          </a:p>
        </p:txBody>
      </p:sp>
      <p:sp>
        <p:nvSpPr>
          <p:cNvPr id="9" name="TextBox 8">
            <a:extLst>
              <a:ext uri="{FF2B5EF4-FFF2-40B4-BE49-F238E27FC236}">
                <a16:creationId xmlns:a16="http://schemas.microsoft.com/office/drawing/2014/main" id="{1BA2B655-FD42-7837-E35E-BAA20709A2C2}"/>
              </a:ext>
            </a:extLst>
          </p:cNvPr>
          <p:cNvSpPr txBox="1"/>
          <p:nvPr/>
        </p:nvSpPr>
        <p:spPr>
          <a:xfrm>
            <a:off x="381000" y="1524000"/>
            <a:ext cx="4089400" cy="812800"/>
          </a:xfrm>
          <a:prstGeom prst="rect">
            <a:avLst/>
          </a:prstGeom>
          <a:noFill/>
          <a:ln>
            <a:noFill/>
          </a:ln>
        </p:spPr>
        <p:txBody>
          <a:bodyPr vertOverflow="overflow" vert="horz" wrap="square" rtlCol="0" anchor="t" anchorCtr="0">
            <a:noAutofit/>
          </a:bodyPr>
          <a:lstStyle/>
          <a:p>
            <a:pPr marL="171450" indent="-171450">
              <a:lnSpc>
                <a:spcPts val="1755"/>
              </a:lnSpc>
              <a:spcAft>
                <a:spcPts val="300"/>
              </a:spcAft>
              <a:buFont typeface="Arial"/>
              <a:buChar char="•"/>
            </a:pPr>
            <a:r>
              <a:rPr lang="en-US" sz="1300">
                <a:solidFill>
                  <a:srgbClr val="404040"/>
                </a:solidFill>
                <a:latin typeface="Calibri"/>
                <a:cs typeface="Calibri"/>
              </a:rPr>
              <a:t>Naive Bayes baseline — all features independent</a:t>
            </a:r>
          </a:p>
          <a:p>
            <a:pPr marL="171450" indent="-171450">
              <a:lnSpc>
                <a:spcPts val="1755"/>
              </a:lnSpc>
              <a:spcAft>
                <a:spcPts val="300"/>
              </a:spcAft>
              <a:buFont typeface="Arial"/>
              <a:buChar char="•"/>
            </a:pPr>
            <a:r>
              <a:rPr lang="en-US" sz="1300">
                <a:solidFill>
                  <a:srgbClr val="404040"/>
                </a:solidFill>
                <a:latin typeface="Calibri"/>
                <a:cs typeface="Calibri"/>
              </a:rPr>
              <a:t>Hill Climbing BN — score-based learning</a:t>
            </a:r>
          </a:p>
          <a:p>
            <a:pPr marL="171450" indent="-171450">
              <a:lnSpc>
                <a:spcPts val="1755"/>
              </a:lnSpc>
              <a:spcAft>
                <a:spcPts val="300"/>
              </a:spcAft>
              <a:buFont typeface="Arial"/>
              <a:buChar char="•"/>
            </a:pPr>
            <a:r>
              <a:rPr lang="en-US" sz="1300">
                <a:solidFill>
                  <a:srgbClr val="404040"/>
                </a:solidFill>
                <a:latin typeface="Calibri"/>
                <a:cs typeface="Calibri"/>
              </a:rPr>
              <a:t>PC Algorithm BN — constraint-based check</a:t>
            </a:r>
          </a:p>
        </p:txBody>
      </p:sp>
      <p:sp>
        <p:nvSpPr>
          <p:cNvPr id="11" name="Rectangle 10">
            <a:extLst>
              <a:ext uri="{FF2B5EF4-FFF2-40B4-BE49-F238E27FC236}">
                <a16:creationId xmlns:a16="http://schemas.microsoft.com/office/drawing/2014/main" id="{0EC68221-78B2-AF38-C2F9-AD4B8291A4DF}"/>
              </a:ext>
            </a:extLst>
          </p:cNvPr>
          <p:cNvSpPr/>
          <p:nvPr/>
        </p:nvSpPr>
        <p:spPr>
          <a:xfrm>
            <a:off x="254000" y="2933700"/>
            <a:ext cx="4318000" cy="355600"/>
          </a:xfrm>
          <a:prstGeom prst="rect">
            <a:avLst/>
          </a:prstGeom>
          <a:solidFill>
            <a:srgbClr val="1B3A5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2" name="GroupHeaderText_Group2">
            <a:extLst>
              <a:ext uri="{FF2B5EF4-FFF2-40B4-BE49-F238E27FC236}">
                <a16:creationId xmlns:a16="http://schemas.microsoft.com/office/drawing/2014/main" id="{DA92B316-C83D-57A8-C826-115753A83BBF}"/>
              </a:ext>
            </a:extLst>
          </p:cNvPr>
          <p:cNvSpPr txBox="1"/>
          <p:nvPr/>
        </p:nvSpPr>
        <p:spPr>
          <a:xfrm>
            <a:off x="254000" y="2933700"/>
            <a:ext cx="4318000" cy="355600"/>
          </a:xfrm>
          <a:prstGeom prst="rect">
            <a:avLst/>
          </a:prstGeom>
          <a:noFill/>
          <a:ln>
            <a:noFill/>
          </a:ln>
        </p:spPr>
        <p:txBody>
          <a:bodyPr vertOverflow="overflow" vert="horz" wrap="square" rtlCol="0" anchor="ctr" anchorCtr="0">
            <a:noAutofit/>
          </a:bodyPr>
          <a:lstStyle/>
          <a:p>
            <a:pPr algn="l"/>
            <a:r>
              <a:rPr lang="en-US" sz="1500" b="1">
                <a:solidFill>
                  <a:srgbClr val="FFFFFF"/>
                </a:solidFill>
                <a:latin typeface="Calibri"/>
                <a:cs typeface="Calibri"/>
              </a:rPr>
              <a:t>EVALUATION</a:t>
            </a:r>
          </a:p>
        </p:txBody>
      </p:sp>
      <p:sp>
        <p:nvSpPr>
          <p:cNvPr id="13" name="TextBox 12">
            <a:extLst>
              <a:ext uri="{FF2B5EF4-FFF2-40B4-BE49-F238E27FC236}">
                <a16:creationId xmlns:a16="http://schemas.microsoft.com/office/drawing/2014/main" id="{B70DF717-DDED-11EA-D17D-B21CC150AE4B}"/>
              </a:ext>
            </a:extLst>
          </p:cNvPr>
          <p:cNvSpPr txBox="1"/>
          <p:nvPr/>
        </p:nvSpPr>
        <p:spPr>
          <a:xfrm>
            <a:off x="381000" y="3390900"/>
            <a:ext cx="4089400" cy="228600"/>
          </a:xfrm>
          <a:prstGeom prst="rect">
            <a:avLst/>
          </a:prstGeom>
          <a:noFill/>
          <a:ln>
            <a:noFill/>
          </a:ln>
        </p:spPr>
        <p:txBody>
          <a:bodyPr vertOverflow="overflow" vert="horz" wrap="square" rtlCol="0" anchor="t" anchorCtr="0">
            <a:noAutofit/>
          </a:bodyPr>
          <a:lstStyle/>
          <a:p>
            <a:r>
              <a:rPr lang="en-US" sz="1100">
                <a:solidFill>
                  <a:srgbClr val="404040"/>
                </a:solidFill>
                <a:latin typeface="Calibri"/>
                <a:cs typeface="Calibri"/>
              </a:rPr>
              <a:t> </a:t>
            </a:r>
          </a:p>
        </p:txBody>
      </p:sp>
      <p:sp>
        <p:nvSpPr>
          <p:cNvPr id="14" name="TextBox 13">
            <a:extLst>
              <a:ext uri="{FF2B5EF4-FFF2-40B4-BE49-F238E27FC236}">
                <a16:creationId xmlns:a16="http://schemas.microsoft.com/office/drawing/2014/main" id="{D1CCF0C0-068A-6BA2-999A-8351870D7DE4}"/>
              </a:ext>
            </a:extLst>
          </p:cNvPr>
          <p:cNvSpPr txBox="1"/>
          <p:nvPr/>
        </p:nvSpPr>
        <p:spPr>
          <a:xfrm>
            <a:off x="381000" y="3429000"/>
            <a:ext cx="4089400" cy="812800"/>
          </a:xfrm>
          <a:prstGeom prst="rect">
            <a:avLst/>
          </a:prstGeom>
          <a:noFill/>
          <a:ln>
            <a:noFill/>
          </a:ln>
        </p:spPr>
        <p:txBody>
          <a:bodyPr vertOverflow="overflow" vert="horz" wrap="square" rtlCol="0" anchor="t" anchorCtr="0">
            <a:noAutofit/>
          </a:bodyPr>
          <a:lstStyle/>
          <a:p>
            <a:pPr marL="171450" indent="-171450">
              <a:lnSpc>
                <a:spcPts val="1755"/>
              </a:lnSpc>
              <a:spcAft>
                <a:spcPts val="300"/>
              </a:spcAft>
              <a:buFont typeface="Arial"/>
              <a:buChar char="•"/>
            </a:pPr>
            <a:r>
              <a:rPr lang="en-US" sz="1300">
                <a:solidFill>
                  <a:srgbClr val="404040"/>
                </a:solidFill>
                <a:latin typeface="Calibri"/>
                <a:cs typeface="Calibri"/>
              </a:rPr>
              <a:t>Accuracy — hard prediction performance</a:t>
            </a:r>
          </a:p>
          <a:p>
            <a:pPr marL="171450" indent="-171450">
              <a:lnSpc>
                <a:spcPts val="1755"/>
              </a:lnSpc>
              <a:spcAft>
                <a:spcPts val="300"/>
              </a:spcAft>
              <a:buFont typeface="Arial"/>
              <a:buChar char="•"/>
            </a:pPr>
            <a:r>
              <a:rPr lang="en-US" sz="1300">
                <a:solidFill>
                  <a:srgbClr val="404040"/>
                </a:solidFill>
                <a:latin typeface="Calibri"/>
                <a:cs typeface="Calibri"/>
              </a:rPr>
              <a:t>Log Loss — probability calibration</a:t>
            </a:r>
          </a:p>
          <a:p>
            <a:pPr marL="171450" indent="-171450">
              <a:lnSpc>
                <a:spcPts val="1755"/>
              </a:lnSpc>
              <a:spcAft>
                <a:spcPts val="300"/>
              </a:spcAft>
              <a:buFont typeface="Arial"/>
              <a:buChar char="•"/>
            </a:pPr>
            <a:r>
              <a:rPr lang="en-US" sz="1300">
                <a:solidFill>
                  <a:srgbClr val="404040"/>
                </a:solidFill>
                <a:latin typeface="Calibri"/>
                <a:cs typeface="Calibri"/>
              </a:rPr>
              <a:t>Target: Cover / Loss / Push (3-class)</a:t>
            </a:r>
          </a:p>
        </p:txBody>
      </p:sp>
      <p:sp>
        <p:nvSpPr>
          <p:cNvPr id="16" name="Rectangle 15">
            <a:extLst>
              <a:ext uri="{FF2B5EF4-FFF2-40B4-BE49-F238E27FC236}">
                <a16:creationId xmlns:a16="http://schemas.microsoft.com/office/drawing/2014/main" id="{500A20A5-55E9-B100-6CFA-50AED3B99A3B}"/>
              </a:ext>
            </a:extLst>
          </p:cNvPr>
          <p:cNvSpPr/>
          <p:nvPr/>
        </p:nvSpPr>
        <p:spPr>
          <a:xfrm>
            <a:off x="4724400" y="1117600"/>
            <a:ext cx="4165600" cy="381000"/>
          </a:xfrm>
          <a:prstGeom prst="rect">
            <a:avLst/>
          </a:prstGeom>
          <a:solidFill>
            <a:srgbClr val="1B3A5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7" name="GroupHeaderText_Group3">
            <a:extLst>
              <a:ext uri="{FF2B5EF4-FFF2-40B4-BE49-F238E27FC236}">
                <a16:creationId xmlns:a16="http://schemas.microsoft.com/office/drawing/2014/main" id="{7A08DBE0-8AF4-2758-FABC-938D706FE12D}"/>
              </a:ext>
            </a:extLst>
          </p:cNvPr>
          <p:cNvSpPr txBox="1"/>
          <p:nvPr/>
        </p:nvSpPr>
        <p:spPr>
          <a:xfrm>
            <a:off x="4724400" y="1117600"/>
            <a:ext cx="4165600" cy="381000"/>
          </a:xfrm>
          <a:prstGeom prst="rect">
            <a:avLst/>
          </a:prstGeom>
          <a:noFill/>
          <a:ln>
            <a:noFill/>
          </a:ln>
        </p:spPr>
        <p:txBody>
          <a:bodyPr vertOverflow="overflow" vert="horz" wrap="square" rtlCol="0" anchor="ctr" anchorCtr="0">
            <a:noAutofit/>
          </a:bodyPr>
          <a:lstStyle/>
          <a:p>
            <a:pPr algn="l"/>
            <a:r>
              <a:rPr lang="en-US" sz="1600" b="1">
                <a:solidFill>
                  <a:srgbClr val="FFFFFF"/>
                </a:solidFill>
                <a:latin typeface="Calibri"/>
                <a:cs typeface="Calibri"/>
              </a:rPr>
              <a:t>ASSUMED CAUSAL STRUCTURE</a:t>
            </a:r>
          </a:p>
        </p:txBody>
      </p:sp>
      <p:sp>
        <p:nvSpPr>
          <p:cNvPr id="24" name="Rounded Rectangle 23">
            <a:extLst>
              <a:ext uri="{FF2B5EF4-FFF2-40B4-BE49-F238E27FC236}">
                <a16:creationId xmlns:a16="http://schemas.microsoft.com/office/drawing/2014/main" id="{744FD715-934E-CC4B-9D09-3DCFD102E173}"/>
              </a:ext>
            </a:extLst>
          </p:cNvPr>
          <p:cNvSpPr/>
          <p:nvPr/>
        </p:nvSpPr>
        <p:spPr>
          <a:xfrm>
            <a:off x="5816600" y="1600200"/>
            <a:ext cx="1981200" cy="508000"/>
          </a:xfrm>
          <a:prstGeom prst="roundRect">
            <a:avLst/>
          </a:prstGeom>
          <a:solidFill>
            <a:srgbClr val="FBF1DA"/>
          </a:solidFill>
          <a:ln w="19050" cap="flat" cmpd="sng" algn="ctr">
            <a:solidFill>
              <a:srgbClr val="E8A02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ctr"/>
            <a:r>
              <a:rPr lang="en-US" sz="1200" b="1">
                <a:solidFill>
                  <a:srgbClr val="0D1B2A"/>
                </a:solidFill>
                <a:latin typeface="Calibri"/>
                <a:cs typeface="Calibri"/>
              </a:rPr>
              <a:t>Game fundamentals</a:t>
            </a:r>
          </a:p>
          <a:p>
            <a:pPr algn="ctr"/>
            <a:r>
              <a:rPr lang="en-US" sz="900" i="1">
                <a:solidFill>
                  <a:srgbClr val="6B7280"/>
                </a:solidFill>
                <a:latin typeface="Calibri"/>
                <a:cs typeface="Calibri"/>
              </a:rPr>
              <a:t>EPA, TD, turnover, yards diff</a:t>
            </a:r>
          </a:p>
        </p:txBody>
      </p:sp>
      <p:sp>
        <p:nvSpPr>
          <p:cNvPr id="25" name="Rounded Rectangle 24">
            <a:extLst>
              <a:ext uri="{FF2B5EF4-FFF2-40B4-BE49-F238E27FC236}">
                <a16:creationId xmlns:a16="http://schemas.microsoft.com/office/drawing/2014/main" id="{C39AC655-C931-A649-BD71-ECED069A4835}"/>
              </a:ext>
            </a:extLst>
          </p:cNvPr>
          <p:cNvSpPr/>
          <p:nvPr/>
        </p:nvSpPr>
        <p:spPr>
          <a:xfrm>
            <a:off x="5816600" y="2324100"/>
            <a:ext cx="1981200" cy="355600"/>
          </a:xfrm>
          <a:prstGeom prst="roundRect">
            <a:avLst/>
          </a:prstGeom>
          <a:solidFill>
            <a:srgbClr val="DDEEEE"/>
          </a:solidFill>
          <a:ln w="19050" cap="flat" cmpd="sng" algn="ctr">
            <a:solidFill>
              <a:srgbClr val="2E8B8B"/>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200" b="1">
                <a:solidFill>
                  <a:srgbClr val="0D1B2A"/>
                </a:solidFill>
                <a:latin typeface="Calibri"/>
                <a:cs typeface="Calibri"/>
              </a:rPr>
              <a:t>Opening line</a:t>
            </a:r>
          </a:p>
        </p:txBody>
      </p:sp>
      <p:sp>
        <p:nvSpPr>
          <p:cNvPr id="26" name="Rounded Rectangle 25">
            <a:extLst>
              <a:ext uri="{FF2B5EF4-FFF2-40B4-BE49-F238E27FC236}">
                <a16:creationId xmlns:a16="http://schemas.microsoft.com/office/drawing/2014/main" id="{E6FFB55F-8390-5349-BF0D-51BFDE98D8FA}"/>
              </a:ext>
            </a:extLst>
          </p:cNvPr>
          <p:cNvSpPr/>
          <p:nvPr/>
        </p:nvSpPr>
        <p:spPr>
          <a:xfrm>
            <a:off x="5816600" y="2895600"/>
            <a:ext cx="1981200" cy="355600"/>
          </a:xfrm>
          <a:prstGeom prst="roundRect">
            <a:avLst/>
          </a:prstGeom>
          <a:solidFill>
            <a:srgbClr val="DDEEEE"/>
          </a:solidFill>
          <a:ln w="19050" cap="flat" cmpd="sng" algn="ctr">
            <a:solidFill>
              <a:srgbClr val="2E8B8B"/>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200" b="1">
                <a:solidFill>
                  <a:srgbClr val="0D1B2A"/>
                </a:solidFill>
                <a:latin typeface="Calibri"/>
                <a:cs typeface="Calibri"/>
              </a:rPr>
              <a:t>Line movement</a:t>
            </a:r>
          </a:p>
        </p:txBody>
      </p:sp>
      <p:sp>
        <p:nvSpPr>
          <p:cNvPr id="27" name="Rounded Rectangle 26">
            <a:extLst>
              <a:ext uri="{FF2B5EF4-FFF2-40B4-BE49-F238E27FC236}">
                <a16:creationId xmlns:a16="http://schemas.microsoft.com/office/drawing/2014/main" id="{5CE1F28E-1614-0C46-89FF-1025BFC904A2}"/>
              </a:ext>
            </a:extLst>
          </p:cNvPr>
          <p:cNvSpPr/>
          <p:nvPr/>
        </p:nvSpPr>
        <p:spPr>
          <a:xfrm>
            <a:off x="5816600" y="3467100"/>
            <a:ext cx="1981200" cy="355600"/>
          </a:xfrm>
          <a:prstGeom prst="roundRect">
            <a:avLst/>
          </a:prstGeom>
          <a:solidFill>
            <a:srgbClr val="DDEEEE"/>
          </a:solidFill>
          <a:ln w="19050" cap="flat" cmpd="sng" algn="ctr">
            <a:solidFill>
              <a:srgbClr val="2E8B8B"/>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200" b="1">
                <a:solidFill>
                  <a:srgbClr val="0D1B2A"/>
                </a:solidFill>
                <a:latin typeface="Calibri"/>
                <a:cs typeface="Calibri"/>
              </a:rPr>
              <a:t>Closing line</a:t>
            </a:r>
          </a:p>
        </p:txBody>
      </p:sp>
      <p:sp>
        <p:nvSpPr>
          <p:cNvPr id="28" name="Rounded Rectangle 27">
            <a:extLst>
              <a:ext uri="{FF2B5EF4-FFF2-40B4-BE49-F238E27FC236}">
                <a16:creationId xmlns:a16="http://schemas.microsoft.com/office/drawing/2014/main" id="{625364AE-AE52-1149-B22E-53D41640973D}"/>
              </a:ext>
            </a:extLst>
          </p:cNvPr>
          <p:cNvSpPr/>
          <p:nvPr/>
        </p:nvSpPr>
        <p:spPr>
          <a:xfrm>
            <a:off x="5816600" y="4038600"/>
            <a:ext cx="1981200" cy="381000"/>
          </a:xfrm>
          <a:prstGeom prst="roundRect">
            <a:avLst/>
          </a:prstGeom>
          <a:solidFill>
            <a:srgbClr val="0D1B2A"/>
          </a:solidFill>
          <a:ln w="19050" cap="flat" cmpd="sng" algn="ctr">
            <a:solidFill>
              <a:srgbClr val="0D1B2A"/>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200" b="1">
                <a:solidFill>
                  <a:srgbClr val="FFFFFF"/>
                </a:solidFill>
                <a:latin typeface="Calibri"/>
                <a:cs typeface="Calibri"/>
              </a:rPr>
              <a:t>ATS outcome</a:t>
            </a:r>
          </a:p>
        </p:txBody>
      </p:sp>
      <p:sp>
        <p:nvSpPr>
          <p:cNvPr id="29" name="Down Arrow 28">
            <a:extLst>
              <a:ext uri="{FF2B5EF4-FFF2-40B4-BE49-F238E27FC236}">
                <a16:creationId xmlns:a16="http://schemas.microsoft.com/office/drawing/2014/main" id="{A25C5F0D-765D-FB49-A4A8-A3D28E4C1E20}"/>
              </a:ext>
            </a:extLst>
          </p:cNvPr>
          <p:cNvSpPr/>
          <p:nvPr/>
        </p:nvSpPr>
        <p:spPr>
          <a:xfrm>
            <a:off x="6705600" y="2120900"/>
            <a:ext cx="203200" cy="190500"/>
          </a:xfrm>
          <a:prstGeom prst="downArrow">
            <a:avLst/>
          </a:prstGeom>
          <a:solidFill>
            <a:srgbClr val="0D1B2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0" name="Down Arrow 29">
            <a:extLst>
              <a:ext uri="{FF2B5EF4-FFF2-40B4-BE49-F238E27FC236}">
                <a16:creationId xmlns:a16="http://schemas.microsoft.com/office/drawing/2014/main" id="{852DE35A-843B-BA40-A164-41908C63A059}"/>
              </a:ext>
            </a:extLst>
          </p:cNvPr>
          <p:cNvSpPr/>
          <p:nvPr/>
        </p:nvSpPr>
        <p:spPr>
          <a:xfrm>
            <a:off x="6705600" y="2692400"/>
            <a:ext cx="203200" cy="190500"/>
          </a:xfrm>
          <a:prstGeom prst="downArrow">
            <a:avLst/>
          </a:prstGeom>
          <a:solidFill>
            <a:srgbClr val="0D1B2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1" name="Down Arrow 30">
            <a:extLst>
              <a:ext uri="{FF2B5EF4-FFF2-40B4-BE49-F238E27FC236}">
                <a16:creationId xmlns:a16="http://schemas.microsoft.com/office/drawing/2014/main" id="{6CBF1132-DE0C-284F-A1CD-F34C2A753279}"/>
              </a:ext>
            </a:extLst>
          </p:cNvPr>
          <p:cNvSpPr/>
          <p:nvPr/>
        </p:nvSpPr>
        <p:spPr>
          <a:xfrm>
            <a:off x="6705600" y="3263900"/>
            <a:ext cx="203200" cy="190500"/>
          </a:xfrm>
          <a:prstGeom prst="downArrow">
            <a:avLst/>
          </a:prstGeom>
          <a:solidFill>
            <a:srgbClr val="0D1B2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2" name="Down Arrow 31">
            <a:extLst>
              <a:ext uri="{FF2B5EF4-FFF2-40B4-BE49-F238E27FC236}">
                <a16:creationId xmlns:a16="http://schemas.microsoft.com/office/drawing/2014/main" id="{B7BC1E98-575B-2340-8B08-CB55EB0524C3}"/>
              </a:ext>
            </a:extLst>
          </p:cNvPr>
          <p:cNvSpPr/>
          <p:nvPr/>
        </p:nvSpPr>
        <p:spPr>
          <a:xfrm>
            <a:off x="6705600" y="3835400"/>
            <a:ext cx="203200" cy="190500"/>
          </a:xfrm>
          <a:prstGeom prst="downArrow">
            <a:avLst/>
          </a:prstGeom>
          <a:solidFill>
            <a:srgbClr val="0D1B2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3" name="Down Arrow 32">
            <a:extLst>
              <a:ext uri="{FF2B5EF4-FFF2-40B4-BE49-F238E27FC236}">
                <a16:creationId xmlns:a16="http://schemas.microsoft.com/office/drawing/2014/main" id="{4485F529-1CA5-A24D-AC8F-F094637F2EFC}"/>
              </a:ext>
            </a:extLst>
          </p:cNvPr>
          <p:cNvSpPr/>
          <p:nvPr/>
        </p:nvSpPr>
        <p:spPr>
          <a:xfrm>
            <a:off x="7924800" y="3073400"/>
            <a:ext cx="177800" cy="1270000"/>
          </a:xfrm>
          <a:prstGeom prst="downArrow">
            <a:avLst/>
          </a:prstGeom>
          <a:solidFill>
            <a:srgbClr val="DDEEEE"/>
          </a:solidFill>
          <a:ln w="22225">
            <a:solidFill>
              <a:srgbClr val="2E8B8B"/>
            </a:solidFill>
            <a:prstDash val="dash"/>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4" name="TextBox 33">
            <a:extLst>
              <a:ext uri="{FF2B5EF4-FFF2-40B4-BE49-F238E27FC236}">
                <a16:creationId xmlns:a16="http://schemas.microsoft.com/office/drawing/2014/main" id="{66F453C4-DCC1-AE44-8C51-61823D6DC07A}"/>
              </a:ext>
            </a:extLst>
          </p:cNvPr>
          <p:cNvSpPr txBox="1"/>
          <p:nvPr/>
        </p:nvSpPr>
        <p:spPr>
          <a:xfrm>
            <a:off x="8128000" y="3175000"/>
            <a:ext cx="736600" cy="939800"/>
          </a:xfrm>
          <a:prstGeom prst="rect">
            <a:avLst/>
          </a:prstGeom>
          <a:noFill/>
        </p:spPr>
        <p:txBody>
          <a:bodyPr vertOverflow="overflow" vert="horz" wrap="square" rtlCol="0" anchor="ctr" anchorCtr="0">
            <a:noAutofit/>
          </a:bodyPr>
          <a:lstStyle/>
          <a:p>
            <a:pPr algn="l"/>
            <a:r>
              <a:rPr lang="en-US" sz="1000" b="1">
                <a:solidFill>
                  <a:srgbClr val="0D1B2A"/>
                </a:solidFill>
                <a:latin typeface="Calibri"/>
                <a:cs typeface="Calibri"/>
              </a:rPr>
              <a:t>research question — direct effect?</a:t>
            </a:r>
          </a:p>
        </p:txBody>
      </p:sp>
      <p:sp>
        <p:nvSpPr>
          <p:cNvPr id="18" name="Rectangle 17">
            <a:extLst>
              <a:ext uri="{FF2B5EF4-FFF2-40B4-BE49-F238E27FC236}">
                <a16:creationId xmlns:a16="http://schemas.microsoft.com/office/drawing/2014/main" id="{3F02AB57-FD1E-5A46-9D7F-8B5644761676}"/>
              </a:ext>
            </a:extLst>
          </p:cNvPr>
          <p:cNvSpPr/>
          <p:nvPr/>
        </p:nvSpPr>
        <p:spPr>
          <a:xfrm>
            <a:off x="254000" y="4673600"/>
            <a:ext cx="8636000" cy="330200"/>
          </a:xfrm>
          <a:prstGeom prst="rect">
            <a:avLst/>
          </a:prstGeom>
          <a:solidFill>
            <a:srgbClr val="F0F2F5"/>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9" name="Rectangle 18">
            <a:extLst>
              <a:ext uri="{FF2B5EF4-FFF2-40B4-BE49-F238E27FC236}">
                <a16:creationId xmlns:a16="http://schemas.microsoft.com/office/drawing/2014/main" id="{065E6E8E-F735-3F4D-81C0-0BBC04525BF3}"/>
              </a:ext>
            </a:extLst>
          </p:cNvPr>
          <p:cNvSpPr/>
          <p:nvPr/>
        </p:nvSpPr>
        <p:spPr>
          <a:xfrm>
            <a:off x="254000" y="4673600"/>
            <a:ext cx="50800" cy="330200"/>
          </a:xfrm>
          <a:prstGeom prst="rect">
            <a:avLst/>
          </a:prstGeom>
          <a:solidFill>
            <a:srgbClr val="E8A02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0" name="TextBox 19">
            <a:extLst>
              <a:ext uri="{FF2B5EF4-FFF2-40B4-BE49-F238E27FC236}">
                <a16:creationId xmlns:a16="http://schemas.microsoft.com/office/drawing/2014/main" id="{EACC78F4-5806-7740-A765-20EAA64227E4}"/>
              </a:ext>
            </a:extLst>
          </p:cNvPr>
          <p:cNvSpPr txBox="1"/>
          <p:nvPr/>
        </p:nvSpPr>
        <p:spPr>
          <a:xfrm>
            <a:off x="431800" y="4686300"/>
            <a:ext cx="8458200" cy="304800"/>
          </a:xfrm>
          <a:prstGeom prst="rect">
            <a:avLst/>
          </a:prstGeom>
          <a:noFill/>
        </p:spPr>
        <p:txBody>
          <a:bodyPr vertOverflow="overflow" vert="horz" wrap="square" rtlCol="0" anchor="ctr" anchorCtr="0">
            <a:noAutofit/>
          </a:bodyPr>
          <a:lstStyle/>
          <a:p>
            <a:pPr algn="l"/>
            <a:r>
              <a:rPr lang="en-US" sz="1200" dirty="0">
                <a:solidFill>
                  <a:srgbClr val="0D1B2A"/>
                </a:solidFill>
                <a:latin typeface="Calibri"/>
                <a:cs typeface="Calibri"/>
              </a:rPr>
              <a:t>Ablation: 3 feature sets (Stats · Market · Combined) × 3 models (NB · HC · PC) = 9 configurations, each scored on accuracy and log loss.</a:t>
            </a:r>
          </a:p>
        </p:txBody>
      </p:sp>
    </p:spTree>
    <p:extLst>
      <p:ext uri="{BB962C8B-B14F-4D97-AF65-F5344CB8AC3E}">
        <p14:creationId xmlns:p14="http://schemas.microsoft.com/office/powerpoint/2010/main" val="16470646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DD7FBD6E-E676-9648-B219-6F13BD5A1A2E}"/>
              </a:ext>
            </a:extLst>
          </p:cNvPr>
          <p:cNvSpPr/>
          <p:nvPr/>
        </p:nvSpPr>
        <p:spPr>
          <a:xfrm>
            <a:off x="0" y="0"/>
            <a:ext cx="9144000" cy="965200"/>
          </a:xfrm>
          <a:prstGeom prst="rect">
            <a:avLst/>
          </a:prstGeom>
          <a:solidFill>
            <a:srgbClr val="0D1B2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 name="Shape 1">
            <a:extLst>
              <a:ext uri="{FF2B5EF4-FFF2-40B4-BE49-F238E27FC236}">
                <a16:creationId xmlns:a16="http://schemas.microsoft.com/office/drawing/2014/main" id="{0E632801-6A74-E044-AA74-3E109BF7585C}"/>
              </a:ext>
            </a:extLst>
          </p:cNvPr>
          <p:cNvSpPr/>
          <p:nvPr/>
        </p:nvSpPr>
        <p:spPr>
          <a:xfrm>
            <a:off x="0" y="965200"/>
            <a:ext cx="9144000" cy="63500"/>
          </a:xfrm>
          <a:prstGeom prst="rect">
            <a:avLst/>
          </a:prstGeom>
          <a:solidFill>
            <a:srgbClr val="E8A02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 name="Text 2">
            <a:extLst>
              <a:ext uri="{FF2B5EF4-FFF2-40B4-BE49-F238E27FC236}">
                <a16:creationId xmlns:a16="http://schemas.microsoft.com/office/drawing/2014/main" id="{DD235CE1-FCE0-D847-AE97-94C1BEF27F9B}"/>
              </a:ext>
            </a:extLst>
          </p:cNvPr>
          <p:cNvSpPr txBox="1"/>
          <p:nvPr/>
        </p:nvSpPr>
        <p:spPr>
          <a:xfrm>
            <a:off x="368300" y="139700"/>
            <a:ext cx="8407400" cy="685800"/>
          </a:xfrm>
          <a:prstGeom prst="rect">
            <a:avLst/>
          </a:prstGeom>
          <a:noFill/>
        </p:spPr>
        <p:txBody>
          <a:bodyPr vertOverflow="overflow" vert="horz" wrap="square" rtlCol="0" anchor="ctr" anchorCtr="0">
            <a:spAutoFit/>
          </a:bodyPr>
          <a:lstStyle/>
          <a:p>
            <a:pPr algn="l"/>
            <a:r>
              <a:rPr lang="en-US" sz="2800" b="1">
                <a:solidFill>
                  <a:srgbClr val="FFFFFF"/>
                </a:solidFill>
                <a:latin typeface="Calibri"/>
                <a:cs typeface="Calibri"/>
              </a:rPr>
              <a:t>The Result Is Not What You'd Expect</a:t>
            </a:r>
          </a:p>
        </p:txBody>
      </p:sp>
      <p:sp>
        <p:nvSpPr>
          <p:cNvPr id="5" name="LeftPanel">
            <a:extLst>
              <a:ext uri="{FF2B5EF4-FFF2-40B4-BE49-F238E27FC236}">
                <a16:creationId xmlns:a16="http://schemas.microsoft.com/office/drawing/2014/main" id="{DED618A9-E7A3-B448-A525-6D5F938FA9D7}"/>
              </a:ext>
            </a:extLst>
          </p:cNvPr>
          <p:cNvSpPr/>
          <p:nvPr/>
        </p:nvSpPr>
        <p:spPr>
          <a:xfrm>
            <a:off x="254000" y="1168400"/>
            <a:ext cx="4191000" cy="3327400"/>
          </a:xfrm>
          <a:prstGeom prst="rect">
            <a:avLst/>
          </a:prstGeom>
          <a:solidFill>
            <a:srgbClr val="FBF7EE"/>
          </a:solidFill>
          <a:ln w="25400" cap="flat" cmpd="sng" algn="ctr">
            <a:solidFill>
              <a:srgbClr val="E8A02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RightPanel">
            <a:extLst>
              <a:ext uri="{FF2B5EF4-FFF2-40B4-BE49-F238E27FC236}">
                <a16:creationId xmlns:a16="http://schemas.microsoft.com/office/drawing/2014/main" id="{2BD7CD01-1792-0D43-BBB8-FEEC51975F7C}"/>
              </a:ext>
            </a:extLst>
          </p:cNvPr>
          <p:cNvSpPr/>
          <p:nvPr/>
        </p:nvSpPr>
        <p:spPr>
          <a:xfrm>
            <a:off x="4699000" y="1168400"/>
            <a:ext cx="4191000" cy="3327400"/>
          </a:xfrm>
          <a:prstGeom prst="rect">
            <a:avLst/>
          </a:prstGeom>
          <a:solidFill>
            <a:srgbClr val="EEF8F2"/>
          </a:solidFill>
          <a:ln w="25400" cap="flat" cmpd="sng" algn="ctr">
            <a:solidFill>
              <a:srgbClr val="4CAF7D"/>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 name="TextBox 6">
            <a:extLst>
              <a:ext uri="{FF2B5EF4-FFF2-40B4-BE49-F238E27FC236}">
                <a16:creationId xmlns:a16="http://schemas.microsoft.com/office/drawing/2014/main" id="{DD4B8F75-0EA5-C847-B8D5-4C63C8A057F9}"/>
              </a:ext>
            </a:extLst>
          </p:cNvPr>
          <p:cNvSpPr txBox="1"/>
          <p:nvPr/>
        </p:nvSpPr>
        <p:spPr>
          <a:xfrm>
            <a:off x="457200" y="1320800"/>
            <a:ext cx="3784600" cy="279400"/>
          </a:xfrm>
          <a:prstGeom prst="rect">
            <a:avLst/>
          </a:prstGeom>
          <a:noFill/>
        </p:spPr>
        <p:txBody>
          <a:bodyPr vertOverflow="overflow" vert="horz" wrap="square" rtlCol="0" anchor="t" anchorCtr="0">
            <a:spAutoFit/>
          </a:bodyPr>
          <a:lstStyle/>
          <a:p>
            <a:pPr algn="l"/>
            <a:r>
              <a:rPr lang="en-US" sz="1300" b="1">
                <a:solidFill>
                  <a:srgbClr val="5A6675"/>
                </a:solidFill>
                <a:latin typeface="Calibri"/>
                <a:cs typeface="Calibri"/>
              </a:rPr>
              <a:t>ACCURACY</a:t>
            </a:r>
          </a:p>
        </p:txBody>
      </p:sp>
      <p:sp>
        <p:nvSpPr>
          <p:cNvPr id="8" name="TextBox 7">
            <a:extLst>
              <a:ext uri="{FF2B5EF4-FFF2-40B4-BE49-F238E27FC236}">
                <a16:creationId xmlns:a16="http://schemas.microsoft.com/office/drawing/2014/main" id="{BB6FE2B7-97CD-4B4E-A69A-0922CFD97C5F}"/>
              </a:ext>
            </a:extLst>
          </p:cNvPr>
          <p:cNvSpPr txBox="1"/>
          <p:nvPr/>
        </p:nvSpPr>
        <p:spPr>
          <a:xfrm>
            <a:off x="457200" y="1574800"/>
            <a:ext cx="3784600" cy="381000"/>
          </a:xfrm>
          <a:prstGeom prst="rect">
            <a:avLst/>
          </a:prstGeom>
          <a:noFill/>
        </p:spPr>
        <p:txBody>
          <a:bodyPr vertOverflow="overflow" vert="horz" wrap="square" rtlCol="0" anchor="t" anchorCtr="0">
            <a:spAutoFit/>
          </a:bodyPr>
          <a:lstStyle/>
          <a:p>
            <a:pPr algn="l"/>
            <a:r>
              <a:rPr lang="en-US" sz="2000" b="1">
                <a:solidFill>
                  <a:srgbClr val="B8860B"/>
                </a:solidFill>
                <a:latin typeface="Calibri"/>
                <a:cs typeface="Calibri"/>
              </a:rPr>
              <a:t>Market signals HURT</a:t>
            </a:r>
          </a:p>
        </p:txBody>
      </p:sp>
      <p:sp>
        <p:nvSpPr>
          <p:cNvPr id="9" name="TextBox 8">
            <a:extLst>
              <a:ext uri="{FF2B5EF4-FFF2-40B4-BE49-F238E27FC236}">
                <a16:creationId xmlns:a16="http://schemas.microsoft.com/office/drawing/2014/main" id="{8754A002-10B7-324E-A7D3-C382D7B1C905}"/>
              </a:ext>
            </a:extLst>
          </p:cNvPr>
          <p:cNvSpPr txBox="1"/>
          <p:nvPr/>
        </p:nvSpPr>
        <p:spPr>
          <a:xfrm>
            <a:off x="457200" y="2057400"/>
            <a:ext cx="3784600" cy="584200"/>
          </a:xfrm>
          <a:prstGeom prst="rect">
            <a:avLst/>
          </a:prstGeom>
          <a:noFill/>
        </p:spPr>
        <p:txBody>
          <a:bodyPr vertOverflow="overflow" vert="horz" wrap="square" rtlCol="0" anchor="t" anchorCtr="0">
            <a:spAutoFit/>
          </a:bodyPr>
          <a:lstStyle/>
          <a:p>
            <a:pPr algn="l"/>
            <a:r>
              <a:rPr lang="en-US" sz="4000" b="1">
                <a:solidFill>
                  <a:srgbClr val="E8A020"/>
                </a:solidFill>
                <a:latin typeface="Calibri"/>
                <a:cs typeface="Calibri"/>
              </a:rPr>
              <a:t>84.1%</a:t>
            </a:r>
          </a:p>
        </p:txBody>
      </p:sp>
      <p:sp>
        <p:nvSpPr>
          <p:cNvPr id="10" name="TextBox 9">
            <a:extLst>
              <a:ext uri="{FF2B5EF4-FFF2-40B4-BE49-F238E27FC236}">
                <a16:creationId xmlns:a16="http://schemas.microsoft.com/office/drawing/2014/main" id="{E834394D-F360-9A4D-8F9A-C7EEEA502C71}"/>
              </a:ext>
            </a:extLst>
          </p:cNvPr>
          <p:cNvSpPr txBox="1"/>
          <p:nvPr/>
        </p:nvSpPr>
        <p:spPr>
          <a:xfrm>
            <a:off x="457200" y="2616200"/>
            <a:ext cx="3784600" cy="254000"/>
          </a:xfrm>
          <a:prstGeom prst="rect">
            <a:avLst/>
          </a:prstGeom>
          <a:noFill/>
        </p:spPr>
        <p:txBody>
          <a:bodyPr vertOverflow="overflow" vert="horz" wrap="square" rtlCol="0" anchor="t" anchorCtr="0">
            <a:spAutoFit/>
          </a:bodyPr>
          <a:lstStyle/>
          <a:p>
            <a:pPr algn="l"/>
            <a:r>
              <a:rPr lang="en-US" sz="1300" b="1">
                <a:solidFill>
                  <a:srgbClr val="5A6675"/>
                </a:solidFill>
                <a:latin typeface="Calibri"/>
                <a:cs typeface="Calibri"/>
              </a:rPr>
              <a:t>Stats-only Naive Bayes</a:t>
            </a:r>
          </a:p>
        </p:txBody>
      </p:sp>
      <p:sp>
        <p:nvSpPr>
          <p:cNvPr id="11" name="TextBox 10">
            <a:extLst>
              <a:ext uri="{FF2B5EF4-FFF2-40B4-BE49-F238E27FC236}">
                <a16:creationId xmlns:a16="http://schemas.microsoft.com/office/drawing/2014/main" id="{243398F3-E727-E947-A904-2BEF2BF5AB9A}"/>
              </a:ext>
            </a:extLst>
          </p:cNvPr>
          <p:cNvSpPr txBox="1"/>
          <p:nvPr/>
        </p:nvSpPr>
        <p:spPr>
          <a:xfrm>
            <a:off x="457200" y="2997200"/>
            <a:ext cx="3784600" cy="508000"/>
          </a:xfrm>
          <a:prstGeom prst="rect">
            <a:avLst/>
          </a:prstGeom>
          <a:noFill/>
        </p:spPr>
        <p:txBody>
          <a:bodyPr vertOverflow="overflow" vert="horz" wrap="square" rtlCol="0" anchor="t" anchorCtr="0">
            <a:spAutoFit/>
          </a:bodyPr>
          <a:lstStyle/>
          <a:p>
            <a:pPr algn="l"/>
            <a:r>
              <a:rPr lang="en-US" sz="3000" b="1">
                <a:solidFill>
                  <a:srgbClr val="5A6675"/>
                </a:solidFill>
                <a:latin typeface="Calibri"/>
                <a:cs typeface="Calibri"/>
              </a:rPr>
              <a:t>81.0%</a:t>
            </a:r>
          </a:p>
        </p:txBody>
      </p:sp>
      <p:sp>
        <p:nvSpPr>
          <p:cNvPr id="12" name="TextBox 11">
            <a:extLst>
              <a:ext uri="{FF2B5EF4-FFF2-40B4-BE49-F238E27FC236}">
                <a16:creationId xmlns:a16="http://schemas.microsoft.com/office/drawing/2014/main" id="{504EB889-A9C2-024F-B3A2-1A4F7BE17394}"/>
              </a:ext>
            </a:extLst>
          </p:cNvPr>
          <p:cNvSpPr txBox="1"/>
          <p:nvPr/>
        </p:nvSpPr>
        <p:spPr>
          <a:xfrm>
            <a:off x="457200" y="3454400"/>
            <a:ext cx="3784600" cy="254000"/>
          </a:xfrm>
          <a:prstGeom prst="rect">
            <a:avLst/>
          </a:prstGeom>
          <a:noFill/>
        </p:spPr>
        <p:txBody>
          <a:bodyPr vertOverflow="overflow" vert="horz" wrap="square" rtlCol="0" anchor="t" anchorCtr="0">
            <a:spAutoFit/>
          </a:bodyPr>
          <a:lstStyle/>
          <a:p>
            <a:pPr algn="l"/>
            <a:r>
              <a:rPr lang="en-US" sz="1300" b="1">
                <a:solidFill>
                  <a:srgbClr val="5A6675"/>
                </a:solidFill>
                <a:latin typeface="Calibri"/>
                <a:cs typeface="Calibri"/>
              </a:rPr>
              <a:t>Combined (stats + market)</a:t>
            </a:r>
          </a:p>
        </p:txBody>
      </p:sp>
      <p:sp>
        <p:nvSpPr>
          <p:cNvPr id="13" name="TextBox 12">
            <a:extLst>
              <a:ext uri="{FF2B5EF4-FFF2-40B4-BE49-F238E27FC236}">
                <a16:creationId xmlns:a16="http://schemas.microsoft.com/office/drawing/2014/main" id="{6BC382D3-D751-0F4B-9647-8EAFEF3A3B1A}"/>
              </a:ext>
            </a:extLst>
          </p:cNvPr>
          <p:cNvSpPr txBox="1"/>
          <p:nvPr/>
        </p:nvSpPr>
        <p:spPr>
          <a:xfrm>
            <a:off x="457200" y="3835400"/>
            <a:ext cx="3784600" cy="558800"/>
          </a:xfrm>
          <a:prstGeom prst="rect">
            <a:avLst/>
          </a:prstGeom>
          <a:noFill/>
        </p:spPr>
        <p:txBody>
          <a:bodyPr vertOverflow="overflow" vert="horz" wrap="square" rtlCol="0" anchor="t" anchorCtr="0">
            <a:spAutoFit/>
          </a:bodyPr>
          <a:lstStyle/>
          <a:p>
            <a:pPr algn="l"/>
            <a:r>
              <a:rPr lang="en-US" sz="1400" b="1">
                <a:solidFill>
                  <a:srgbClr val="1B2A3A"/>
                </a:solidFill>
                <a:latin typeface="Calibri"/>
                <a:cs typeface="Calibri"/>
              </a:rPr>
              <a:t>Adding market features lowers accuracy.</a:t>
            </a:r>
          </a:p>
        </p:txBody>
      </p:sp>
      <p:sp>
        <p:nvSpPr>
          <p:cNvPr id="14" name="TextBox 13">
            <a:extLst>
              <a:ext uri="{FF2B5EF4-FFF2-40B4-BE49-F238E27FC236}">
                <a16:creationId xmlns:a16="http://schemas.microsoft.com/office/drawing/2014/main" id="{BDB1A09F-26E2-6343-94CF-9FBE8059A6CC}"/>
              </a:ext>
            </a:extLst>
          </p:cNvPr>
          <p:cNvSpPr txBox="1"/>
          <p:nvPr/>
        </p:nvSpPr>
        <p:spPr>
          <a:xfrm>
            <a:off x="4902200" y="1320800"/>
            <a:ext cx="3784600" cy="279400"/>
          </a:xfrm>
          <a:prstGeom prst="rect">
            <a:avLst/>
          </a:prstGeom>
          <a:noFill/>
        </p:spPr>
        <p:txBody>
          <a:bodyPr vertOverflow="overflow" vert="horz" wrap="square" rtlCol="0" anchor="t" anchorCtr="0">
            <a:spAutoFit/>
          </a:bodyPr>
          <a:lstStyle/>
          <a:p>
            <a:pPr algn="l"/>
            <a:r>
              <a:rPr lang="en-US" sz="1300" b="1">
                <a:solidFill>
                  <a:srgbClr val="5A6675"/>
                </a:solidFill>
                <a:latin typeface="Calibri"/>
                <a:cs typeface="Calibri"/>
              </a:rPr>
              <a:t>CALIBRATION</a:t>
            </a:r>
          </a:p>
        </p:txBody>
      </p:sp>
      <p:sp>
        <p:nvSpPr>
          <p:cNvPr id="15" name="TextBox 14">
            <a:extLst>
              <a:ext uri="{FF2B5EF4-FFF2-40B4-BE49-F238E27FC236}">
                <a16:creationId xmlns:a16="http://schemas.microsoft.com/office/drawing/2014/main" id="{3C2F9A1B-3A17-FB4C-B8B8-7A876457BB32}"/>
              </a:ext>
            </a:extLst>
          </p:cNvPr>
          <p:cNvSpPr txBox="1"/>
          <p:nvPr/>
        </p:nvSpPr>
        <p:spPr>
          <a:xfrm>
            <a:off x="4902200" y="1574800"/>
            <a:ext cx="3784600" cy="381000"/>
          </a:xfrm>
          <a:prstGeom prst="rect">
            <a:avLst/>
          </a:prstGeom>
          <a:noFill/>
        </p:spPr>
        <p:txBody>
          <a:bodyPr vertOverflow="overflow" vert="horz" wrap="square" rtlCol="0" anchor="t" anchorCtr="0">
            <a:spAutoFit/>
          </a:bodyPr>
          <a:lstStyle/>
          <a:p>
            <a:pPr algn="l"/>
            <a:r>
              <a:rPr lang="en-US" sz="2000" b="1">
                <a:solidFill>
                  <a:srgbClr val="2E8B57"/>
                </a:solidFill>
                <a:latin typeface="Calibri"/>
                <a:cs typeface="Calibri"/>
              </a:rPr>
              <a:t>Market signals HELP</a:t>
            </a:r>
          </a:p>
        </p:txBody>
      </p:sp>
      <p:sp>
        <p:nvSpPr>
          <p:cNvPr id="16" name="TextBox 15">
            <a:extLst>
              <a:ext uri="{FF2B5EF4-FFF2-40B4-BE49-F238E27FC236}">
                <a16:creationId xmlns:a16="http://schemas.microsoft.com/office/drawing/2014/main" id="{BC6E806F-6227-7D46-8144-982CCD406CCF}"/>
              </a:ext>
            </a:extLst>
          </p:cNvPr>
          <p:cNvSpPr txBox="1"/>
          <p:nvPr/>
        </p:nvSpPr>
        <p:spPr>
          <a:xfrm>
            <a:off x="4902200" y="2057400"/>
            <a:ext cx="3784600" cy="584200"/>
          </a:xfrm>
          <a:prstGeom prst="rect">
            <a:avLst/>
          </a:prstGeom>
          <a:noFill/>
        </p:spPr>
        <p:txBody>
          <a:bodyPr vertOverflow="overflow" vert="horz" wrap="square" rtlCol="0" anchor="t" anchorCtr="0">
            <a:spAutoFit/>
          </a:bodyPr>
          <a:lstStyle/>
          <a:p>
            <a:pPr algn="l"/>
            <a:r>
              <a:rPr lang="en-US" sz="4000" b="1">
                <a:solidFill>
                  <a:srgbClr val="4CAF7D"/>
                </a:solidFill>
                <a:latin typeface="Calibri"/>
                <a:cs typeface="Calibri"/>
              </a:rPr>
              <a:t>0.345</a:t>
            </a:r>
          </a:p>
        </p:txBody>
      </p:sp>
      <p:sp>
        <p:nvSpPr>
          <p:cNvPr id="17" name="TextBox 16">
            <a:extLst>
              <a:ext uri="{FF2B5EF4-FFF2-40B4-BE49-F238E27FC236}">
                <a16:creationId xmlns:a16="http://schemas.microsoft.com/office/drawing/2014/main" id="{B98C112D-2CBC-5347-9CBA-0FB7E8B8BC94}"/>
              </a:ext>
            </a:extLst>
          </p:cNvPr>
          <p:cNvSpPr txBox="1"/>
          <p:nvPr/>
        </p:nvSpPr>
        <p:spPr>
          <a:xfrm>
            <a:off x="4902200" y="2616200"/>
            <a:ext cx="3784600" cy="254000"/>
          </a:xfrm>
          <a:prstGeom prst="rect">
            <a:avLst/>
          </a:prstGeom>
          <a:noFill/>
        </p:spPr>
        <p:txBody>
          <a:bodyPr vertOverflow="overflow" vert="horz" wrap="square" rtlCol="0" anchor="t" anchorCtr="0">
            <a:spAutoFit/>
          </a:bodyPr>
          <a:lstStyle/>
          <a:p>
            <a:pPr algn="l"/>
            <a:r>
              <a:rPr lang="en-US" sz="1300" b="1">
                <a:solidFill>
                  <a:srgbClr val="5A6675"/>
                </a:solidFill>
                <a:latin typeface="Calibri"/>
                <a:cs typeface="Calibri"/>
              </a:rPr>
              <a:t>Combined PC log loss (best)</a:t>
            </a:r>
          </a:p>
        </p:txBody>
      </p:sp>
      <p:sp>
        <p:nvSpPr>
          <p:cNvPr id="18" name="TextBox 17">
            <a:extLst>
              <a:ext uri="{FF2B5EF4-FFF2-40B4-BE49-F238E27FC236}">
                <a16:creationId xmlns:a16="http://schemas.microsoft.com/office/drawing/2014/main" id="{7F2861E7-9E5C-694E-A822-E7EEDECACB38}"/>
              </a:ext>
            </a:extLst>
          </p:cNvPr>
          <p:cNvSpPr txBox="1"/>
          <p:nvPr/>
        </p:nvSpPr>
        <p:spPr>
          <a:xfrm>
            <a:off x="4902200" y="2997200"/>
            <a:ext cx="3784600" cy="508000"/>
          </a:xfrm>
          <a:prstGeom prst="rect">
            <a:avLst/>
          </a:prstGeom>
          <a:noFill/>
        </p:spPr>
        <p:txBody>
          <a:bodyPr vertOverflow="overflow" vert="horz" wrap="square" rtlCol="0" anchor="t" anchorCtr="0">
            <a:spAutoFit/>
          </a:bodyPr>
          <a:lstStyle/>
          <a:p>
            <a:pPr algn="l"/>
            <a:r>
              <a:rPr lang="en-US" sz="3000" b="1">
                <a:solidFill>
                  <a:srgbClr val="5A6675"/>
                </a:solidFill>
                <a:latin typeface="Calibri"/>
                <a:cs typeface="Calibri"/>
              </a:rPr>
              <a:t>0.439</a:t>
            </a:r>
          </a:p>
        </p:txBody>
      </p:sp>
      <p:sp>
        <p:nvSpPr>
          <p:cNvPr id="19" name="TextBox 18">
            <a:extLst>
              <a:ext uri="{FF2B5EF4-FFF2-40B4-BE49-F238E27FC236}">
                <a16:creationId xmlns:a16="http://schemas.microsoft.com/office/drawing/2014/main" id="{69827C9C-A506-EC44-8844-0F3B9628FACD}"/>
              </a:ext>
            </a:extLst>
          </p:cNvPr>
          <p:cNvSpPr txBox="1"/>
          <p:nvPr/>
        </p:nvSpPr>
        <p:spPr>
          <a:xfrm>
            <a:off x="4902200" y="3454400"/>
            <a:ext cx="3784600" cy="254000"/>
          </a:xfrm>
          <a:prstGeom prst="rect">
            <a:avLst/>
          </a:prstGeom>
          <a:noFill/>
        </p:spPr>
        <p:txBody>
          <a:bodyPr vertOverflow="overflow" vert="horz" wrap="square" rtlCol="0" anchor="t" anchorCtr="0">
            <a:spAutoFit/>
          </a:bodyPr>
          <a:lstStyle/>
          <a:p>
            <a:pPr algn="l"/>
            <a:r>
              <a:rPr lang="en-US" sz="1300" b="1">
                <a:solidFill>
                  <a:srgbClr val="5A6675"/>
                </a:solidFill>
                <a:latin typeface="Calibri"/>
                <a:cs typeface="Calibri"/>
              </a:rPr>
              <a:t>Stats-only NB log loss</a:t>
            </a:r>
          </a:p>
        </p:txBody>
      </p:sp>
      <p:sp>
        <p:nvSpPr>
          <p:cNvPr id="20" name="TextBox 19">
            <a:extLst>
              <a:ext uri="{FF2B5EF4-FFF2-40B4-BE49-F238E27FC236}">
                <a16:creationId xmlns:a16="http://schemas.microsoft.com/office/drawing/2014/main" id="{0E08E20A-7F97-C746-A902-0BD65D13825E}"/>
              </a:ext>
            </a:extLst>
          </p:cNvPr>
          <p:cNvSpPr txBox="1"/>
          <p:nvPr/>
        </p:nvSpPr>
        <p:spPr>
          <a:xfrm>
            <a:off x="4902200" y="3835400"/>
            <a:ext cx="3784600" cy="558800"/>
          </a:xfrm>
          <a:prstGeom prst="rect">
            <a:avLst/>
          </a:prstGeom>
          <a:noFill/>
        </p:spPr>
        <p:txBody>
          <a:bodyPr vertOverflow="overflow" vert="horz" wrap="square" rtlCol="0" anchor="t" anchorCtr="0">
            <a:spAutoFit/>
          </a:bodyPr>
          <a:lstStyle/>
          <a:p>
            <a:pPr algn="l"/>
            <a:r>
              <a:rPr lang="en-US" sz="1400" b="1">
                <a:solidFill>
                  <a:srgbClr val="1B2A3A"/>
                </a:solidFill>
                <a:latin typeface="Calibri"/>
                <a:cs typeface="Calibri"/>
              </a:rPr>
              <a:t>Adding market features improves calibration.</a:t>
            </a:r>
          </a:p>
        </p:txBody>
      </p:sp>
      <p:sp>
        <p:nvSpPr>
          <p:cNvPr id="21" name="VsChip">
            <a:extLst>
              <a:ext uri="{FF2B5EF4-FFF2-40B4-BE49-F238E27FC236}">
                <a16:creationId xmlns:a16="http://schemas.microsoft.com/office/drawing/2014/main" id="{9B1D1D7C-6B81-8841-8A57-0B984AA38F46}"/>
              </a:ext>
            </a:extLst>
          </p:cNvPr>
          <p:cNvSpPr/>
          <p:nvPr/>
        </p:nvSpPr>
        <p:spPr>
          <a:xfrm>
            <a:off x="4368800" y="2667000"/>
            <a:ext cx="406400" cy="406400"/>
          </a:xfrm>
          <a:prstGeom prst="ellipse">
            <a:avLst/>
          </a:prstGeom>
          <a:solidFill>
            <a:srgbClr val="0D1B2A"/>
          </a:solidFill>
          <a:ln w="19050" cap="flat" cmpd="sng" algn="ctr">
            <a:solidFill>
              <a:srgbClr val="E8A02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200" b="1">
                <a:solidFill>
                  <a:srgbClr val="FFFFFF"/>
                </a:solidFill>
                <a:latin typeface="Calibri"/>
                <a:cs typeface="Calibri"/>
              </a:rPr>
              <a:t>vs</a:t>
            </a:r>
          </a:p>
        </p:txBody>
      </p:sp>
    </p:spTree>
    <p:extLst>
      <p:ext uri="{BB962C8B-B14F-4D97-AF65-F5344CB8AC3E}">
        <p14:creationId xmlns:p14="http://schemas.microsoft.com/office/powerpoint/2010/main" val="27156296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
          <a:extLst>
            <a:ext uri="{FF2B5EF4-FFF2-40B4-BE49-F238E27FC236}">
              <a16:creationId xmlns:a16="http://schemas.microsoft.com/office/drawing/2014/main" id="{F9C8B6B9-46C4-86CC-4DE1-53177C69945D}"/>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E5E03421-CA6B-1B22-E27A-21BA271D7750}"/>
              </a:ext>
            </a:extLst>
          </p:cNvPr>
          <p:cNvSpPr/>
          <p:nvPr/>
        </p:nvSpPr>
        <p:spPr>
          <a:xfrm>
            <a:off x="4724400" y="1130300"/>
            <a:ext cx="4165600" cy="1905000"/>
          </a:xfrm>
          <a:prstGeom prst="rect">
            <a:avLst/>
          </a:prstGeom>
          <a:solidFill>
            <a:srgbClr val="FFFFFF"/>
          </a:solidFill>
          <a:ln w="15875" cap="flat" cmpd="sng" algn="ctr">
            <a:solidFill>
              <a:srgbClr val="1B3A5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Rectangle 4">
            <a:extLst>
              <a:ext uri="{FF2B5EF4-FFF2-40B4-BE49-F238E27FC236}">
                <a16:creationId xmlns:a16="http://schemas.microsoft.com/office/drawing/2014/main" id="{A304381F-DB86-4694-FA62-5E5F0E0DDE4C}"/>
              </a:ext>
            </a:extLst>
          </p:cNvPr>
          <p:cNvSpPr/>
          <p:nvPr/>
        </p:nvSpPr>
        <p:spPr>
          <a:xfrm>
            <a:off x="254000" y="1130300"/>
            <a:ext cx="4318000" cy="1905000"/>
          </a:xfrm>
          <a:prstGeom prst="rect">
            <a:avLst/>
          </a:prstGeom>
          <a:solidFill>
            <a:srgbClr val="FFFFFF"/>
          </a:solidFill>
          <a:ln w="15875" cap="flat" cmpd="sng" algn="ctr">
            <a:solidFill>
              <a:srgbClr val="1B3A5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 name="Shape 0">
            <a:extLst>
              <a:ext uri="{FF2B5EF4-FFF2-40B4-BE49-F238E27FC236}">
                <a16:creationId xmlns:a16="http://schemas.microsoft.com/office/drawing/2014/main" id="{91F42CA5-B5D4-0171-9177-FC191A1D758B}"/>
              </a:ext>
            </a:extLst>
          </p:cNvPr>
          <p:cNvSpPr/>
          <p:nvPr/>
        </p:nvSpPr>
        <p:spPr>
          <a:xfrm>
            <a:off x="0" y="0"/>
            <a:ext cx="9144000" cy="960120"/>
          </a:xfrm>
          <a:prstGeom prst="rect">
            <a:avLst/>
          </a:prstGeom>
          <a:solidFill>
            <a:srgbClr val="0D1B2A"/>
          </a:solidFill>
          <a:ln w="12700">
            <a:solidFill>
              <a:srgbClr val="0D1B2A"/>
            </a:solidFill>
            <a:prstDash val="solid"/>
          </a:ln>
        </p:spPr>
        <p:txBody>
          <a:bodyPr/>
          <a:lstStyle/>
          <a:p>
            <a:endParaRPr lang="en-US"/>
          </a:p>
        </p:txBody>
      </p:sp>
      <p:sp>
        <p:nvSpPr>
          <p:cNvPr id="3" name="Shape 1">
            <a:extLst>
              <a:ext uri="{FF2B5EF4-FFF2-40B4-BE49-F238E27FC236}">
                <a16:creationId xmlns:a16="http://schemas.microsoft.com/office/drawing/2014/main" id="{CFA95742-D651-1FB6-CF7D-84DA353D307C}"/>
              </a:ext>
            </a:extLst>
          </p:cNvPr>
          <p:cNvSpPr/>
          <p:nvPr/>
        </p:nvSpPr>
        <p:spPr>
          <a:xfrm>
            <a:off x="0" y="960120"/>
            <a:ext cx="9144000" cy="64008"/>
          </a:xfrm>
          <a:prstGeom prst="rect">
            <a:avLst/>
          </a:prstGeom>
          <a:solidFill>
            <a:srgbClr val="E8A020"/>
          </a:solidFill>
          <a:ln w="12700">
            <a:solidFill>
              <a:srgbClr val="E8A020"/>
            </a:solidFill>
            <a:prstDash val="solid"/>
          </a:ln>
        </p:spPr>
        <p:txBody>
          <a:bodyPr/>
          <a:lstStyle/>
          <a:p>
            <a:endParaRPr lang="en-US"/>
          </a:p>
        </p:txBody>
      </p:sp>
      <p:sp>
        <p:nvSpPr>
          <p:cNvPr id="4" name="Text 2">
            <a:extLst>
              <a:ext uri="{FF2B5EF4-FFF2-40B4-BE49-F238E27FC236}">
                <a16:creationId xmlns:a16="http://schemas.microsoft.com/office/drawing/2014/main" id="{44DC2004-EDBE-B484-5854-68F418A3E8DB}"/>
              </a:ext>
            </a:extLst>
          </p:cNvPr>
          <p:cNvSpPr/>
          <p:nvPr/>
        </p:nvSpPr>
        <p:spPr>
          <a:xfrm>
            <a:off x="365760" y="137160"/>
            <a:ext cx="8412480" cy="685800"/>
          </a:xfrm>
          <a:prstGeom prst="rect">
            <a:avLst/>
          </a:prstGeom>
          <a:noFill/>
          <a:ln/>
        </p:spPr>
        <p:txBody>
          <a:bodyPr wrap="square" lIns="91440" tIns="45720" rIns="91440" bIns="45720" rtlCol="0" anchor="ctr"/>
          <a:lstStyle/>
          <a:p>
            <a:r>
              <a:rPr lang="en-US" sz="2800" b="1">
                <a:solidFill>
                  <a:srgbClr val="FFFFFF"/>
                </a:solidFill>
                <a:latin typeface="Calibri"/>
                <a:cs typeface="Calibri"/>
              </a:rPr>
              <a:t>Results: Accuracy vs. Calibration</a:t>
            </a:r>
          </a:p>
        </p:txBody>
      </p:sp>
      <p:sp>
        <p:nvSpPr>
          <p:cNvPr id="6" name="Rectangle 5">
            <a:extLst>
              <a:ext uri="{FF2B5EF4-FFF2-40B4-BE49-F238E27FC236}">
                <a16:creationId xmlns:a16="http://schemas.microsoft.com/office/drawing/2014/main" id="{9B2F089C-302C-F961-9DF0-F6A22CBBBC58}"/>
              </a:ext>
            </a:extLst>
          </p:cNvPr>
          <p:cNvSpPr/>
          <p:nvPr/>
        </p:nvSpPr>
        <p:spPr>
          <a:xfrm>
            <a:off x="254000" y="1130300"/>
            <a:ext cx="4318000" cy="381000"/>
          </a:xfrm>
          <a:prstGeom prst="rect">
            <a:avLst/>
          </a:prstGeom>
          <a:solidFill>
            <a:srgbClr val="1B3A5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 name="GroupHeaderText_Group1">
            <a:extLst>
              <a:ext uri="{FF2B5EF4-FFF2-40B4-BE49-F238E27FC236}">
                <a16:creationId xmlns:a16="http://schemas.microsoft.com/office/drawing/2014/main" id="{ECC02653-D028-86D1-6FB7-697D031FBBBD}"/>
              </a:ext>
            </a:extLst>
          </p:cNvPr>
          <p:cNvSpPr txBox="1"/>
          <p:nvPr/>
        </p:nvSpPr>
        <p:spPr>
          <a:xfrm>
            <a:off x="254000" y="1130300"/>
            <a:ext cx="4318000" cy="381000"/>
          </a:xfrm>
          <a:prstGeom prst="rect">
            <a:avLst/>
          </a:prstGeom>
          <a:noFill/>
          <a:ln>
            <a:noFill/>
          </a:ln>
        </p:spPr>
        <p:txBody>
          <a:bodyPr vertOverflow="overflow" vert="horz" wrap="square" rtlCol="0" anchor="ctr" anchorCtr="0">
            <a:noAutofit/>
          </a:bodyPr>
          <a:lstStyle/>
          <a:p>
            <a:r>
              <a:rPr lang="en-US" sz="1600" b="1">
                <a:solidFill>
                  <a:srgbClr val="FFFFFF"/>
                </a:solidFill>
                <a:latin typeface="Calibri"/>
                <a:cs typeface="Calibri"/>
              </a:rPr>
              <a:t>ACCURACY</a:t>
            </a:r>
          </a:p>
        </p:txBody>
      </p:sp>
      <p:sp>
        <p:nvSpPr>
          <p:cNvPr id="8" name="TextBox 7">
            <a:extLst>
              <a:ext uri="{FF2B5EF4-FFF2-40B4-BE49-F238E27FC236}">
                <a16:creationId xmlns:a16="http://schemas.microsoft.com/office/drawing/2014/main" id="{85B2C095-1942-FB66-7121-E3FA6D1B42C7}"/>
              </a:ext>
            </a:extLst>
          </p:cNvPr>
          <p:cNvSpPr txBox="1"/>
          <p:nvPr/>
        </p:nvSpPr>
        <p:spPr>
          <a:xfrm>
            <a:off x="381000" y="1494028"/>
            <a:ext cx="4089400" cy="584200"/>
          </a:xfrm>
          <a:prstGeom prst="rect">
            <a:avLst/>
          </a:prstGeom>
          <a:noFill/>
          <a:ln>
            <a:noFill/>
          </a:ln>
        </p:spPr>
        <p:txBody>
          <a:bodyPr vertOverflow="overflow" vert="horz" wrap="square" rtlCol="0" anchor="t" anchorCtr="0">
            <a:noAutofit/>
          </a:bodyPr>
          <a:lstStyle/>
          <a:p>
            <a:r>
              <a:rPr lang="en-US" sz="4000" b="1" dirty="0">
                <a:solidFill>
                  <a:srgbClr val="E8A020"/>
                </a:solidFill>
                <a:latin typeface="Calibri"/>
                <a:cs typeface="Calibri"/>
              </a:rPr>
              <a:t>84.1%</a:t>
            </a:r>
          </a:p>
        </p:txBody>
      </p:sp>
      <p:sp>
        <p:nvSpPr>
          <p:cNvPr id="9" name="TextBox 8">
            <a:extLst>
              <a:ext uri="{FF2B5EF4-FFF2-40B4-BE49-F238E27FC236}">
                <a16:creationId xmlns:a16="http://schemas.microsoft.com/office/drawing/2014/main" id="{1BA2B655-FD42-7837-E35E-BAA20709A2C2}"/>
              </a:ext>
            </a:extLst>
          </p:cNvPr>
          <p:cNvSpPr txBox="1"/>
          <p:nvPr/>
        </p:nvSpPr>
        <p:spPr>
          <a:xfrm>
            <a:off x="381000" y="2082800"/>
            <a:ext cx="4089400" cy="838200"/>
          </a:xfrm>
          <a:prstGeom prst="rect">
            <a:avLst/>
          </a:prstGeom>
          <a:noFill/>
          <a:ln>
            <a:noFill/>
          </a:ln>
        </p:spPr>
        <p:txBody>
          <a:bodyPr vertOverflow="overflow" vert="horz" wrap="square" rtlCol="0" anchor="t" anchorCtr="0">
            <a:noAutofit/>
          </a:bodyPr>
          <a:lstStyle/>
          <a:p>
            <a:pPr>
              <a:lnSpc>
                <a:spcPts val="1450"/>
              </a:lnSpc>
            </a:pPr>
            <a:r>
              <a:rPr lang="en-US" sz="1300" dirty="0">
                <a:solidFill>
                  <a:srgbClr val="404040"/>
                </a:solidFill>
                <a:latin typeface="Calibri"/>
                <a:cs typeface="Calibri"/>
              </a:rPr>
              <a:t>Stats-only Naive Bayes is the highest of any configuration. Adding market features lowers NB accuracy to 81.0%; both Bayesian Networks stay at or below the 58.0% majority baseline in every configuration.</a:t>
            </a:r>
          </a:p>
        </p:txBody>
      </p:sp>
      <p:sp>
        <p:nvSpPr>
          <p:cNvPr id="16" name="Rectangle 15">
            <a:extLst>
              <a:ext uri="{FF2B5EF4-FFF2-40B4-BE49-F238E27FC236}">
                <a16:creationId xmlns:a16="http://schemas.microsoft.com/office/drawing/2014/main" id="{500A20A5-55E9-B100-6CFA-50AED3B99A3B}"/>
              </a:ext>
            </a:extLst>
          </p:cNvPr>
          <p:cNvSpPr/>
          <p:nvPr/>
        </p:nvSpPr>
        <p:spPr>
          <a:xfrm>
            <a:off x="4724400" y="1130300"/>
            <a:ext cx="4165600" cy="381000"/>
          </a:xfrm>
          <a:prstGeom prst="rect">
            <a:avLst/>
          </a:prstGeom>
          <a:solidFill>
            <a:srgbClr val="1B3A5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7" name="GroupHeaderText_Group3">
            <a:extLst>
              <a:ext uri="{FF2B5EF4-FFF2-40B4-BE49-F238E27FC236}">
                <a16:creationId xmlns:a16="http://schemas.microsoft.com/office/drawing/2014/main" id="{7A08DBE0-8AF4-2758-FABC-938D706FE12D}"/>
              </a:ext>
            </a:extLst>
          </p:cNvPr>
          <p:cNvSpPr txBox="1"/>
          <p:nvPr/>
        </p:nvSpPr>
        <p:spPr>
          <a:xfrm>
            <a:off x="4724400" y="1130300"/>
            <a:ext cx="4165600" cy="381000"/>
          </a:xfrm>
          <a:prstGeom prst="rect">
            <a:avLst/>
          </a:prstGeom>
          <a:noFill/>
          <a:ln>
            <a:noFill/>
          </a:ln>
        </p:spPr>
        <p:txBody>
          <a:bodyPr vertOverflow="overflow" vert="horz" wrap="square" rtlCol="0" anchor="ctr" anchorCtr="0">
            <a:noAutofit/>
          </a:bodyPr>
          <a:lstStyle/>
          <a:p>
            <a:r>
              <a:rPr lang="en-US" sz="1600" b="1">
                <a:solidFill>
                  <a:srgbClr val="FFFFFF"/>
                </a:solidFill>
                <a:latin typeface="Calibri"/>
                <a:cs typeface="Calibri"/>
              </a:rPr>
              <a:t>CALIBRATION (LOG LOSS)</a:t>
            </a:r>
          </a:p>
        </p:txBody>
      </p:sp>
      <p:sp>
        <p:nvSpPr>
          <p:cNvPr id="18" name="TextBox 17">
            <a:extLst>
              <a:ext uri="{FF2B5EF4-FFF2-40B4-BE49-F238E27FC236}">
                <a16:creationId xmlns:a16="http://schemas.microsoft.com/office/drawing/2014/main" id="{07381AD6-C2D8-2F3C-2FAB-03E58226397E}"/>
              </a:ext>
            </a:extLst>
          </p:cNvPr>
          <p:cNvSpPr txBox="1"/>
          <p:nvPr/>
        </p:nvSpPr>
        <p:spPr>
          <a:xfrm>
            <a:off x="4851400" y="1455928"/>
            <a:ext cx="3911600" cy="584200"/>
          </a:xfrm>
          <a:prstGeom prst="rect">
            <a:avLst/>
          </a:prstGeom>
          <a:noFill/>
          <a:ln>
            <a:noFill/>
          </a:ln>
        </p:spPr>
        <p:txBody>
          <a:bodyPr vertOverflow="overflow" vert="horz" wrap="square" rtlCol="0" anchor="t" anchorCtr="0">
            <a:noAutofit/>
          </a:bodyPr>
          <a:lstStyle/>
          <a:p>
            <a:r>
              <a:rPr lang="en-US" sz="4000" b="1" dirty="0">
                <a:solidFill>
                  <a:srgbClr val="E8A020"/>
                </a:solidFill>
                <a:latin typeface="Calibri"/>
                <a:cs typeface="Calibri"/>
              </a:rPr>
              <a:t>0.345</a:t>
            </a:r>
          </a:p>
        </p:txBody>
      </p:sp>
      <p:sp>
        <p:nvSpPr>
          <p:cNvPr id="19" name="TextBox 18">
            <a:extLst>
              <a:ext uri="{FF2B5EF4-FFF2-40B4-BE49-F238E27FC236}">
                <a16:creationId xmlns:a16="http://schemas.microsoft.com/office/drawing/2014/main" id="{56010B7E-14D9-7D16-A3A7-B2761B1A587E}"/>
              </a:ext>
            </a:extLst>
          </p:cNvPr>
          <p:cNvSpPr txBox="1"/>
          <p:nvPr/>
        </p:nvSpPr>
        <p:spPr>
          <a:xfrm>
            <a:off x="4851400" y="2078228"/>
            <a:ext cx="3911600" cy="685800"/>
          </a:xfrm>
          <a:prstGeom prst="rect">
            <a:avLst/>
          </a:prstGeom>
          <a:noFill/>
          <a:ln>
            <a:noFill/>
          </a:ln>
        </p:spPr>
        <p:txBody>
          <a:bodyPr vertOverflow="overflow" vert="horz" wrap="square" rtlCol="0" anchor="t" anchorCtr="0">
            <a:noAutofit/>
          </a:bodyPr>
          <a:lstStyle/>
          <a:p>
            <a:pPr>
              <a:lnSpc>
                <a:spcPts val="1700"/>
              </a:lnSpc>
            </a:pPr>
            <a:r>
              <a:rPr lang="en-US" sz="1400" dirty="0">
                <a:solidFill>
                  <a:srgbClr val="404040"/>
                </a:solidFill>
                <a:latin typeface="Calibri"/>
                <a:cs typeface="Calibri"/>
              </a:rPr>
              <a:t>Combined PC algorithm — best log loss of all nine runs. Market signals sharpen probabilities without changing hard predictions.</a:t>
            </a:r>
          </a:p>
        </p:txBody>
      </p:sp>
      <p:sp>
        <p:nvSpPr>
          <p:cNvPr id="24" name="Rectangle 23">
            <a:extLst>
              <a:ext uri="{FF2B5EF4-FFF2-40B4-BE49-F238E27FC236}">
                <a16:creationId xmlns:a16="http://schemas.microsoft.com/office/drawing/2014/main" id="{931259EF-72AD-6CE0-6124-3FE0322388E7}"/>
              </a:ext>
            </a:extLst>
          </p:cNvPr>
          <p:cNvSpPr/>
          <p:nvPr/>
        </p:nvSpPr>
        <p:spPr>
          <a:xfrm>
            <a:off x="254000" y="4292600"/>
            <a:ext cx="8636000" cy="660400"/>
          </a:xfrm>
          <a:prstGeom prst="rect">
            <a:avLst/>
          </a:prstGeom>
          <a:solidFill>
            <a:srgbClr val="FBF3DF"/>
          </a:solidFill>
          <a:ln w="9525" cap="flat" cmpd="sng" algn="ctr">
            <a:solidFill>
              <a:srgbClr val="E0A93D"/>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0" name="Rectangle 39">
            <a:extLst>
              <a:ext uri="{FF2B5EF4-FFF2-40B4-BE49-F238E27FC236}">
                <a16:creationId xmlns:a16="http://schemas.microsoft.com/office/drawing/2014/main" id="{91ECF7EA-EF31-BE2B-B5BB-F83AA4E58938}"/>
              </a:ext>
            </a:extLst>
          </p:cNvPr>
          <p:cNvSpPr/>
          <p:nvPr/>
        </p:nvSpPr>
        <p:spPr>
          <a:xfrm>
            <a:off x="254000" y="4292600"/>
            <a:ext cx="50800" cy="660400"/>
          </a:xfrm>
          <a:prstGeom prst="rect">
            <a:avLst/>
          </a:prstGeom>
          <a:solidFill>
            <a:srgbClr val="E0A93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1" name="TextBox 40">
            <a:extLst>
              <a:ext uri="{FF2B5EF4-FFF2-40B4-BE49-F238E27FC236}">
                <a16:creationId xmlns:a16="http://schemas.microsoft.com/office/drawing/2014/main" id="{AAD25D1A-5288-EE90-4501-06C2A5FA609C}"/>
              </a:ext>
            </a:extLst>
          </p:cNvPr>
          <p:cNvSpPr txBox="1"/>
          <p:nvPr/>
        </p:nvSpPr>
        <p:spPr>
          <a:xfrm>
            <a:off x="457200" y="4356100"/>
            <a:ext cx="2540000" cy="304800"/>
          </a:xfrm>
          <a:prstGeom prst="rect">
            <a:avLst/>
          </a:prstGeom>
          <a:noFill/>
          <a:ln>
            <a:noFill/>
          </a:ln>
        </p:spPr>
        <p:txBody>
          <a:bodyPr vertOverflow="overflow" vert="horz" wrap="none" rtlCol="0" anchor="t" anchorCtr="0">
            <a:noAutofit/>
          </a:bodyPr>
          <a:lstStyle/>
          <a:p>
            <a:r>
              <a:rPr lang="en-US" sz="1800" b="1">
                <a:solidFill>
                  <a:srgbClr val="E0A93D"/>
                </a:solidFill>
                <a:latin typeface="Calibri"/>
                <a:cs typeface="Calibri"/>
              </a:rPr>
              <a:t>CENTRAL FINDING</a:t>
            </a:r>
          </a:p>
        </p:txBody>
      </p:sp>
      <p:sp>
        <p:nvSpPr>
          <p:cNvPr id="42" name="TextBox 41">
            <a:extLst>
              <a:ext uri="{FF2B5EF4-FFF2-40B4-BE49-F238E27FC236}">
                <a16:creationId xmlns:a16="http://schemas.microsoft.com/office/drawing/2014/main" id="{5BF94E69-CA15-01B8-A118-ADC80E63E5C6}"/>
              </a:ext>
            </a:extLst>
          </p:cNvPr>
          <p:cNvSpPr txBox="1"/>
          <p:nvPr/>
        </p:nvSpPr>
        <p:spPr>
          <a:xfrm>
            <a:off x="457200" y="4660900"/>
            <a:ext cx="8305800" cy="304800"/>
          </a:xfrm>
          <a:prstGeom prst="rect">
            <a:avLst/>
          </a:prstGeom>
          <a:noFill/>
          <a:ln>
            <a:noFill/>
          </a:ln>
        </p:spPr>
        <p:txBody>
          <a:bodyPr vertOverflow="overflow" vert="horz" wrap="none" rtlCol="0" anchor="t" anchorCtr="0">
            <a:noAutofit/>
          </a:bodyPr>
          <a:lstStyle/>
          <a:p>
            <a:r>
              <a:rPr lang="en-US" sz="1600" b="1">
                <a:solidFill>
                  <a:srgbClr val="1B3A5C"/>
                </a:solidFill>
                <a:latin typeface="Calibri"/>
                <a:cs typeface="Calibri"/>
              </a:rPr>
              <a:t>Market signals improve how certain the model is — not what it predicts.</a:t>
            </a:r>
          </a:p>
        </p:txBody>
      </p:sp>
      <p:graphicFrame>
        <p:nvGraphicFramePr>
          <p:cNvPr id="26" name="Table 25">
            <a:extLst>
              <a:ext uri="{FF2B5EF4-FFF2-40B4-BE49-F238E27FC236}">
                <a16:creationId xmlns:a16="http://schemas.microsoft.com/office/drawing/2014/main" id="{00C05D94-8F25-3D44-BBFA-6D5EEA15FBA9}"/>
              </a:ext>
            </a:extLst>
          </p:cNvPr>
          <p:cNvGraphicFramePr>
            <a:graphicFrameLocks noGrp="1"/>
          </p:cNvGraphicFramePr>
          <p:nvPr>
            <p:extLst>
              <p:ext uri="{D42A27DB-BD31-4B8C-83A1-F6EECF244321}">
                <p14:modId xmlns:p14="http://schemas.microsoft.com/office/powerpoint/2010/main" val="3700686563"/>
              </p:ext>
            </p:extLst>
          </p:nvPr>
        </p:nvGraphicFramePr>
        <p:xfrm>
          <a:off x="254000" y="3073400"/>
          <a:ext cx="8636000" cy="1117600"/>
        </p:xfrm>
        <a:graphic>
          <a:graphicData uri="http://schemas.openxmlformats.org/drawingml/2006/table">
            <a:tbl>
              <a:tblPr/>
              <a:tblGrid>
                <a:gridCol w="1778000">
                  <a:extLst>
                    <a:ext uri="{9D8B030D-6E8A-4147-A177-3AD203B41FA5}">
                      <a16:colId xmlns:a16="http://schemas.microsoft.com/office/drawing/2014/main" val="2308059401"/>
                    </a:ext>
                  </a:extLst>
                </a:gridCol>
                <a:gridCol w="1143000">
                  <a:extLst>
                    <a:ext uri="{9D8B030D-6E8A-4147-A177-3AD203B41FA5}">
                      <a16:colId xmlns:a16="http://schemas.microsoft.com/office/drawing/2014/main" val="3574878630"/>
                    </a:ext>
                  </a:extLst>
                </a:gridCol>
                <a:gridCol w="1143000">
                  <a:extLst>
                    <a:ext uri="{9D8B030D-6E8A-4147-A177-3AD203B41FA5}">
                      <a16:colId xmlns:a16="http://schemas.microsoft.com/office/drawing/2014/main" val="2920516167"/>
                    </a:ext>
                  </a:extLst>
                </a:gridCol>
                <a:gridCol w="1143000">
                  <a:extLst>
                    <a:ext uri="{9D8B030D-6E8A-4147-A177-3AD203B41FA5}">
                      <a16:colId xmlns:a16="http://schemas.microsoft.com/office/drawing/2014/main" val="3364100456"/>
                    </a:ext>
                  </a:extLst>
                </a:gridCol>
                <a:gridCol w="1143000">
                  <a:extLst>
                    <a:ext uri="{9D8B030D-6E8A-4147-A177-3AD203B41FA5}">
                      <a16:colId xmlns:a16="http://schemas.microsoft.com/office/drawing/2014/main" val="571190370"/>
                    </a:ext>
                  </a:extLst>
                </a:gridCol>
                <a:gridCol w="1143000">
                  <a:extLst>
                    <a:ext uri="{9D8B030D-6E8A-4147-A177-3AD203B41FA5}">
                      <a16:colId xmlns:a16="http://schemas.microsoft.com/office/drawing/2014/main" val="1784883341"/>
                    </a:ext>
                  </a:extLst>
                </a:gridCol>
                <a:gridCol w="1143000">
                  <a:extLst>
                    <a:ext uri="{9D8B030D-6E8A-4147-A177-3AD203B41FA5}">
                      <a16:colId xmlns:a16="http://schemas.microsoft.com/office/drawing/2014/main" val="611733539"/>
                    </a:ext>
                  </a:extLst>
                </a:gridCol>
              </a:tblGrid>
              <a:tr h="279400">
                <a:tc>
                  <a:txBody>
                    <a:bodyPr/>
                    <a:lstStyle/>
                    <a:p>
                      <a:pPr algn="ctr"/>
                      <a:r>
                        <a:rPr lang="en-US" sz="1300" b="1">
                          <a:solidFill>
                            <a:srgbClr val="FFFFFF"/>
                          </a:solidFill>
                          <a:latin typeface="Calibri"/>
                          <a:cs typeface="Calibri"/>
                        </a:rPr>
                        <a:t>Config</a:t>
                      </a:r>
                    </a:p>
                  </a:txBody>
                  <a:tcPr marT="0" marB="0" anchor="ctr">
                    <a:lnL w="0"/>
                    <a:lnR w="0"/>
                    <a:lnT w="0"/>
                    <a:lnB w="0"/>
                    <a:lnTlToBr w="0"/>
                    <a:lnBlToTr w="0"/>
                    <a:solidFill>
                      <a:srgbClr val="1B3A5C"/>
                    </a:solidFill>
                  </a:tcPr>
                </a:tc>
                <a:tc>
                  <a:txBody>
                    <a:bodyPr/>
                    <a:lstStyle/>
                    <a:p>
                      <a:pPr algn="ctr"/>
                      <a:r>
                        <a:rPr lang="en-US" sz="1300" b="1">
                          <a:solidFill>
                            <a:srgbClr val="FFFFFF"/>
                          </a:solidFill>
                          <a:latin typeface="Calibri"/>
                          <a:cs typeface="Calibri"/>
                        </a:rPr>
                        <a:t>NB Acc</a:t>
                      </a:r>
                    </a:p>
                  </a:txBody>
                  <a:tcPr marT="0" marB="0" anchor="ctr">
                    <a:lnL w="0"/>
                    <a:lnR w="0"/>
                    <a:lnT w="0"/>
                    <a:lnB w="0"/>
                    <a:lnTlToBr w="0"/>
                    <a:lnBlToTr w="0"/>
                    <a:solidFill>
                      <a:srgbClr val="1B3A5C"/>
                    </a:solidFill>
                  </a:tcPr>
                </a:tc>
                <a:tc>
                  <a:txBody>
                    <a:bodyPr/>
                    <a:lstStyle/>
                    <a:p>
                      <a:pPr algn="ctr"/>
                      <a:r>
                        <a:rPr lang="en-US" sz="1300" b="1">
                          <a:solidFill>
                            <a:srgbClr val="FFFFFF"/>
                          </a:solidFill>
                          <a:latin typeface="Calibri"/>
                          <a:cs typeface="Calibri"/>
                        </a:rPr>
                        <a:t>HC Acc</a:t>
                      </a:r>
                    </a:p>
                  </a:txBody>
                  <a:tcPr marT="0" marB="0" anchor="ctr">
                    <a:lnL w="0"/>
                    <a:lnR w="0"/>
                    <a:lnT w="0"/>
                    <a:lnB w="0"/>
                    <a:lnTlToBr w="0"/>
                    <a:lnBlToTr w="0"/>
                    <a:solidFill>
                      <a:srgbClr val="1B3A5C"/>
                    </a:solidFill>
                  </a:tcPr>
                </a:tc>
                <a:tc>
                  <a:txBody>
                    <a:bodyPr/>
                    <a:lstStyle/>
                    <a:p>
                      <a:pPr algn="ctr"/>
                      <a:r>
                        <a:rPr lang="en-US" sz="1300" b="1">
                          <a:solidFill>
                            <a:srgbClr val="FFFFFF"/>
                          </a:solidFill>
                          <a:latin typeface="Calibri"/>
                          <a:cs typeface="Calibri"/>
                        </a:rPr>
                        <a:t>PC Acc</a:t>
                      </a:r>
                    </a:p>
                  </a:txBody>
                  <a:tcPr marT="0" marB="0" anchor="ctr">
                    <a:lnL w="0"/>
                    <a:lnR w="0">
                      <a:noFill/>
                    </a:lnR>
                    <a:lnT w="0"/>
                    <a:lnB w="0"/>
                    <a:lnTlToBr w="0"/>
                    <a:lnBlToTr w="0"/>
                    <a:solidFill>
                      <a:srgbClr val="1B3A5C"/>
                    </a:solidFill>
                  </a:tcPr>
                </a:tc>
                <a:tc>
                  <a:txBody>
                    <a:bodyPr/>
                    <a:lstStyle/>
                    <a:p>
                      <a:pPr algn="ctr"/>
                      <a:r>
                        <a:rPr lang="en-US" sz="1300" b="1">
                          <a:solidFill>
                            <a:srgbClr val="FFFFFF"/>
                          </a:solidFill>
                          <a:latin typeface="Calibri"/>
                          <a:cs typeface="Calibri"/>
                        </a:rPr>
                        <a:t>NB Loss</a:t>
                      </a:r>
                    </a:p>
                  </a:txBody>
                  <a:tcPr marT="0" marB="0" anchor="ctr">
                    <a:lnL w="0"/>
                    <a:lnR w="0">
                      <a:noFill/>
                    </a:lnR>
                    <a:lnT w="0"/>
                    <a:lnB w="0">
                      <a:noFill/>
                    </a:lnB>
                    <a:lnTlToBr w="0"/>
                    <a:lnBlToTr w="0"/>
                    <a:solidFill>
                      <a:srgbClr val="1B3A5C"/>
                    </a:solidFill>
                  </a:tcPr>
                </a:tc>
                <a:tc>
                  <a:txBody>
                    <a:bodyPr/>
                    <a:lstStyle/>
                    <a:p>
                      <a:pPr algn="ctr"/>
                      <a:r>
                        <a:rPr lang="en-US" sz="1300" b="1">
                          <a:solidFill>
                            <a:srgbClr val="FFFFFF"/>
                          </a:solidFill>
                          <a:latin typeface="Calibri"/>
                          <a:cs typeface="Calibri"/>
                        </a:rPr>
                        <a:t>HC Loss</a:t>
                      </a:r>
                    </a:p>
                  </a:txBody>
                  <a:tcPr marT="0" marB="0" anchor="ctr">
                    <a:lnL w="0"/>
                    <a:lnR w="0">
                      <a:noFill/>
                    </a:lnR>
                    <a:lnT w="0"/>
                    <a:lnB w="0">
                      <a:noFill/>
                    </a:lnB>
                    <a:lnTlToBr w="0"/>
                    <a:lnBlToTr w="0"/>
                    <a:solidFill>
                      <a:srgbClr val="1B3A5C"/>
                    </a:solidFill>
                  </a:tcPr>
                </a:tc>
                <a:tc>
                  <a:txBody>
                    <a:bodyPr/>
                    <a:lstStyle/>
                    <a:p>
                      <a:pPr algn="ctr"/>
                      <a:r>
                        <a:rPr lang="en-US" sz="1300" b="1">
                          <a:solidFill>
                            <a:srgbClr val="FFFFFF"/>
                          </a:solidFill>
                          <a:latin typeface="Calibri"/>
                          <a:cs typeface="Calibri"/>
                        </a:rPr>
                        <a:t>PC Loss</a:t>
                      </a:r>
                    </a:p>
                  </a:txBody>
                  <a:tcPr marT="0" marB="0" anchor="ctr">
                    <a:lnL w="0"/>
                    <a:lnR w="0"/>
                    <a:lnT w="0"/>
                    <a:lnB w="0">
                      <a:noFill/>
                    </a:lnB>
                    <a:lnTlToBr w="0"/>
                    <a:lnBlToTr w="0"/>
                    <a:solidFill>
                      <a:srgbClr val="1B3A5C"/>
                    </a:solidFill>
                  </a:tcPr>
                </a:tc>
                <a:extLst>
                  <a:ext uri="{0D108BD9-81ED-4DB2-BD59-A6C34878D82A}">
                    <a16:rowId xmlns:a16="http://schemas.microsoft.com/office/drawing/2014/main" val="122811913"/>
                  </a:ext>
                </a:extLst>
              </a:tr>
              <a:tr h="279400">
                <a:tc>
                  <a:txBody>
                    <a:bodyPr/>
                    <a:lstStyle/>
                    <a:p>
                      <a:pPr algn="l"/>
                      <a:r>
                        <a:rPr lang="en-US" sz="1250" b="1">
                          <a:solidFill>
                            <a:srgbClr val="E8A020"/>
                          </a:solidFill>
                          <a:latin typeface="Calibri"/>
                          <a:cs typeface="Calibri"/>
                        </a:rPr>
                        <a:t>Stats-Only</a:t>
                      </a:r>
                    </a:p>
                  </a:txBody>
                  <a:tcPr marT="0" marB="0" anchor="ctr">
                    <a:lnL w="0"/>
                    <a:lnR w="0"/>
                    <a:lnT w="0"/>
                    <a:lnB w="0"/>
                    <a:lnTlToBr w="0"/>
                    <a:lnBlToTr w="0"/>
                    <a:solidFill>
                      <a:srgbClr val="FFFFFF"/>
                    </a:solidFill>
                  </a:tcPr>
                </a:tc>
                <a:tc>
                  <a:txBody>
                    <a:bodyPr/>
                    <a:lstStyle/>
                    <a:p>
                      <a:pPr algn="ctr"/>
                      <a:r>
                        <a:rPr lang="en-US" sz="1250" b="1">
                          <a:solidFill>
                            <a:srgbClr val="404040"/>
                          </a:solidFill>
                          <a:latin typeface="Calibri"/>
                          <a:cs typeface="Calibri"/>
                        </a:rPr>
                        <a:t>84.1%</a:t>
                      </a:r>
                    </a:p>
                  </a:txBody>
                  <a:tcPr marT="0" marB="0" anchor="ctr">
                    <a:lnL w="0"/>
                    <a:lnR w="0"/>
                    <a:lnT w="0"/>
                    <a:lnB w="0"/>
                    <a:lnTlToBr w="0"/>
                    <a:lnBlToTr w="0"/>
                    <a:solidFill>
                      <a:srgbClr val="FFFFFF"/>
                    </a:solidFill>
                  </a:tcPr>
                </a:tc>
                <a:tc>
                  <a:txBody>
                    <a:bodyPr/>
                    <a:lstStyle/>
                    <a:p>
                      <a:pPr algn="ctr"/>
                      <a:r>
                        <a:rPr lang="en-US" sz="1250" b="0">
                          <a:solidFill>
                            <a:srgbClr val="404040"/>
                          </a:solidFill>
                          <a:latin typeface="Calibri"/>
                          <a:cs typeface="Calibri"/>
                        </a:rPr>
                        <a:t>50.4%</a:t>
                      </a:r>
                    </a:p>
                  </a:txBody>
                  <a:tcPr marT="0" marB="0" anchor="ctr">
                    <a:lnL w="0"/>
                    <a:lnR w="0"/>
                    <a:lnT w="0"/>
                    <a:lnB w="0"/>
                    <a:lnTlToBr w="0"/>
                    <a:lnBlToTr w="0"/>
                    <a:solidFill>
                      <a:srgbClr val="FFFFFF"/>
                    </a:solidFill>
                  </a:tcPr>
                </a:tc>
                <a:tc>
                  <a:txBody>
                    <a:bodyPr/>
                    <a:lstStyle/>
                    <a:p>
                      <a:pPr algn="ctr"/>
                      <a:r>
                        <a:rPr lang="en-US" sz="1250" b="0">
                          <a:solidFill>
                            <a:srgbClr val="404040"/>
                          </a:solidFill>
                          <a:latin typeface="Calibri"/>
                          <a:cs typeface="Calibri"/>
                        </a:rPr>
                        <a:t>50.4%</a:t>
                      </a:r>
                    </a:p>
                  </a:txBody>
                  <a:tcPr marT="0" marB="0" anchor="ctr">
                    <a:lnL w="0"/>
                    <a:lnR w="0">
                      <a:noFill/>
                    </a:lnR>
                    <a:lnT w="0"/>
                    <a:lnB w="0"/>
                    <a:lnTlToBr w="0"/>
                    <a:lnBlToTr w="0"/>
                    <a:solidFill>
                      <a:srgbClr val="FFFFFF"/>
                    </a:solidFill>
                  </a:tcPr>
                </a:tc>
                <a:tc>
                  <a:txBody>
                    <a:bodyPr/>
                    <a:lstStyle/>
                    <a:p>
                      <a:pPr algn="ctr"/>
                      <a:r>
                        <a:rPr lang="en-US" sz="1250" b="0">
                          <a:solidFill>
                            <a:srgbClr val="404040"/>
                          </a:solidFill>
                          <a:latin typeface="Calibri"/>
                          <a:cs typeface="Calibri"/>
                        </a:rPr>
                        <a:t>0.439</a:t>
                      </a:r>
                    </a:p>
                  </a:txBody>
                  <a:tcPr marT="0" marB="0" anchor="ctr">
                    <a:lnL w="0"/>
                    <a:lnR w="0">
                      <a:noFill/>
                    </a:lnR>
                    <a:lnT w="0">
                      <a:noFill/>
                    </a:lnT>
                    <a:lnB w="0">
                      <a:noFill/>
                    </a:lnB>
                    <a:lnTlToBr w="0"/>
                    <a:lnBlToTr w="0"/>
                    <a:solidFill>
                      <a:srgbClr val="FFFFFF"/>
                    </a:solidFill>
                  </a:tcPr>
                </a:tc>
                <a:tc>
                  <a:txBody>
                    <a:bodyPr/>
                    <a:lstStyle/>
                    <a:p>
                      <a:pPr algn="ctr"/>
                      <a:r>
                        <a:rPr lang="en-US" sz="1250" b="0">
                          <a:solidFill>
                            <a:srgbClr val="404040"/>
                          </a:solidFill>
                          <a:latin typeface="Calibri"/>
                          <a:cs typeface="Calibri"/>
                        </a:rPr>
                        <a:t>0.375</a:t>
                      </a:r>
                    </a:p>
                  </a:txBody>
                  <a:tcPr marT="0" marB="0" anchor="ctr">
                    <a:lnL w="0"/>
                    <a:lnR w="0">
                      <a:noFill/>
                    </a:lnR>
                    <a:lnT w="0">
                      <a:noFill/>
                    </a:lnT>
                    <a:lnB w="0">
                      <a:noFill/>
                    </a:lnB>
                    <a:lnTlToBr w="0"/>
                    <a:lnBlToTr w="0"/>
                    <a:solidFill>
                      <a:srgbClr val="FFFFFF"/>
                    </a:solidFill>
                  </a:tcPr>
                </a:tc>
                <a:tc>
                  <a:txBody>
                    <a:bodyPr/>
                    <a:lstStyle/>
                    <a:p>
                      <a:pPr algn="ctr"/>
                      <a:r>
                        <a:rPr lang="en-US" sz="1250" b="0">
                          <a:solidFill>
                            <a:srgbClr val="404040"/>
                          </a:solidFill>
                          <a:latin typeface="Calibri"/>
                          <a:cs typeface="Calibri"/>
                        </a:rPr>
                        <a:t>0.368</a:t>
                      </a:r>
                    </a:p>
                  </a:txBody>
                  <a:tcPr marT="0" marB="0" anchor="ctr">
                    <a:lnL w="0"/>
                    <a:lnR w="0"/>
                    <a:lnT w="0">
                      <a:noFill/>
                    </a:lnT>
                    <a:lnB w="0">
                      <a:noFill/>
                    </a:lnB>
                    <a:lnTlToBr w="0"/>
                    <a:lnBlToTr w="0"/>
                    <a:solidFill>
                      <a:srgbClr val="FFFFFF"/>
                    </a:solidFill>
                  </a:tcPr>
                </a:tc>
                <a:extLst>
                  <a:ext uri="{0D108BD9-81ED-4DB2-BD59-A6C34878D82A}">
                    <a16:rowId xmlns:a16="http://schemas.microsoft.com/office/drawing/2014/main" val="1086695217"/>
                  </a:ext>
                </a:extLst>
              </a:tr>
              <a:tr h="279400">
                <a:tc>
                  <a:txBody>
                    <a:bodyPr/>
                    <a:lstStyle/>
                    <a:p>
                      <a:pPr algn="l"/>
                      <a:r>
                        <a:rPr lang="en-US" sz="1250" b="1">
                          <a:solidFill>
                            <a:srgbClr val="2EC4B6"/>
                          </a:solidFill>
                          <a:latin typeface="Calibri"/>
                          <a:cs typeface="Calibri"/>
                        </a:rPr>
                        <a:t>Market-Only</a:t>
                      </a:r>
                    </a:p>
                  </a:txBody>
                  <a:tcPr marT="0" marB="0" anchor="ctr">
                    <a:lnL w="0"/>
                    <a:lnR w="0"/>
                    <a:lnT w="0"/>
                    <a:lnB w="0"/>
                    <a:lnTlToBr w="0"/>
                    <a:lnBlToTr w="0"/>
                    <a:solidFill>
                      <a:srgbClr val="FFFFFF"/>
                    </a:solidFill>
                  </a:tcPr>
                </a:tc>
                <a:tc>
                  <a:txBody>
                    <a:bodyPr/>
                    <a:lstStyle/>
                    <a:p>
                      <a:pPr algn="ctr"/>
                      <a:r>
                        <a:rPr lang="en-US" sz="1250" b="0">
                          <a:solidFill>
                            <a:srgbClr val="404040"/>
                          </a:solidFill>
                          <a:latin typeface="Calibri"/>
                          <a:cs typeface="Calibri"/>
                        </a:rPr>
                        <a:t>56.4%</a:t>
                      </a:r>
                    </a:p>
                  </a:txBody>
                  <a:tcPr marT="0" marB="0" anchor="ctr">
                    <a:lnL w="0"/>
                    <a:lnR w="0"/>
                    <a:lnT w="0"/>
                    <a:lnB w="0"/>
                    <a:lnTlToBr w="0"/>
                    <a:lnBlToTr w="0"/>
                    <a:solidFill>
                      <a:srgbClr val="FFFFFF"/>
                    </a:solidFill>
                  </a:tcPr>
                </a:tc>
                <a:tc>
                  <a:txBody>
                    <a:bodyPr/>
                    <a:lstStyle/>
                    <a:p>
                      <a:pPr algn="ctr"/>
                      <a:r>
                        <a:rPr lang="en-US" sz="1250" b="0">
                          <a:solidFill>
                            <a:srgbClr val="404040"/>
                          </a:solidFill>
                          <a:latin typeface="Calibri"/>
                          <a:cs typeface="Calibri"/>
                        </a:rPr>
                        <a:t>58.6%</a:t>
                      </a:r>
                    </a:p>
                  </a:txBody>
                  <a:tcPr marT="0" marB="0" anchor="ctr">
                    <a:lnL w="0"/>
                    <a:lnR w="0"/>
                    <a:lnT w="0"/>
                    <a:lnB w="0"/>
                    <a:lnTlToBr w="0"/>
                    <a:lnBlToTr w="0"/>
                    <a:solidFill>
                      <a:srgbClr val="FFFFFF"/>
                    </a:solidFill>
                  </a:tcPr>
                </a:tc>
                <a:tc>
                  <a:txBody>
                    <a:bodyPr/>
                    <a:lstStyle/>
                    <a:p>
                      <a:pPr algn="ctr"/>
                      <a:r>
                        <a:rPr lang="en-US" sz="1250" b="0">
                          <a:solidFill>
                            <a:srgbClr val="404040"/>
                          </a:solidFill>
                          <a:latin typeface="Calibri"/>
                          <a:cs typeface="Calibri"/>
                        </a:rPr>
                        <a:t>58.6%</a:t>
                      </a:r>
                    </a:p>
                  </a:txBody>
                  <a:tcPr marT="0" marB="0" anchor="ctr">
                    <a:lnL w="0"/>
                    <a:lnR w="0">
                      <a:noFill/>
                    </a:lnR>
                    <a:lnT w="0"/>
                    <a:lnB w="0"/>
                    <a:lnTlToBr w="0"/>
                    <a:lnBlToTr w="0"/>
                    <a:solidFill>
                      <a:srgbClr val="FFFFFF"/>
                    </a:solidFill>
                  </a:tcPr>
                </a:tc>
                <a:tc>
                  <a:txBody>
                    <a:bodyPr/>
                    <a:lstStyle/>
                    <a:p>
                      <a:pPr algn="ctr"/>
                      <a:r>
                        <a:rPr lang="en-US" sz="1250" b="0">
                          <a:solidFill>
                            <a:srgbClr val="404040"/>
                          </a:solidFill>
                          <a:latin typeface="Calibri"/>
                          <a:cs typeface="Calibri"/>
                        </a:rPr>
                        <a:t>0.840</a:t>
                      </a:r>
                    </a:p>
                  </a:txBody>
                  <a:tcPr marT="0" marB="0" anchor="ctr">
                    <a:lnL w="0"/>
                    <a:lnR w="0">
                      <a:noFill/>
                    </a:lnR>
                    <a:lnT w="0">
                      <a:noFill/>
                    </a:lnT>
                    <a:lnB w="0">
                      <a:noFill/>
                    </a:lnB>
                    <a:lnTlToBr w="0"/>
                    <a:lnBlToTr w="0"/>
                    <a:solidFill>
                      <a:srgbClr val="FFFFFF"/>
                    </a:solidFill>
                  </a:tcPr>
                </a:tc>
                <a:tc>
                  <a:txBody>
                    <a:bodyPr/>
                    <a:lstStyle/>
                    <a:p>
                      <a:pPr algn="ctr"/>
                      <a:r>
                        <a:rPr lang="en-US" sz="1250" b="0">
                          <a:solidFill>
                            <a:srgbClr val="404040"/>
                          </a:solidFill>
                          <a:latin typeface="Calibri"/>
                          <a:cs typeface="Calibri"/>
                        </a:rPr>
                        <a:t>0.776</a:t>
                      </a:r>
                    </a:p>
                  </a:txBody>
                  <a:tcPr marT="0" marB="0" anchor="ctr">
                    <a:lnL w="0"/>
                    <a:lnR w="0">
                      <a:noFill/>
                    </a:lnR>
                    <a:lnT w="0">
                      <a:noFill/>
                    </a:lnT>
                    <a:lnB w="0">
                      <a:noFill/>
                    </a:lnB>
                    <a:lnTlToBr w="0"/>
                    <a:lnBlToTr w="0"/>
                    <a:solidFill>
                      <a:srgbClr val="FFFFFF"/>
                    </a:solidFill>
                  </a:tcPr>
                </a:tc>
                <a:tc>
                  <a:txBody>
                    <a:bodyPr/>
                    <a:lstStyle/>
                    <a:p>
                      <a:pPr algn="ctr"/>
                      <a:r>
                        <a:rPr lang="en-US" sz="1250" b="0">
                          <a:solidFill>
                            <a:srgbClr val="404040"/>
                          </a:solidFill>
                          <a:latin typeface="Calibri"/>
                          <a:cs typeface="Calibri"/>
                        </a:rPr>
                        <a:t>0.760</a:t>
                      </a:r>
                    </a:p>
                  </a:txBody>
                  <a:tcPr marT="0" marB="0" anchor="ctr">
                    <a:lnL w="0"/>
                    <a:lnR w="0"/>
                    <a:lnT w="0">
                      <a:noFill/>
                    </a:lnT>
                    <a:lnB w="0">
                      <a:noFill/>
                    </a:lnB>
                    <a:lnTlToBr w="0"/>
                    <a:lnBlToTr w="0"/>
                    <a:solidFill>
                      <a:srgbClr val="FFFFFF"/>
                    </a:solidFill>
                  </a:tcPr>
                </a:tc>
                <a:extLst>
                  <a:ext uri="{0D108BD9-81ED-4DB2-BD59-A6C34878D82A}">
                    <a16:rowId xmlns:a16="http://schemas.microsoft.com/office/drawing/2014/main" val="3135453127"/>
                  </a:ext>
                </a:extLst>
              </a:tr>
              <a:tr h="279400">
                <a:tc>
                  <a:txBody>
                    <a:bodyPr/>
                    <a:lstStyle/>
                    <a:p>
                      <a:pPr algn="l"/>
                      <a:r>
                        <a:rPr lang="en-US" sz="1250" b="1">
                          <a:solidFill>
                            <a:srgbClr val="4CAF7D"/>
                          </a:solidFill>
                          <a:latin typeface="Calibri"/>
                          <a:cs typeface="Calibri"/>
                        </a:rPr>
                        <a:t>Combined</a:t>
                      </a:r>
                    </a:p>
                  </a:txBody>
                  <a:tcPr marT="0" marB="0" anchor="ctr">
                    <a:lnL w="0"/>
                    <a:lnR w="0"/>
                    <a:lnT w="0"/>
                    <a:lnB w="0"/>
                    <a:lnTlToBr w="0"/>
                    <a:lnBlToTr w="0"/>
                    <a:solidFill>
                      <a:srgbClr val="FFFFFF"/>
                    </a:solidFill>
                  </a:tcPr>
                </a:tc>
                <a:tc>
                  <a:txBody>
                    <a:bodyPr/>
                    <a:lstStyle/>
                    <a:p>
                      <a:pPr algn="ctr"/>
                      <a:r>
                        <a:rPr lang="en-US" sz="1250" b="0">
                          <a:solidFill>
                            <a:srgbClr val="404040"/>
                          </a:solidFill>
                          <a:latin typeface="Calibri"/>
                          <a:cs typeface="Calibri"/>
                        </a:rPr>
                        <a:t>81.0%</a:t>
                      </a:r>
                    </a:p>
                  </a:txBody>
                  <a:tcPr marT="0" marB="0" anchor="ctr">
                    <a:lnL w="0"/>
                    <a:lnR w="0"/>
                    <a:lnT w="0"/>
                    <a:lnB w="0"/>
                    <a:lnTlToBr w="0"/>
                    <a:lnBlToTr w="0"/>
                    <a:solidFill>
                      <a:srgbClr val="FFFFFF"/>
                    </a:solidFill>
                  </a:tcPr>
                </a:tc>
                <a:tc>
                  <a:txBody>
                    <a:bodyPr/>
                    <a:lstStyle/>
                    <a:p>
                      <a:pPr algn="ctr"/>
                      <a:r>
                        <a:rPr lang="en-US" sz="1250" b="0">
                          <a:solidFill>
                            <a:srgbClr val="404040"/>
                          </a:solidFill>
                          <a:latin typeface="Calibri"/>
                          <a:cs typeface="Calibri"/>
                        </a:rPr>
                        <a:t>50.4%</a:t>
                      </a:r>
                    </a:p>
                  </a:txBody>
                  <a:tcPr marT="0" marB="0" anchor="ctr">
                    <a:lnL w="0"/>
                    <a:lnR w="0"/>
                    <a:lnT w="0"/>
                    <a:lnB w="0"/>
                    <a:lnTlToBr w="0"/>
                    <a:lnBlToTr w="0"/>
                    <a:solidFill>
                      <a:srgbClr val="FFFFFF"/>
                    </a:solidFill>
                  </a:tcPr>
                </a:tc>
                <a:tc>
                  <a:txBody>
                    <a:bodyPr/>
                    <a:lstStyle/>
                    <a:p>
                      <a:pPr algn="ctr"/>
                      <a:r>
                        <a:rPr lang="en-US" sz="1250" b="0">
                          <a:solidFill>
                            <a:srgbClr val="404040"/>
                          </a:solidFill>
                          <a:latin typeface="Calibri"/>
                          <a:cs typeface="Calibri"/>
                        </a:rPr>
                        <a:t>47.3%</a:t>
                      </a:r>
                    </a:p>
                  </a:txBody>
                  <a:tcPr marT="0" marB="0" anchor="ctr">
                    <a:lnL w="0"/>
                    <a:lnR w="0">
                      <a:noFill/>
                    </a:lnR>
                    <a:lnT w="0"/>
                    <a:lnB w="0"/>
                    <a:lnTlToBr w="0"/>
                    <a:lnBlToTr w="0"/>
                    <a:solidFill>
                      <a:srgbClr val="FFFFFF"/>
                    </a:solidFill>
                  </a:tcPr>
                </a:tc>
                <a:tc>
                  <a:txBody>
                    <a:bodyPr/>
                    <a:lstStyle/>
                    <a:p>
                      <a:pPr algn="ctr"/>
                      <a:r>
                        <a:rPr lang="en-US" sz="1250" b="0">
                          <a:solidFill>
                            <a:srgbClr val="404040"/>
                          </a:solidFill>
                          <a:latin typeface="Calibri"/>
                          <a:cs typeface="Calibri"/>
                        </a:rPr>
                        <a:t>0.538</a:t>
                      </a:r>
                    </a:p>
                  </a:txBody>
                  <a:tcPr marT="0" marB="0" anchor="ctr">
                    <a:lnL w="0"/>
                    <a:lnR w="0">
                      <a:noFill/>
                    </a:lnR>
                    <a:lnT w="0">
                      <a:noFill/>
                    </a:lnT>
                    <a:lnB w="0"/>
                    <a:lnTlToBr w="0"/>
                    <a:lnBlToTr w="0"/>
                    <a:solidFill>
                      <a:srgbClr val="FFFFFF"/>
                    </a:solidFill>
                  </a:tcPr>
                </a:tc>
                <a:tc>
                  <a:txBody>
                    <a:bodyPr/>
                    <a:lstStyle/>
                    <a:p>
                      <a:pPr algn="ctr"/>
                      <a:r>
                        <a:rPr lang="en-US" sz="1250" b="0">
                          <a:solidFill>
                            <a:srgbClr val="404040"/>
                          </a:solidFill>
                          <a:latin typeface="Calibri"/>
                          <a:cs typeface="Calibri"/>
                        </a:rPr>
                        <a:t>0.375</a:t>
                      </a:r>
                    </a:p>
                  </a:txBody>
                  <a:tcPr marT="0" marB="0" anchor="ctr">
                    <a:lnL w="0"/>
                    <a:lnR w="0">
                      <a:noFill/>
                    </a:lnR>
                    <a:lnT w="0">
                      <a:noFill/>
                    </a:lnT>
                    <a:lnB w="0"/>
                    <a:lnTlToBr w="0"/>
                    <a:lnBlToTr w="0"/>
                    <a:solidFill>
                      <a:srgbClr val="FFFFFF"/>
                    </a:solidFill>
                  </a:tcPr>
                </a:tc>
                <a:tc>
                  <a:txBody>
                    <a:bodyPr/>
                    <a:lstStyle/>
                    <a:p>
                      <a:pPr algn="ctr"/>
                      <a:r>
                        <a:rPr lang="en-US" sz="1250" b="1">
                          <a:solidFill>
                            <a:srgbClr val="404040"/>
                          </a:solidFill>
                          <a:latin typeface="Calibri"/>
                          <a:cs typeface="Calibri"/>
                        </a:rPr>
                        <a:t>0.345</a:t>
                      </a:r>
                    </a:p>
                  </a:txBody>
                  <a:tcPr marT="0" marB="0" anchor="ctr">
                    <a:lnL w="0"/>
                    <a:lnR w="0"/>
                    <a:lnT w="0">
                      <a:noFill/>
                    </a:lnT>
                    <a:lnB w="0"/>
                    <a:lnTlToBr w="0"/>
                    <a:lnBlToTr w="0"/>
                    <a:solidFill>
                      <a:srgbClr val="FFFFFF"/>
                    </a:solidFill>
                  </a:tcPr>
                </a:tc>
                <a:extLst>
                  <a:ext uri="{0D108BD9-81ED-4DB2-BD59-A6C34878D82A}">
                    <a16:rowId xmlns:a16="http://schemas.microsoft.com/office/drawing/2014/main" val="3793300741"/>
                  </a:ext>
                </a:extLst>
              </a:tr>
            </a:tbl>
          </a:graphicData>
        </a:graphic>
      </p:graphicFrame>
    </p:spTree>
    <p:extLst>
      <p:ext uri="{BB962C8B-B14F-4D97-AF65-F5344CB8AC3E}">
        <p14:creationId xmlns:p14="http://schemas.microsoft.com/office/powerpoint/2010/main" val="36272970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
          <a:extLst>
            <a:ext uri="{FF2B5EF4-FFF2-40B4-BE49-F238E27FC236}">
              <a16:creationId xmlns:a16="http://schemas.microsoft.com/office/drawing/2014/main" id="{F9C8B6B9-46C4-86CC-4DE1-53177C69945D}"/>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8E066B11-8EF1-D764-B4ED-577CD274071A}"/>
              </a:ext>
            </a:extLst>
          </p:cNvPr>
          <p:cNvSpPr/>
          <p:nvPr/>
        </p:nvSpPr>
        <p:spPr>
          <a:xfrm>
            <a:off x="4699000" y="1579591"/>
            <a:ext cx="4191000" cy="232459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86BC4EC-7643-09D0-F98E-4CEFB11DC7F8}"/>
              </a:ext>
            </a:extLst>
          </p:cNvPr>
          <p:cNvSpPr/>
          <p:nvPr/>
        </p:nvSpPr>
        <p:spPr>
          <a:xfrm>
            <a:off x="254000" y="1557332"/>
            <a:ext cx="4191000" cy="232459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Shape 0">
            <a:extLst>
              <a:ext uri="{FF2B5EF4-FFF2-40B4-BE49-F238E27FC236}">
                <a16:creationId xmlns:a16="http://schemas.microsoft.com/office/drawing/2014/main" id="{91F42CA5-B5D4-0171-9177-FC191A1D758B}"/>
              </a:ext>
            </a:extLst>
          </p:cNvPr>
          <p:cNvSpPr/>
          <p:nvPr/>
        </p:nvSpPr>
        <p:spPr>
          <a:xfrm>
            <a:off x="0" y="0"/>
            <a:ext cx="9144000" cy="960120"/>
          </a:xfrm>
          <a:prstGeom prst="rect">
            <a:avLst/>
          </a:prstGeom>
          <a:solidFill>
            <a:srgbClr val="0D1B2A"/>
          </a:solidFill>
          <a:ln w="12700">
            <a:solidFill>
              <a:srgbClr val="0D1B2A"/>
            </a:solidFill>
            <a:prstDash val="solid"/>
          </a:ln>
        </p:spPr>
        <p:txBody>
          <a:bodyPr/>
          <a:lstStyle/>
          <a:p>
            <a:endParaRPr lang="en-US"/>
          </a:p>
        </p:txBody>
      </p:sp>
      <p:sp>
        <p:nvSpPr>
          <p:cNvPr id="3" name="Shape 1">
            <a:extLst>
              <a:ext uri="{FF2B5EF4-FFF2-40B4-BE49-F238E27FC236}">
                <a16:creationId xmlns:a16="http://schemas.microsoft.com/office/drawing/2014/main" id="{CFA95742-D651-1FB6-CF7D-84DA353D307C}"/>
              </a:ext>
            </a:extLst>
          </p:cNvPr>
          <p:cNvSpPr/>
          <p:nvPr/>
        </p:nvSpPr>
        <p:spPr>
          <a:xfrm>
            <a:off x="0" y="960120"/>
            <a:ext cx="9144000" cy="64008"/>
          </a:xfrm>
          <a:prstGeom prst="rect">
            <a:avLst/>
          </a:prstGeom>
          <a:solidFill>
            <a:srgbClr val="E8A020"/>
          </a:solidFill>
          <a:ln w="12700">
            <a:solidFill>
              <a:srgbClr val="E8A020"/>
            </a:solidFill>
            <a:prstDash val="solid"/>
          </a:ln>
        </p:spPr>
        <p:txBody>
          <a:bodyPr/>
          <a:lstStyle/>
          <a:p>
            <a:endParaRPr lang="en-US"/>
          </a:p>
        </p:txBody>
      </p:sp>
      <p:sp>
        <p:nvSpPr>
          <p:cNvPr id="4" name="Text 2">
            <a:extLst>
              <a:ext uri="{FF2B5EF4-FFF2-40B4-BE49-F238E27FC236}">
                <a16:creationId xmlns:a16="http://schemas.microsoft.com/office/drawing/2014/main" id="{44DC2004-EDBE-B484-5854-68F418A3E8DB}"/>
              </a:ext>
            </a:extLst>
          </p:cNvPr>
          <p:cNvSpPr/>
          <p:nvPr/>
        </p:nvSpPr>
        <p:spPr>
          <a:xfrm>
            <a:off x="365760" y="137160"/>
            <a:ext cx="8412480" cy="685800"/>
          </a:xfrm>
          <a:prstGeom prst="rect">
            <a:avLst/>
          </a:prstGeom>
          <a:noFill/>
          <a:ln/>
        </p:spPr>
        <p:txBody>
          <a:bodyPr wrap="square" lIns="91440" tIns="45720" rIns="91440" bIns="45720" rtlCol="0" anchor="ctr"/>
          <a:lstStyle/>
          <a:p>
            <a:r>
              <a:rPr lang="en-US" sz="1800" b="1">
                <a:solidFill>
                  <a:srgbClr val="FFFFFF"/>
                </a:solidFill>
                <a:latin typeface="Calibri"/>
                <a:cs typeface="Calibri"/>
              </a:rPr>
              <a:t>The Model Made a Causal Error — a Second Algorithm Caught It</a:t>
            </a:r>
          </a:p>
        </p:txBody>
      </p:sp>
      <p:sp>
        <p:nvSpPr>
          <p:cNvPr id="24" name="Rectangle 23">
            <a:extLst>
              <a:ext uri="{FF2B5EF4-FFF2-40B4-BE49-F238E27FC236}">
                <a16:creationId xmlns:a16="http://schemas.microsoft.com/office/drawing/2014/main" id="{931259EF-72AD-6CE0-6124-3FE0322388E7}"/>
              </a:ext>
            </a:extLst>
          </p:cNvPr>
          <p:cNvSpPr/>
          <p:nvPr/>
        </p:nvSpPr>
        <p:spPr>
          <a:xfrm>
            <a:off x="254000" y="4572000"/>
            <a:ext cx="8636000" cy="406400"/>
          </a:xfrm>
          <a:prstGeom prst="rect">
            <a:avLst/>
          </a:prstGeom>
          <a:solidFill>
            <a:srgbClr val="FBF3DF"/>
          </a:solidFill>
          <a:ln w="9525" cap="flat" cmpd="sng" algn="ctr">
            <a:solidFill>
              <a:srgbClr val="E0A93D"/>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0" name="Rectangle 39">
            <a:extLst>
              <a:ext uri="{FF2B5EF4-FFF2-40B4-BE49-F238E27FC236}">
                <a16:creationId xmlns:a16="http://schemas.microsoft.com/office/drawing/2014/main" id="{91ECF7EA-EF31-BE2B-B5BB-F83AA4E58938}"/>
              </a:ext>
            </a:extLst>
          </p:cNvPr>
          <p:cNvSpPr/>
          <p:nvPr/>
        </p:nvSpPr>
        <p:spPr>
          <a:xfrm>
            <a:off x="254000" y="4572000"/>
            <a:ext cx="50800" cy="406400"/>
          </a:xfrm>
          <a:prstGeom prst="rect">
            <a:avLst/>
          </a:prstGeom>
          <a:solidFill>
            <a:srgbClr val="E0A93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1" name="TextBox 40">
            <a:extLst>
              <a:ext uri="{FF2B5EF4-FFF2-40B4-BE49-F238E27FC236}">
                <a16:creationId xmlns:a16="http://schemas.microsoft.com/office/drawing/2014/main" id="{AAD25D1A-5288-EE90-4501-06C2A5FA609C}"/>
              </a:ext>
            </a:extLst>
          </p:cNvPr>
          <p:cNvSpPr txBox="1"/>
          <p:nvPr/>
        </p:nvSpPr>
        <p:spPr>
          <a:xfrm>
            <a:off x="431800" y="4635500"/>
            <a:ext cx="8382000" cy="279400"/>
          </a:xfrm>
          <a:prstGeom prst="rect">
            <a:avLst/>
          </a:prstGeom>
          <a:noFill/>
          <a:ln>
            <a:noFill/>
          </a:ln>
        </p:spPr>
        <p:txBody>
          <a:bodyPr vertOverflow="overflow" vert="horz" wrap="square" rtlCol="0" anchor="ctr" anchorCtr="0">
            <a:noAutofit/>
          </a:bodyPr>
          <a:lstStyle/>
          <a:p>
            <a:pPr>
              <a:buNone/>
            </a:pPr>
            <a:r>
              <a:rPr lang="en-US" sz="1200" b="1" dirty="0">
                <a:solidFill>
                  <a:srgbClr val="E0A93D"/>
                </a:solidFill>
                <a:latin typeface="Calibri"/>
                <a:cs typeface="Calibri"/>
              </a:rPr>
              <a:t>The algorithm made a causal error — and we caught it: </a:t>
            </a:r>
          </a:p>
          <a:p>
            <a:pPr>
              <a:buNone/>
            </a:pPr>
            <a:r>
              <a:rPr lang="en-US" sz="1200" dirty="0">
                <a:solidFill>
                  <a:srgbClr val="404040"/>
                </a:solidFill>
                <a:latin typeface="Calibri"/>
                <a:cs typeface="Calibri"/>
              </a:rPr>
              <a:t>domain knowledge flipped the edge, and a second, independent algorithm (PC) recovered the same direction on its own.</a:t>
            </a:r>
          </a:p>
        </p:txBody>
      </p:sp>
      <p:sp>
        <p:nvSpPr>
          <p:cNvPr id="27" name="HC_Caption">
            <a:extLst>
              <a:ext uri="{FF2B5EF4-FFF2-40B4-BE49-F238E27FC236}">
                <a16:creationId xmlns:a16="http://schemas.microsoft.com/office/drawing/2014/main" id="{B86BD227-66AC-F54F-8E3A-5B5D840F3503}"/>
              </a:ext>
            </a:extLst>
          </p:cNvPr>
          <p:cNvSpPr txBox="1"/>
          <p:nvPr/>
        </p:nvSpPr>
        <p:spPr>
          <a:xfrm>
            <a:off x="254000" y="4023761"/>
            <a:ext cx="4318000" cy="406400"/>
          </a:xfrm>
          <a:prstGeom prst="rect">
            <a:avLst/>
          </a:prstGeom>
          <a:noFill/>
        </p:spPr>
        <p:txBody>
          <a:bodyPr vertOverflow="overflow" vert="horz" wrap="square" rtlCol="0" anchor="t" anchorCtr="0">
            <a:noAutofit/>
          </a:bodyPr>
          <a:lstStyle/>
          <a:p>
            <a:r>
              <a:rPr lang="en-US" sz="1100" dirty="0">
                <a:solidFill>
                  <a:srgbClr val="D14B4B"/>
                </a:solidFill>
                <a:latin typeface="Calibri"/>
                <a:cs typeface="Calibri"/>
              </a:rPr>
              <a:t>Hill Climbing learned </a:t>
            </a:r>
            <a:r>
              <a:rPr lang="en-US" sz="1100" dirty="0" err="1">
                <a:solidFill>
                  <a:srgbClr val="D14B4B"/>
                </a:solidFill>
                <a:latin typeface="Calibri"/>
                <a:cs typeface="Calibri"/>
              </a:rPr>
              <a:t>ats_result</a:t>
            </a:r>
            <a:r>
              <a:rPr lang="en-US" sz="1100" dirty="0">
                <a:solidFill>
                  <a:srgbClr val="D14B4B"/>
                </a:solidFill>
                <a:latin typeface="Calibri"/>
                <a:cs typeface="Calibri"/>
              </a:rPr>
              <a:t> → </a:t>
            </a:r>
            <a:r>
              <a:rPr lang="en-US" sz="1100" dirty="0" err="1">
                <a:solidFill>
                  <a:srgbClr val="D14B4B"/>
                </a:solidFill>
                <a:latin typeface="Calibri"/>
                <a:cs typeface="Calibri"/>
              </a:rPr>
              <a:t>epa_diff</a:t>
            </a:r>
            <a:r>
              <a:rPr lang="en-US" sz="1100" dirty="0">
                <a:solidFill>
                  <a:srgbClr val="D14B4B"/>
                </a:solidFill>
                <a:latin typeface="Calibri"/>
                <a:cs typeface="Calibri"/>
              </a:rPr>
              <a:t> — a betting outcome cannot cause the on-field play that produced it. Causally impossible.</a:t>
            </a:r>
          </a:p>
        </p:txBody>
      </p:sp>
      <p:sp>
        <p:nvSpPr>
          <p:cNvPr id="28" name="PC_Caption">
            <a:extLst>
              <a:ext uri="{FF2B5EF4-FFF2-40B4-BE49-F238E27FC236}">
                <a16:creationId xmlns:a16="http://schemas.microsoft.com/office/drawing/2014/main" id="{689CFB85-ABD2-3749-AE91-3261BA13C226}"/>
              </a:ext>
            </a:extLst>
          </p:cNvPr>
          <p:cNvSpPr txBox="1"/>
          <p:nvPr/>
        </p:nvSpPr>
        <p:spPr>
          <a:xfrm>
            <a:off x="4572000" y="3975100"/>
            <a:ext cx="4318000" cy="546100"/>
          </a:xfrm>
          <a:prstGeom prst="rect">
            <a:avLst/>
          </a:prstGeom>
          <a:noFill/>
        </p:spPr>
        <p:txBody>
          <a:bodyPr vertOverflow="overflow" vert="horz" wrap="square" rtlCol="0" anchor="t" anchorCtr="0">
            <a:noAutofit/>
          </a:bodyPr>
          <a:lstStyle/>
          <a:p>
            <a:r>
              <a:rPr lang="en-US" sz="1100" dirty="0">
                <a:solidFill>
                  <a:srgbClr val="4CAF7D"/>
                </a:solidFill>
                <a:latin typeface="Calibri"/>
                <a:cs typeface="Calibri"/>
              </a:rPr>
              <a:t>Run independently, the PC algorithm recovered epa_diff → ats_result on its own — with home_win_prob and close_spread as direct parents. Not confirmation bias: a second method found the same structure.</a:t>
            </a:r>
          </a:p>
        </p:txBody>
      </p:sp>
      <p:sp>
        <p:nvSpPr>
          <p:cNvPr id="5" name="Rectangle 4">
            <a:extLst>
              <a:ext uri="{FF2B5EF4-FFF2-40B4-BE49-F238E27FC236}">
                <a16:creationId xmlns:a16="http://schemas.microsoft.com/office/drawing/2014/main" id="{9051E306-8DF5-8E4D-BDE9-2431C8E4C761}"/>
              </a:ext>
            </a:extLst>
          </p:cNvPr>
          <p:cNvSpPr/>
          <p:nvPr/>
        </p:nvSpPr>
        <p:spPr>
          <a:xfrm>
            <a:off x="254000" y="1168400"/>
            <a:ext cx="4191000" cy="330200"/>
          </a:xfrm>
          <a:prstGeom prst="rect">
            <a:avLst/>
          </a:prstGeom>
          <a:solidFill>
            <a:srgbClr val="D14B4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300" b="1">
                <a:solidFill>
                  <a:srgbClr val="FFFFFF"/>
                </a:solidFill>
                <a:latin typeface="Calibri"/>
                <a:cs typeface="Calibri"/>
              </a:rPr>
              <a:t>HILL CLIMBING — raw learned DAG</a:t>
            </a:r>
          </a:p>
        </p:txBody>
      </p:sp>
      <p:sp>
        <p:nvSpPr>
          <p:cNvPr id="7" name="Rectangle 6">
            <a:extLst>
              <a:ext uri="{FF2B5EF4-FFF2-40B4-BE49-F238E27FC236}">
                <a16:creationId xmlns:a16="http://schemas.microsoft.com/office/drawing/2014/main" id="{8A3F5C5D-41C5-A74C-8151-7F9C0BCEE790}"/>
              </a:ext>
            </a:extLst>
          </p:cNvPr>
          <p:cNvSpPr/>
          <p:nvPr/>
        </p:nvSpPr>
        <p:spPr>
          <a:xfrm>
            <a:off x="4699000" y="1168400"/>
            <a:ext cx="4191000" cy="330200"/>
          </a:xfrm>
          <a:prstGeom prst="rect">
            <a:avLst/>
          </a:prstGeom>
          <a:solidFill>
            <a:srgbClr val="4CAF7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300" b="1">
                <a:solidFill>
                  <a:srgbClr val="FFFFFF"/>
                </a:solidFill>
                <a:latin typeface="Calibri"/>
                <a:cs typeface="Calibri"/>
              </a:rPr>
              <a:t>PC ALGORITHM — independent result</a:t>
            </a:r>
          </a:p>
        </p:txBody>
      </p:sp>
      <p:pic>
        <p:nvPicPr>
          <p:cNvPr id="12" name="Graphic 11">
            <a:extLst>
              <a:ext uri="{FF2B5EF4-FFF2-40B4-BE49-F238E27FC236}">
                <a16:creationId xmlns:a16="http://schemas.microsoft.com/office/drawing/2014/main" id="{2C019E87-E955-402F-4AED-52E128B3936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285065" y="1605379"/>
            <a:ext cx="3018869" cy="2257353"/>
          </a:xfrm>
          <a:prstGeom prst="rect">
            <a:avLst/>
          </a:prstGeom>
        </p:spPr>
      </p:pic>
      <p:pic>
        <p:nvPicPr>
          <p:cNvPr id="14" name="Picture 13">
            <a:extLst>
              <a:ext uri="{FF2B5EF4-FFF2-40B4-BE49-F238E27FC236}">
                <a16:creationId xmlns:a16="http://schemas.microsoft.com/office/drawing/2014/main" id="{78B25E53-78C7-3CD6-7F48-8F7C6F884EC0}"/>
              </a:ext>
            </a:extLst>
          </p:cNvPr>
          <p:cNvPicPr>
            <a:picLocks noChangeAspect="1"/>
          </p:cNvPicPr>
          <p:nvPr/>
        </p:nvPicPr>
        <p:blipFill>
          <a:blip r:embed="rId4"/>
          <a:stretch>
            <a:fillRect/>
          </a:stretch>
        </p:blipFill>
        <p:spPr>
          <a:xfrm>
            <a:off x="840066" y="1640439"/>
            <a:ext cx="2969662" cy="2217214"/>
          </a:xfrm>
          <a:prstGeom prst="rect">
            <a:avLst/>
          </a:prstGeom>
        </p:spPr>
      </p:pic>
    </p:spTree>
    <p:extLst>
      <p:ext uri="{BB962C8B-B14F-4D97-AF65-F5344CB8AC3E}">
        <p14:creationId xmlns:p14="http://schemas.microsoft.com/office/powerpoint/2010/main" val="24579308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
          <a:extLst>
            <a:ext uri="{FF2B5EF4-FFF2-40B4-BE49-F238E27FC236}">
              <a16:creationId xmlns:a16="http://schemas.microsoft.com/office/drawing/2014/main" id="{F9C8B6B9-46C4-86CC-4DE1-53177C69945D}"/>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E5E03421-CA6B-1B22-E27A-21BA271D7750}"/>
              </a:ext>
            </a:extLst>
          </p:cNvPr>
          <p:cNvSpPr/>
          <p:nvPr/>
        </p:nvSpPr>
        <p:spPr>
          <a:xfrm>
            <a:off x="6096000" y="1130300"/>
            <a:ext cx="2755900" cy="3556000"/>
          </a:xfrm>
          <a:prstGeom prst="rect">
            <a:avLst/>
          </a:prstGeom>
          <a:solidFill>
            <a:srgbClr val="FFFFFF"/>
          </a:solidFill>
          <a:ln w="15875" cap="flat" cmpd="sng" algn="ctr">
            <a:solidFill>
              <a:srgbClr val="1B3A5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 name="Rectangle 9">
            <a:extLst>
              <a:ext uri="{FF2B5EF4-FFF2-40B4-BE49-F238E27FC236}">
                <a16:creationId xmlns:a16="http://schemas.microsoft.com/office/drawing/2014/main" id="{0CA5FABE-2A78-51CE-04CC-EBF1B75FB27D}"/>
              </a:ext>
            </a:extLst>
          </p:cNvPr>
          <p:cNvSpPr/>
          <p:nvPr/>
        </p:nvSpPr>
        <p:spPr>
          <a:xfrm>
            <a:off x="3175000" y="1130300"/>
            <a:ext cx="2755900" cy="3556000"/>
          </a:xfrm>
          <a:prstGeom prst="rect">
            <a:avLst/>
          </a:prstGeom>
          <a:solidFill>
            <a:srgbClr val="FFFFFF"/>
          </a:solidFill>
          <a:ln w="15875" cap="flat" cmpd="sng" algn="ctr">
            <a:solidFill>
              <a:srgbClr val="1B3A5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Rectangle 4">
            <a:extLst>
              <a:ext uri="{FF2B5EF4-FFF2-40B4-BE49-F238E27FC236}">
                <a16:creationId xmlns:a16="http://schemas.microsoft.com/office/drawing/2014/main" id="{A304381F-DB86-4694-FA62-5E5F0E0DDE4C}"/>
              </a:ext>
            </a:extLst>
          </p:cNvPr>
          <p:cNvSpPr/>
          <p:nvPr/>
        </p:nvSpPr>
        <p:spPr>
          <a:xfrm>
            <a:off x="254000" y="1130300"/>
            <a:ext cx="2755900" cy="3556000"/>
          </a:xfrm>
          <a:prstGeom prst="rect">
            <a:avLst/>
          </a:prstGeom>
          <a:solidFill>
            <a:srgbClr val="FFFFFF"/>
          </a:solidFill>
          <a:ln w="15875" cap="flat" cmpd="sng" algn="ctr">
            <a:solidFill>
              <a:srgbClr val="1B3A5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 name="Shape 0">
            <a:extLst>
              <a:ext uri="{FF2B5EF4-FFF2-40B4-BE49-F238E27FC236}">
                <a16:creationId xmlns:a16="http://schemas.microsoft.com/office/drawing/2014/main" id="{91F42CA5-B5D4-0171-9177-FC191A1D758B}"/>
              </a:ext>
            </a:extLst>
          </p:cNvPr>
          <p:cNvSpPr/>
          <p:nvPr/>
        </p:nvSpPr>
        <p:spPr>
          <a:xfrm>
            <a:off x="0" y="0"/>
            <a:ext cx="9144000" cy="960120"/>
          </a:xfrm>
          <a:prstGeom prst="rect">
            <a:avLst/>
          </a:prstGeom>
          <a:solidFill>
            <a:srgbClr val="0D1B2A"/>
          </a:solidFill>
          <a:ln w="12700">
            <a:solidFill>
              <a:srgbClr val="0D1B2A"/>
            </a:solidFill>
            <a:prstDash val="solid"/>
          </a:ln>
        </p:spPr>
        <p:txBody>
          <a:bodyPr/>
          <a:lstStyle/>
          <a:p>
            <a:endParaRPr lang="en-US"/>
          </a:p>
        </p:txBody>
      </p:sp>
      <p:sp>
        <p:nvSpPr>
          <p:cNvPr id="3" name="Shape 1">
            <a:extLst>
              <a:ext uri="{FF2B5EF4-FFF2-40B4-BE49-F238E27FC236}">
                <a16:creationId xmlns:a16="http://schemas.microsoft.com/office/drawing/2014/main" id="{CFA95742-D651-1FB6-CF7D-84DA353D307C}"/>
              </a:ext>
            </a:extLst>
          </p:cNvPr>
          <p:cNvSpPr/>
          <p:nvPr/>
        </p:nvSpPr>
        <p:spPr>
          <a:xfrm>
            <a:off x="0" y="960120"/>
            <a:ext cx="9144000" cy="64008"/>
          </a:xfrm>
          <a:prstGeom prst="rect">
            <a:avLst/>
          </a:prstGeom>
          <a:solidFill>
            <a:srgbClr val="E8A020"/>
          </a:solidFill>
          <a:ln w="12700">
            <a:solidFill>
              <a:srgbClr val="E8A020"/>
            </a:solidFill>
            <a:prstDash val="solid"/>
          </a:ln>
        </p:spPr>
        <p:txBody>
          <a:bodyPr/>
          <a:lstStyle/>
          <a:p>
            <a:endParaRPr lang="en-US"/>
          </a:p>
        </p:txBody>
      </p:sp>
      <p:sp>
        <p:nvSpPr>
          <p:cNvPr id="4" name="Text 2">
            <a:extLst>
              <a:ext uri="{FF2B5EF4-FFF2-40B4-BE49-F238E27FC236}">
                <a16:creationId xmlns:a16="http://schemas.microsoft.com/office/drawing/2014/main" id="{44DC2004-EDBE-B484-5854-68F418A3E8DB}"/>
              </a:ext>
            </a:extLst>
          </p:cNvPr>
          <p:cNvSpPr/>
          <p:nvPr/>
        </p:nvSpPr>
        <p:spPr>
          <a:xfrm>
            <a:off x="365760" y="137160"/>
            <a:ext cx="8412480" cy="685800"/>
          </a:xfrm>
          <a:prstGeom prst="rect">
            <a:avLst/>
          </a:prstGeom>
          <a:noFill/>
          <a:ln/>
        </p:spPr>
        <p:txBody>
          <a:bodyPr wrap="square" lIns="91440" tIns="45720" rIns="91440" bIns="45720" rtlCol="0" anchor="ctr"/>
          <a:lstStyle/>
          <a:p>
            <a:r>
              <a:rPr lang="en-US" sz="2800" b="1">
                <a:solidFill>
                  <a:srgbClr val="FFFFFF"/>
                </a:solidFill>
                <a:latin typeface="Calibri"/>
                <a:cs typeface="Calibri"/>
              </a:rPr>
              <a:t>Implementation</a:t>
            </a:r>
          </a:p>
        </p:txBody>
      </p:sp>
      <p:sp>
        <p:nvSpPr>
          <p:cNvPr id="6" name="Rectangle 5">
            <a:extLst>
              <a:ext uri="{FF2B5EF4-FFF2-40B4-BE49-F238E27FC236}">
                <a16:creationId xmlns:a16="http://schemas.microsoft.com/office/drawing/2014/main" id="{9B2F089C-302C-F961-9DF0-F6A22CBBBC58}"/>
              </a:ext>
            </a:extLst>
          </p:cNvPr>
          <p:cNvSpPr/>
          <p:nvPr/>
        </p:nvSpPr>
        <p:spPr>
          <a:xfrm>
            <a:off x="254000" y="1130300"/>
            <a:ext cx="2755900" cy="381000"/>
          </a:xfrm>
          <a:prstGeom prst="rect">
            <a:avLst/>
          </a:prstGeom>
          <a:solidFill>
            <a:srgbClr val="1B3A5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 name="GroupHeaderText_Group1">
            <a:extLst>
              <a:ext uri="{FF2B5EF4-FFF2-40B4-BE49-F238E27FC236}">
                <a16:creationId xmlns:a16="http://schemas.microsoft.com/office/drawing/2014/main" id="{ECC02653-D028-86D1-6FB7-697D031FBBBD}"/>
              </a:ext>
            </a:extLst>
          </p:cNvPr>
          <p:cNvSpPr txBox="1"/>
          <p:nvPr/>
        </p:nvSpPr>
        <p:spPr>
          <a:xfrm>
            <a:off x="254000" y="1130300"/>
            <a:ext cx="2755900" cy="381000"/>
          </a:xfrm>
          <a:prstGeom prst="rect">
            <a:avLst/>
          </a:prstGeom>
          <a:noFill/>
          <a:ln>
            <a:noFill/>
          </a:ln>
        </p:spPr>
        <p:txBody>
          <a:bodyPr vertOverflow="overflow" vert="horz" wrap="square" rtlCol="0" anchor="ctr" anchorCtr="0">
            <a:noAutofit/>
          </a:bodyPr>
          <a:lstStyle/>
          <a:p>
            <a:pPr algn="l"/>
            <a:r>
              <a:rPr lang="en-US" sz="1600" b="1">
                <a:solidFill>
                  <a:srgbClr val="FFFFFF"/>
                </a:solidFill>
                <a:latin typeface="Calibri"/>
                <a:cs typeface="Calibri"/>
              </a:rPr>
              <a:t>DATA PIPELINE</a:t>
            </a:r>
          </a:p>
        </p:txBody>
      </p:sp>
      <p:sp>
        <p:nvSpPr>
          <p:cNvPr id="9" name="TextBox 8">
            <a:extLst>
              <a:ext uri="{FF2B5EF4-FFF2-40B4-BE49-F238E27FC236}">
                <a16:creationId xmlns:a16="http://schemas.microsoft.com/office/drawing/2014/main" id="{1BA2B655-FD42-7837-E35E-BAA20709A2C2}"/>
              </a:ext>
            </a:extLst>
          </p:cNvPr>
          <p:cNvSpPr txBox="1"/>
          <p:nvPr/>
        </p:nvSpPr>
        <p:spPr>
          <a:xfrm>
            <a:off x="355600" y="1574800"/>
            <a:ext cx="2552700" cy="2997200"/>
          </a:xfrm>
          <a:prstGeom prst="rect">
            <a:avLst/>
          </a:prstGeom>
          <a:noFill/>
          <a:ln>
            <a:noFill/>
          </a:ln>
        </p:spPr>
        <p:txBody>
          <a:bodyPr vertOverflow="overflow" vert="horz" wrap="square" rtlCol="0" anchor="t" anchorCtr="0">
            <a:noAutofit/>
          </a:bodyPr>
          <a:lstStyle/>
          <a:p>
            <a:pPr marL="171450" indent="-171450">
              <a:spcAft>
                <a:spcPts val="600"/>
              </a:spcAft>
              <a:buFont typeface="Arial"/>
              <a:buChar char="•"/>
            </a:pPr>
            <a:r>
              <a:rPr lang="en-US" sz="1500" dirty="0" err="1">
                <a:solidFill>
                  <a:srgbClr val="404040"/>
                </a:solidFill>
                <a:latin typeface="Calibri"/>
                <a:cs typeface="Calibri"/>
              </a:rPr>
              <a:t>nflverse</a:t>
            </a:r>
            <a:r>
              <a:rPr lang="en-US" sz="1500" dirty="0">
                <a:solidFill>
                  <a:srgbClr val="404040"/>
                </a:solidFill>
                <a:latin typeface="Calibri"/>
                <a:cs typeface="Calibri"/>
              </a:rPr>
              <a:t> (game stats) + </a:t>
            </a:r>
            <a:r>
              <a:rPr lang="en-US" sz="1500" dirty="0" err="1">
                <a:solidFill>
                  <a:srgbClr val="404040"/>
                </a:solidFill>
                <a:latin typeface="Calibri"/>
                <a:cs typeface="Calibri"/>
              </a:rPr>
              <a:t>SportsBookReviewsOnline</a:t>
            </a:r>
            <a:r>
              <a:rPr lang="en-US" sz="1500" dirty="0">
                <a:solidFill>
                  <a:srgbClr val="404040"/>
                </a:solidFill>
                <a:latin typeface="Calibri"/>
                <a:cs typeface="Calibri"/>
              </a:rPr>
              <a:t> (market data)</a:t>
            </a:r>
          </a:p>
          <a:p>
            <a:pPr marL="171450" indent="-171450">
              <a:spcAft>
                <a:spcPts val="600"/>
              </a:spcAft>
              <a:buFont typeface="Arial"/>
              <a:buChar char="•"/>
            </a:pPr>
            <a:r>
              <a:rPr lang="en-US" sz="1500" dirty="0">
                <a:solidFill>
                  <a:srgbClr val="404040"/>
                </a:solidFill>
                <a:latin typeface="Calibri"/>
                <a:cs typeface="Calibri"/>
              </a:rPr>
              <a:t>3,990 games, 2007–2022, joined by season + matchup</a:t>
            </a:r>
          </a:p>
          <a:p>
            <a:pPr marL="171450" indent="-171450">
              <a:spcAft>
                <a:spcPts val="600"/>
              </a:spcAft>
              <a:buFont typeface="Arial"/>
              <a:buChar char="•"/>
            </a:pPr>
            <a:r>
              <a:rPr lang="en-US" sz="1500" dirty="0">
                <a:solidFill>
                  <a:srgbClr val="404040"/>
                </a:solidFill>
                <a:latin typeface="Calibri"/>
                <a:cs typeface="Calibri"/>
              </a:rPr>
              <a:t>Game Stats: EPA, TD, turnover, yards differentials</a:t>
            </a:r>
          </a:p>
          <a:p>
            <a:pPr marL="171450" indent="-171450">
              <a:spcAft>
                <a:spcPts val="600"/>
              </a:spcAft>
              <a:buFont typeface="Arial"/>
              <a:buChar char="•"/>
            </a:pPr>
            <a:r>
              <a:rPr lang="en-US" sz="1500" dirty="0">
                <a:solidFill>
                  <a:srgbClr val="404040"/>
                </a:solidFill>
                <a:latin typeface="Calibri"/>
                <a:cs typeface="Calibri"/>
              </a:rPr>
              <a:t>Market Signals: spread &amp; total movement, home win prob, rolling ATS</a:t>
            </a:r>
          </a:p>
        </p:txBody>
      </p:sp>
      <p:sp>
        <p:nvSpPr>
          <p:cNvPr id="11" name="Rectangle 10">
            <a:extLst>
              <a:ext uri="{FF2B5EF4-FFF2-40B4-BE49-F238E27FC236}">
                <a16:creationId xmlns:a16="http://schemas.microsoft.com/office/drawing/2014/main" id="{0EC68221-78B2-AF38-C2F9-AD4B8291A4DF}"/>
              </a:ext>
            </a:extLst>
          </p:cNvPr>
          <p:cNvSpPr/>
          <p:nvPr/>
        </p:nvSpPr>
        <p:spPr>
          <a:xfrm>
            <a:off x="3175000" y="1130300"/>
            <a:ext cx="2755900" cy="381000"/>
          </a:xfrm>
          <a:prstGeom prst="rect">
            <a:avLst/>
          </a:prstGeom>
          <a:solidFill>
            <a:srgbClr val="1B3A5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2" name="GroupHeaderText_Group2">
            <a:extLst>
              <a:ext uri="{FF2B5EF4-FFF2-40B4-BE49-F238E27FC236}">
                <a16:creationId xmlns:a16="http://schemas.microsoft.com/office/drawing/2014/main" id="{DA92B316-C83D-57A8-C826-115753A83BBF}"/>
              </a:ext>
            </a:extLst>
          </p:cNvPr>
          <p:cNvSpPr txBox="1"/>
          <p:nvPr/>
        </p:nvSpPr>
        <p:spPr>
          <a:xfrm>
            <a:off x="3175000" y="1130300"/>
            <a:ext cx="2755900" cy="381000"/>
          </a:xfrm>
          <a:prstGeom prst="rect">
            <a:avLst/>
          </a:prstGeom>
          <a:noFill/>
          <a:ln>
            <a:noFill/>
          </a:ln>
        </p:spPr>
        <p:txBody>
          <a:bodyPr vertOverflow="overflow" vert="horz" wrap="square" rtlCol="0" anchor="ctr" anchorCtr="0">
            <a:noAutofit/>
          </a:bodyPr>
          <a:lstStyle/>
          <a:p>
            <a:pPr algn="l"/>
            <a:r>
              <a:rPr lang="en-US" sz="1600" b="1">
                <a:solidFill>
                  <a:srgbClr val="FFFFFF"/>
                </a:solidFill>
                <a:latin typeface="Calibri"/>
                <a:cs typeface="Calibri"/>
              </a:rPr>
              <a:t>MODELS</a:t>
            </a:r>
          </a:p>
        </p:txBody>
      </p:sp>
      <p:sp>
        <p:nvSpPr>
          <p:cNvPr id="14" name="TextBox 13">
            <a:extLst>
              <a:ext uri="{FF2B5EF4-FFF2-40B4-BE49-F238E27FC236}">
                <a16:creationId xmlns:a16="http://schemas.microsoft.com/office/drawing/2014/main" id="{D1CCF0C0-068A-6BA2-999A-8351870D7DE4}"/>
              </a:ext>
            </a:extLst>
          </p:cNvPr>
          <p:cNvSpPr txBox="1"/>
          <p:nvPr/>
        </p:nvSpPr>
        <p:spPr>
          <a:xfrm>
            <a:off x="3276600" y="1574800"/>
            <a:ext cx="2552700" cy="2997200"/>
          </a:xfrm>
          <a:prstGeom prst="rect">
            <a:avLst/>
          </a:prstGeom>
          <a:noFill/>
          <a:ln>
            <a:noFill/>
          </a:ln>
        </p:spPr>
        <p:txBody>
          <a:bodyPr vertOverflow="overflow" vert="horz" wrap="square" rtlCol="0" anchor="t" anchorCtr="0">
            <a:noAutofit/>
          </a:bodyPr>
          <a:lstStyle/>
          <a:p>
            <a:pPr marL="171450" indent="-171450">
              <a:spcAft>
                <a:spcPts val="700"/>
              </a:spcAft>
              <a:buFont typeface="Arial"/>
              <a:buChar char="•"/>
            </a:pPr>
            <a:r>
              <a:rPr lang="en-US" sz="1500" dirty="0">
                <a:solidFill>
                  <a:srgbClr val="404040"/>
                </a:solidFill>
                <a:latin typeface="Calibri"/>
                <a:cs typeface="Calibri"/>
              </a:rPr>
              <a:t>Gaussian Naive Bayes =&gt; continuous features, no discretization</a:t>
            </a:r>
          </a:p>
          <a:p>
            <a:pPr marL="171450" indent="-171450">
              <a:spcAft>
                <a:spcPts val="700"/>
              </a:spcAft>
              <a:buFont typeface="Arial"/>
              <a:buChar char="•"/>
            </a:pPr>
            <a:r>
              <a:rPr lang="en-US" sz="1500" dirty="0">
                <a:solidFill>
                  <a:srgbClr val="404040"/>
                </a:solidFill>
                <a:latin typeface="Calibri"/>
                <a:cs typeface="Calibri"/>
              </a:rPr>
              <a:t>Hill Climbing BN +</a:t>
            </a:r>
            <a:br>
              <a:rPr lang="en-US" sz="1500" dirty="0">
                <a:solidFill>
                  <a:srgbClr val="404040"/>
                </a:solidFill>
                <a:latin typeface="Calibri"/>
                <a:cs typeface="Calibri"/>
              </a:rPr>
            </a:br>
            <a:r>
              <a:rPr lang="en-US" sz="1500" dirty="0">
                <a:solidFill>
                  <a:srgbClr val="404040"/>
                </a:solidFill>
                <a:latin typeface="Calibri"/>
                <a:cs typeface="Calibri"/>
              </a:rPr>
              <a:t>PC Algorithm BN =&gt; </a:t>
            </a:r>
            <a:br>
              <a:rPr lang="en-US" sz="1500" dirty="0">
                <a:solidFill>
                  <a:srgbClr val="404040"/>
                </a:solidFill>
                <a:latin typeface="Calibri"/>
                <a:cs typeface="Calibri"/>
              </a:rPr>
            </a:br>
            <a:r>
              <a:rPr lang="en-US" sz="1500" dirty="0">
                <a:solidFill>
                  <a:srgbClr val="404040"/>
                </a:solidFill>
                <a:latin typeface="Calibri"/>
                <a:cs typeface="Calibri"/>
              </a:rPr>
              <a:t>3-bin ordinal encoding</a:t>
            </a:r>
          </a:p>
          <a:p>
            <a:pPr marL="171450" indent="-171450">
              <a:spcAft>
                <a:spcPts val="700"/>
              </a:spcAft>
              <a:buFont typeface="Arial"/>
              <a:buChar char="•"/>
            </a:pPr>
            <a:r>
              <a:rPr lang="en-US" sz="1500" dirty="0">
                <a:solidFill>
                  <a:srgbClr val="404040"/>
                </a:solidFill>
                <a:latin typeface="Calibri"/>
                <a:cs typeface="Calibri"/>
              </a:rPr>
              <a:t>80/20 train-test split</a:t>
            </a:r>
          </a:p>
        </p:txBody>
      </p:sp>
      <p:sp>
        <p:nvSpPr>
          <p:cNvPr id="16" name="Rectangle 15">
            <a:extLst>
              <a:ext uri="{FF2B5EF4-FFF2-40B4-BE49-F238E27FC236}">
                <a16:creationId xmlns:a16="http://schemas.microsoft.com/office/drawing/2014/main" id="{500A20A5-55E9-B100-6CFA-50AED3B99A3B}"/>
              </a:ext>
            </a:extLst>
          </p:cNvPr>
          <p:cNvSpPr/>
          <p:nvPr/>
        </p:nvSpPr>
        <p:spPr>
          <a:xfrm>
            <a:off x="6096000" y="1130300"/>
            <a:ext cx="2755900" cy="381000"/>
          </a:xfrm>
          <a:prstGeom prst="rect">
            <a:avLst/>
          </a:prstGeom>
          <a:solidFill>
            <a:srgbClr val="1B3A5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7" name="GroupHeaderText_Group3">
            <a:extLst>
              <a:ext uri="{FF2B5EF4-FFF2-40B4-BE49-F238E27FC236}">
                <a16:creationId xmlns:a16="http://schemas.microsoft.com/office/drawing/2014/main" id="{7A08DBE0-8AF4-2758-FABC-938D706FE12D}"/>
              </a:ext>
            </a:extLst>
          </p:cNvPr>
          <p:cNvSpPr txBox="1"/>
          <p:nvPr/>
        </p:nvSpPr>
        <p:spPr>
          <a:xfrm>
            <a:off x="6096000" y="1130300"/>
            <a:ext cx="2755900" cy="381000"/>
          </a:xfrm>
          <a:prstGeom prst="rect">
            <a:avLst/>
          </a:prstGeom>
          <a:noFill/>
          <a:ln>
            <a:noFill/>
          </a:ln>
        </p:spPr>
        <p:txBody>
          <a:bodyPr vertOverflow="overflow" vert="horz" wrap="square" rtlCol="0" anchor="ctr" anchorCtr="0">
            <a:noAutofit/>
          </a:bodyPr>
          <a:lstStyle/>
          <a:p>
            <a:pPr algn="l"/>
            <a:r>
              <a:rPr lang="en-US" sz="1600" b="1">
                <a:solidFill>
                  <a:srgbClr val="FFFFFF"/>
                </a:solidFill>
                <a:latin typeface="Calibri"/>
                <a:cs typeface="Calibri"/>
              </a:rPr>
              <a:t>VALIDATION</a:t>
            </a:r>
          </a:p>
        </p:txBody>
      </p:sp>
      <p:sp>
        <p:nvSpPr>
          <p:cNvPr id="19" name="TextBox 18">
            <a:extLst>
              <a:ext uri="{FF2B5EF4-FFF2-40B4-BE49-F238E27FC236}">
                <a16:creationId xmlns:a16="http://schemas.microsoft.com/office/drawing/2014/main" id="{56010B7E-14D9-7D16-A3A7-B2761B1A587E}"/>
              </a:ext>
            </a:extLst>
          </p:cNvPr>
          <p:cNvSpPr txBox="1"/>
          <p:nvPr/>
        </p:nvSpPr>
        <p:spPr>
          <a:xfrm>
            <a:off x="6197600" y="1574800"/>
            <a:ext cx="2552700" cy="2997200"/>
          </a:xfrm>
          <a:prstGeom prst="rect">
            <a:avLst/>
          </a:prstGeom>
          <a:noFill/>
          <a:ln>
            <a:noFill/>
          </a:ln>
        </p:spPr>
        <p:txBody>
          <a:bodyPr vertOverflow="overflow" vert="horz" wrap="square" rtlCol="0" anchor="t" anchorCtr="0">
            <a:noAutofit/>
          </a:bodyPr>
          <a:lstStyle/>
          <a:p>
            <a:pPr marL="171450" indent="-171450">
              <a:spcAft>
                <a:spcPts val="1200"/>
              </a:spcAft>
              <a:buFont typeface="Arial"/>
              <a:buChar char="•"/>
            </a:pPr>
            <a:r>
              <a:rPr lang="en-US" sz="1500" dirty="0">
                <a:solidFill>
                  <a:srgbClr val="404040"/>
                </a:solidFill>
                <a:latin typeface="Calibri"/>
                <a:cs typeface="Calibri"/>
              </a:rPr>
              <a:t>Dual-algorithm approach: HC and PC run independently and cross-checked</a:t>
            </a:r>
          </a:p>
          <a:p>
            <a:pPr marL="171450" indent="-171450">
              <a:spcAft>
                <a:spcPts val="1200"/>
              </a:spcAft>
              <a:buFont typeface="Arial"/>
              <a:buChar char="•"/>
            </a:pPr>
            <a:r>
              <a:rPr lang="en-US" sz="1500" dirty="0">
                <a:solidFill>
                  <a:srgbClr val="404040"/>
                </a:solidFill>
                <a:latin typeface="Calibri"/>
                <a:cs typeface="Calibri"/>
              </a:rPr>
              <a:t>HC reversed edge corrected via domain knowledge, confirmed by PC</a:t>
            </a:r>
          </a:p>
        </p:txBody>
      </p:sp>
    </p:spTree>
    <p:extLst>
      <p:ext uri="{BB962C8B-B14F-4D97-AF65-F5344CB8AC3E}">
        <p14:creationId xmlns:p14="http://schemas.microsoft.com/office/powerpoint/2010/main" val="8187471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
          <a:extLst>
            <a:ext uri="{FF2B5EF4-FFF2-40B4-BE49-F238E27FC236}">
              <a16:creationId xmlns:a16="http://schemas.microsoft.com/office/drawing/2014/main" id="{F9C8B6B9-46C4-86CC-4DE1-53177C69945D}"/>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91F42CA5-B5D4-0171-9177-FC191A1D758B}"/>
              </a:ext>
            </a:extLst>
          </p:cNvPr>
          <p:cNvSpPr/>
          <p:nvPr/>
        </p:nvSpPr>
        <p:spPr>
          <a:xfrm>
            <a:off x="0" y="0"/>
            <a:ext cx="9144000" cy="960120"/>
          </a:xfrm>
          <a:prstGeom prst="rect">
            <a:avLst/>
          </a:prstGeom>
          <a:solidFill>
            <a:srgbClr val="0D1B2A"/>
          </a:solidFill>
          <a:ln w="12700">
            <a:solidFill>
              <a:srgbClr val="0D1B2A"/>
            </a:solidFill>
            <a:prstDash val="solid"/>
          </a:ln>
        </p:spPr>
        <p:txBody>
          <a:bodyPr/>
          <a:lstStyle/>
          <a:p>
            <a:endParaRPr lang="en-US"/>
          </a:p>
        </p:txBody>
      </p:sp>
      <p:sp>
        <p:nvSpPr>
          <p:cNvPr id="3" name="Shape 1">
            <a:extLst>
              <a:ext uri="{FF2B5EF4-FFF2-40B4-BE49-F238E27FC236}">
                <a16:creationId xmlns:a16="http://schemas.microsoft.com/office/drawing/2014/main" id="{CFA95742-D651-1FB6-CF7D-84DA353D307C}"/>
              </a:ext>
            </a:extLst>
          </p:cNvPr>
          <p:cNvSpPr/>
          <p:nvPr/>
        </p:nvSpPr>
        <p:spPr>
          <a:xfrm>
            <a:off x="0" y="960120"/>
            <a:ext cx="9144000" cy="64008"/>
          </a:xfrm>
          <a:prstGeom prst="rect">
            <a:avLst/>
          </a:prstGeom>
          <a:solidFill>
            <a:srgbClr val="E8A020"/>
          </a:solidFill>
          <a:ln w="12700">
            <a:solidFill>
              <a:srgbClr val="E8A020"/>
            </a:solidFill>
            <a:prstDash val="solid"/>
          </a:ln>
        </p:spPr>
        <p:txBody>
          <a:bodyPr/>
          <a:lstStyle/>
          <a:p>
            <a:endParaRPr lang="en-US"/>
          </a:p>
        </p:txBody>
      </p:sp>
      <p:sp>
        <p:nvSpPr>
          <p:cNvPr id="4" name="Text 2">
            <a:extLst>
              <a:ext uri="{FF2B5EF4-FFF2-40B4-BE49-F238E27FC236}">
                <a16:creationId xmlns:a16="http://schemas.microsoft.com/office/drawing/2014/main" id="{44DC2004-EDBE-B484-5854-68F418A3E8DB}"/>
              </a:ext>
            </a:extLst>
          </p:cNvPr>
          <p:cNvSpPr/>
          <p:nvPr/>
        </p:nvSpPr>
        <p:spPr>
          <a:xfrm>
            <a:off x="365760" y="137160"/>
            <a:ext cx="8412480" cy="685800"/>
          </a:xfrm>
          <a:prstGeom prst="rect">
            <a:avLst/>
          </a:prstGeom>
          <a:noFill/>
          <a:ln/>
        </p:spPr>
        <p:txBody>
          <a:bodyPr wrap="square" lIns="91440" tIns="45720" rIns="91440" bIns="45720" rtlCol="0" anchor="ctr"/>
          <a:lstStyle/>
          <a:p>
            <a:r>
              <a:rPr lang="en-US" sz="2800" b="1">
                <a:solidFill>
                  <a:srgbClr val="FFFFFF"/>
                </a:solidFill>
                <a:latin typeface="Calibri"/>
                <a:cs typeface="Calibri"/>
              </a:rPr>
              <a:t>Challenges &amp; Limitations</a:t>
            </a:r>
          </a:p>
        </p:txBody>
      </p:sp>
      <p:sp>
        <p:nvSpPr>
          <p:cNvPr id="25" name="ChalCard0">
            <a:extLst>
              <a:ext uri="{FF2B5EF4-FFF2-40B4-BE49-F238E27FC236}">
                <a16:creationId xmlns:a16="http://schemas.microsoft.com/office/drawing/2014/main" id="{EAE10F36-0347-CF4F-87BF-64C03D812CAB}"/>
              </a:ext>
            </a:extLst>
          </p:cNvPr>
          <p:cNvSpPr/>
          <p:nvPr/>
        </p:nvSpPr>
        <p:spPr>
          <a:xfrm>
            <a:off x="254000" y="1130300"/>
            <a:ext cx="4191000" cy="1752600"/>
          </a:xfrm>
          <a:prstGeom prst="rect">
            <a:avLst/>
          </a:prstGeom>
          <a:solidFill>
            <a:srgbClr val="FFFFFF"/>
          </a:solidFill>
          <a:ln w="15875" cap="flat" cmpd="sng" algn="ctr">
            <a:solidFill>
              <a:srgbClr val="1B3A5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t" anchorCtr="0">
            <a:noAutofit/>
          </a:bodyPr>
          <a:lstStyle/>
          <a:p>
            <a:pPr>
              <a:spcAft>
                <a:spcPts val="400"/>
              </a:spcAft>
            </a:pPr>
            <a:r>
              <a:rPr lang="en-US" b="1" dirty="0">
                <a:solidFill>
                  <a:srgbClr val="E8A020"/>
                </a:solidFill>
                <a:latin typeface="Calibri"/>
                <a:cs typeface="Calibri"/>
              </a:rPr>
              <a:t>Retrospective Statistics</a:t>
            </a:r>
          </a:p>
          <a:p>
            <a:pPr>
              <a:lnSpc>
                <a:spcPts val="1550"/>
              </a:lnSpc>
            </a:pPr>
            <a:r>
              <a:rPr lang="en-US" sz="1600" dirty="0">
                <a:solidFill>
                  <a:srgbClr val="404040"/>
                </a:solidFill>
                <a:latin typeface="Calibri"/>
                <a:cs typeface="Calibri"/>
              </a:rPr>
              <a:t>EPA and other game stats are post-game measurements. Stats-only accuracy reflects information content, not pre-game predictive power.</a:t>
            </a:r>
          </a:p>
        </p:txBody>
      </p:sp>
      <p:sp>
        <p:nvSpPr>
          <p:cNvPr id="26" name="ChalStripe0">
            <a:extLst>
              <a:ext uri="{FF2B5EF4-FFF2-40B4-BE49-F238E27FC236}">
                <a16:creationId xmlns:a16="http://schemas.microsoft.com/office/drawing/2014/main" id="{A4226116-7103-A24C-94EF-FE61663FCB1D}"/>
              </a:ext>
            </a:extLst>
          </p:cNvPr>
          <p:cNvSpPr/>
          <p:nvPr/>
        </p:nvSpPr>
        <p:spPr>
          <a:xfrm>
            <a:off x="254000" y="1130300"/>
            <a:ext cx="50800" cy="1752600"/>
          </a:xfrm>
          <a:prstGeom prst="rect">
            <a:avLst/>
          </a:prstGeom>
          <a:solidFill>
            <a:srgbClr val="E0A93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7" name="ChalCard1">
            <a:extLst>
              <a:ext uri="{FF2B5EF4-FFF2-40B4-BE49-F238E27FC236}">
                <a16:creationId xmlns:a16="http://schemas.microsoft.com/office/drawing/2014/main" id="{2ACCF974-162E-CE4D-91A3-E43018F616A4}"/>
              </a:ext>
            </a:extLst>
          </p:cNvPr>
          <p:cNvSpPr/>
          <p:nvPr/>
        </p:nvSpPr>
        <p:spPr>
          <a:xfrm>
            <a:off x="4699000" y="1130300"/>
            <a:ext cx="4191000" cy="1752600"/>
          </a:xfrm>
          <a:prstGeom prst="rect">
            <a:avLst/>
          </a:prstGeom>
          <a:solidFill>
            <a:srgbClr val="FFFFFF"/>
          </a:solidFill>
          <a:ln w="15875" cap="flat" cmpd="sng" algn="ctr">
            <a:solidFill>
              <a:srgbClr val="1B3A5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t" anchorCtr="0">
            <a:noAutofit/>
          </a:bodyPr>
          <a:lstStyle/>
          <a:p>
            <a:pPr>
              <a:spcAft>
                <a:spcPts val="400"/>
              </a:spcAft>
            </a:pPr>
            <a:r>
              <a:rPr lang="en-US" b="1" dirty="0">
                <a:solidFill>
                  <a:srgbClr val="E8A020"/>
                </a:solidFill>
                <a:latin typeface="Calibri"/>
                <a:cs typeface="Calibri"/>
              </a:rPr>
              <a:t>Discretization Penalty</a:t>
            </a:r>
          </a:p>
          <a:p>
            <a:pPr>
              <a:lnSpc>
                <a:spcPts val="1550"/>
              </a:lnSpc>
            </a:pPr>
            <a:r>
              <a:rPr lang="en-US" dirty="0">
                <a:solidFill>
                  <a:srgbClr val="404040"/>
                </a:solidFill>
                <a:latin typeface="Calibri"/>
                <a:cs typeface="Calibri"/>
              </a:rPr>
              <a:t>BNs require binning continuous features; magnitude information is lost. The main reason BNs trail Naive Bayes on accuracy.</a:t>
            </a:r>
          </a:p>
        </p:txBody>
      </p:sp>
      <p:sp>
        <p:nvSpPr>
          <p:cNvPr id="28" name="ChalStripe1">
            <a:extLst>
              <a:ext uri="{FF2B5EF4-FFF2-40B4-BE49-F238E27FC236}">
                <a16:creationId xmlns:a16="http://schemas.microsoft.com/office/drawing/2014/main" id="{5BC3B3BE-B53F-9C41-B34B-CA9F78109B30}"/>
              </a:ext>
            </a:extLst>
          </p:cNvPr>
          <p:cNvSpPr/>
          <p:nvPr/>
        </p:nvSpPr>
        <p:spPr>
          <a:xfrm>
            <a:off x="4699000" y="1130300"/>
            <a:ext cx="50800" cy="1752600"/>
          </a:xfrm>
          <a:prstGeom prst="rect">
            <a:avLst/>
          </a:prstGeom>
          <a:solidFill>
            <a:srgbClr val="E0A93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9" name="ChalCard2">
            <a:extLst>
              <a:ext uri="{FF2B5EF4-FFF2-40B4-BE49-F238E27FC236}">
                <a16:creationId xmlns:a16="http://schemas.microsoft.com/office/drawing/2014/main" id="{391E9DB8-14B3-5C46-B4BB-BFC8050B4A8D}"/>
              </a:ext>
            </a:extLst>
          </p:cNvPr>
          <p:cNvSpPr/>
          <p:nvPr/>
        </p:nvSpPr>
        <p:spPr>
          <a:xfrm>
            <a:off x="254000" y="3124200"/>
            <a:ext cx="4191000" cy="1752600"/>
          </a:xfrm>
          <a:prstGeom prst="rect">
            <a:avLst/>
          </a:prstGeom>
          <a:solidFill>
            <a:srgbClr val="FFFFFF"/>
          </a:solidFill>
          <a:ln w="15875" cap="flat" cmpd="sng" algn="ctr">
            <a:solidFill>
              <a:srgbClr val="1B3A5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t" anchorCtr="0">
            <a:noAutofit/>
          </a:bodyPr>
          <a:lstStyle/>
          <a:p>
            <a:pPr>
              <a:spcAft>
                <a:spcPts val="400"/>
              </a:spcAft>
            </a:pPr>
            <a:r>
              <a:rPr lang="en-US" b="1" dirty="0">
                <a:solidFill>
                  <a:srgbClr val="E8A020"/>
                </a:solidFill>
                <a:latin typeface="Calibri"/>
                <a:cs typeface="Calibri"/>
              </a:rPr>
              <a:t>Class Imbalance</a:t>
            </a:r>
          </a:p>
          <a:p>
            <a:pPr>
              <a:lnSpc>
                <a:spcPts val="1550"/>
              </a:lnSpc>
            </a:pPr>
            <a:r>
              <a:rPr lang="en-US" sz="1600" dirty="0">
                <a:solidFill>
                  <a:srgbClr val="404040"/>
                </a:solidFill>
                <a:latin typeface="Calibri"/>
                <a:cs typeface="Calibri"/>
              </a:rPr>
              <a:t>Push is only 3.0% of the data. Neither BN ever predicts it; NB reaches just 22% F1 on the class.</a:t>
            </a:r>
          </a:p>
        </p:txBody>
      </p:sp>
      <p:sp>
        <p:nvSpPr>
          <p:cNvPr id="30" name="ChalStripe2">
            <a:extLst>
              <a:ext uri="{FF2B5EF4-FFF2-40B4-BE49-F238E27FC236}">
                <a16:creationId xmlns:a16="http://schemas.microsoft.com/office/drawing/2014/main" id="{1E3C69C5-3CB6-2A43-B143-9AF5C2C47C69}"/>
              </a:ext>
            </a:extLst>
          </p:cNvPr>
          <p:cNvSpPr/>
          <p:nvPr/>
        </p:nvSpPr>
        <p:spPr>
          <a:xfrm>
            <a:off x="254000" y="3124200"/>
            <a:ext cx="50800" cy="1752600"/>
          </a:xfrm>
          <a:prstGeom prst="rect">
            <a:avLst/>
          </a:prstGeom>
          <a:solidFill>
            <a:srgbClr val="E0A93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1" name="ChalCard3">
            <a:extLst>
              <a:ext uri="{FF2B5EF4-FFF2-40B4-BE49-F238E27FC236}">
                <a16:creationId xmlns:a16="http://schemas.microsoft.com/office/drawing/2014/main" id="{81C172A0-8EC6-CC4F-808F-4D5CA96B2613}"/>
              </a:ext>
            </a:extLst>
          </p:cNvPr>
          <p:cNvSpPr/>
          <p:nvPr/>
        </p:nvSpPr>
        <p:spPr>
          <a:xfrm>
            <a:off x="4699000" y="3124200"/>
            <a:ext cx="4191000" cy="1752600"/>
          </a:xfrm>
          <a:prstGeom prst="rect">
            <a:avLst/>
          </a:prstGeom>
          <a:solidFill>
            <a:srgbClr val="FFFFFF"/>
          </a:solidFill>
          <a:ln w="15875" cap="flat" cmpd="sng" algn="ctr">
            <a:solidFill>
              <a:srgbClr val="1B3A5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t" anchorCtr="0">
            <a:noAutofit/>
          </a:bodyPr>
          <a:lstStyle/>
          <a:p>
            <a:pPr>
              <a:spcAft>
                <a:spcPts val="400"/>
              </a:spcAft>
            </a:pPr>
            <a:r>
              <a:rPr lang="en-US" b="1" dirty="0">
                <a:solidFill>
                  <a:srgbClr val="E8A020"/>
                </a:solidFill>
                <a:latin typeface="Calibri"/>
                <a:cs typeface="Calibri"/>
              </a:rPr>
              <a:t>Spread Direction</a:t>
            </a:r>
          </a:p>
          <a:p>
            <a:pPr>
              <a:lnSpc>
                <a:spcPts val="1550"/>
              </a:lnSpc>
            </a:pPr>
            <a:r>
              <a:rPr lang="en-US" sz="1600" dirty="0">
                <a:solidFill>
                  <a:srgbClr val="404040"/>
                </a:solidFill>
                <a:latin typeface="Calibri"/>
                <a:cs typeface="Calibri"/>
              </a:rPr>
              <a:t>We bin the closing spread by magnitude, which discards direction: a home team laying seven and one receiving seven fall in the same bin. Recovering signed direction is left to future work.</a:t>
            </a:r>
          </a:p>
        </p:txBody>
      </p:sp>
      <p:sp>
        <p:nvSpPr>
          <p:cNvPr id="32" name="ChalStripe3">
            <a:extLst>
              <a:ext uri="{FF2B5EF4-FFF2-40B4-BE49-F238E27FC236}">
                <a16:creationId xmlns:a16="http://schemas.microsoft.com/office/drawing/2014/main" id="{D46063FA-5D99-CF46-B34E-939C8B1EE753}"/>
              </a:ext>
            </a:extLst>
          </p:cNvPr>
          <p:cNvSpPr/>
          <p:nvPr/>
        </p:nvSpPr>
        <p:spPr>
          <a:xfrm>
            <a:off x="4699000" y="3124200"/>
            <a:ext cx="50800" cy="1752600"/>
          </a:xfrm>
          <a:prstGeom prst="rect">
            <a:avLst/>
          </a:prstGeom>
          <a:solidFill>
            <a:srgbClr val="E0A93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38458651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
          <a:extLst>
            <a:ext uri="{FF2B5EF4-FFF2-40B4-BE49-F238E27FC236}">
              <a16:creationId xmlns:a16="http://schemas.microsoft.com/office/drawing/2014/main" id="{F9C8B6B9-46C4-86CC-4DE1-53177C69945D}"/>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91F42CA5-B5D4-0171-9177-FC191A1D758B}"/>
              </a:ext>
            </a:extLst>
          </p:cNvPr>
          <p:cNvSpPr/>
          <p:nvPr/>
        </p:nvSpPr>
        <p:spPr>
          <a:xfrm>
            <a:off x="0" y="0"/>
            <a:ext cx="9144000" cy="960120"/>
          </a:xfrm>
          <a:prstGeom prst="rect">
            <a:avLst/>
          </a:prstGeom>
          <a:solidFill>
            <a:srgbClr val="0D1B2A"/>
          </a:solidFill>
          <a:ln w="12700">
            <a:solidFill>
              <a:srgbClr val="0D1B2A"/>
            </a:solidFill>
            <a:prstDash val="solid"/>
          </a:ln>
        </p:spPr>
        <p:txBody>
          <a:bodyPr/>
          <a:lstStyle/>
          <a:p>
            <a:endParaRPr lang="en-US"/>
          </a:p>
        </p:txBody>
      </p:sp>
      <p:sp>
        <p:nvSpPr>
          <p:cNvPr id="3" name="Shape 1">
            <a:extLst>
              <a:ext uri="{FF2B5EF4-FFF2-40B4-BE49-F238E27FC236}">
                <a16:creationId xmlns:a16="http://schemas.microsoft.com/office/drawing/2014/main" id="{CFA95742-D651-1FB6-CF7D-84DA353D307C}"/>
              </a:ext>
            </a:extLst>
          </p:cNvPr>
          <p:cNvSpPr/>
          <p:nvPr/>
        </p:nvSpPr>
        <p:spPr>
          <a:xfrm>
            <a:off x="0" y="960120"/>
            <a:ext cx="9144000" cy="64008"/>
          </a:xfrm>
          <a:prstGeom prst="rect">
            <a:avLst/>
          </a:prstGeom>
          <a:solidFill>
            <a:srgbClr val="E8A020"/>
          </a:solidFill>
          <a:ln w="12700">
            <a:solidFill>
              <a:srgbClr val="E8A020"/>
            </a:solidFill>
            <a:prstDash val="solid"/>
          </a:ln>
        </p:spPr>
        <p:txBody>
          <a:bodyPr/>
          <a:lstStyle/>
          <a:p>
            <a:endParaRPr lang="en-US"/>
          </a:p>
        </p:txBody>
      </p:sp>
      <p:sp>
        <p:nvSpPr>
          <p:cNvPr id="4" name="Text 2">
            <a:extLst>
              <a:ext uri="{FF2B5EF4-FFF2-40B4-BE49-F238E27FC236}">
                <a16:creationId xmlns:a16="http://schemas.microsoft.com/office/drawing/2014/main" id="{44DC2004-EDBE-B484-5854-68F418A3E8DB}"/>
              </a:ext>
            </a:extLst>
          </p:cNvPr>
          <p:cNvSpPr/>
          <p:nvPr/>
        </p:nvSpPr>
        <p:spPr>
          <a:xfrm>
            <a:off x="365760" y="137160"/>
            <a:ext cx="8412480" cy="685800"/>
          </a:xfrm>
          <a:prstGeom prst="rect">
            <a:avLst/>
          </a:prstGeom>
          <a:noFill/>
          <a:ln/>
        </p:spPr>
        <p:txBody>
          <a:bodyPr wrap="square" lIns="91440" tIns="45720" rIns="91440" bIns="45720" rtlCol="0" anchor="ctr"/>
          <a:lstStyle/>
          <a:p>
            <a:r>
              <a:rPr lang="en-US" sz="2800" b="1">
                <a:solidFill>
                  <a:srgbClr val="FFFFFF"/>
                </a:solidFill>
                <a:latin typeface="Calibri"/>
                <a:cs typeface="Calibri"/>
              </a:rPr>
              <a:t>Future Work &amp; Conclusions</a:t>
            </a:r>
          </a:p>
        </p:txBody>
      </p:sp>
      <p:sp>
        <p:nvSpPr>
          <p:cNvPr id="25" name="FW_bg">
            <a:extLst>
              <a:ext uri="{FF2B5EF4-FFF2-40B4-BE49-F238E27FC236}">
                <a16:creationId xmlns:a16="http://schemas.microsoft.com/office/drawing/2014/main" id="{638CC6A0-42F3-D74F-8316-1135D344FD5B}"/>
              </a:ext>
            </a:extLst>
          </p:cNvPr>
          <p:cNvSpPr/>
          <p:nvPr/>
        </p:nvSpPr>
        <p:spPr>
          <a:xfrm>
            <a:off x="254000" y="1130300"/>
            <a:ext cx="4191000" cy="3429000"/>
          </a:xfrm>
          <a:prstGeom prst="rect">
            <a:avLst/>
          </a:prstGeom>
          <a:solidFill>
            <a:srgbClr val="FFFFFF"/>
          </a:solidFill>
          <a:ln w="15875" cap="flat" cmpd="sng" algn="ctr">
            <a:solidFill>
              <a:srgbClr val="1B3A5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6" name="FW_hdr">
            <a:extLst>
              <a:ext uri="{FF2B5EF4-FFF2-40B4-BE49-F238E27FC236}">
                <a16:creationId xmlns:a16="http://schemas.microsoft.com/office/drawing/2014/main" id="{86AD7689-432D-B347-8388-E6E6337D56BB}"/>
              </a:ext>
            </a:extLst>
          </p:cNvPr>
          <p:cNvSpPr/>
          <p:nvPr/>
        </p:nvSpPr>
        <p:spPr>
          <a:xfrm>
            <a:off x="254000" y="1130300"/>
            <a:ext cx="4191000" cy="381000"/>
          </a:xfrm>
          <a:prstGeom prst="rect">
            <a:avLst/>
          </a:prstGeom>
          <a:solidFill>
            <a:srgbClr val="1B3A5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600" b="1">
                <a:solidFill>
                  <a:srgbClr val="FFFFFF"/>
                </a:solidFill>
                <a:latin typeface="Calibri"/>
                <a:cs typeface="Calibri"/>
              </a:rPr>
              <a:t>FUTURE WORK</a:t>
            </a:r>
          </a:p>
        </p:txBody>
      </p:sp>
      <p:sp>
        <p:nvSpPr>
          <p:cNvPr id="27" name="FW_body">
            <a:extLst>
              <a:ext uri="{FF2B5EF4-FFF2-40B4-BE49-F238E27FC236}">
                <a16:creationId xmlns:a16="http://schemas.microsoft.com/office/drawing/2014/main" id="{6FE161EA-D833-A74D-810B-B20AFB55D051}"/>
              </a:ext>
            </a:extLst>
          </p:cNvPr>
          <p:cNvSpPr txBox="1"/>
          <p:nvPr/>
        </p:nvSpPr>
        <p:spPr>
          <a:xfrm>
            <a:off x="381000" y="1587500"/>
            <a:ext cx="3937000" cy="2870200"/>
          </a:xfrm>
          <a:prstGeom prst="rect">
            <a:avLst/>
          </a:prstGeom>
          <a:noFill/>
        </p:spPr>
        <p:txBody>
          <a:bodyPr vertOverflow="overflow" vert="horz" wrap="square" rtlCol="0" anchor="t">
            <a:noAutofit/>
          </a:bodyPr>
          <a:lstStyle/>
          <a:p>
            <a:pPr marL="228600" indent="-228600">
              <a:lnSpc>
                <a:spcPts val="2000"/>
              </a:lnSpc>
              <a:spcAft>
                <a:spcPts val="700"/>
              </a:spcAft>
              <a:buFont typeface="Arial"/>
              <a:buChar char="•"/>
            </a:pPr>
            <a:r>
              <a:rPr lang="en-US" sz="1500" dirty="0">
                <a:solidFill>
                  <a:srgbClr val="404040"/>
                </a:solidFill>
                <a:latin typeface="Calibri"/>
                <a:cs typeface="Calibri"/>
              </a:rPr>
              <a:t>Continuous (Gaussian) BN formulations to eliminate the discretization penalty</a:t>
            </a:r>
          </a:p>
          <a:p>
            <a:pPr marL="228600" indent="-228600">
              <a:lnSpc>
                <a:spcPts val="2000"/>
              </a:lnSpc>
              <a:spcAft>
                <a:spcPts val="700"/>
              </a:spcAft>
              <a:buFont typeface="Arial"/>
              <a:buChar char="•"/>
            </a:pPr>
            <a:r>
              <a:rPr lang="en-US" sz="1500" dirty="0">
                <a:solidFill>
                  <a:srgbClr val="404040"/>
                </a:solidFill>
                <a:latin typeface="Calibri"/>
                <a:cs typeface="Calibri"/>
              </a:rPr>
              <a:t>Post-2018 PASPA analysis only — isolate the modern legal betting market</a:t>
            </a:r>
          </a:p>
          <a:p>
            <a:pPr marL="228600" indent="-228600">
              <a:lnSpc>
                <a:spcPts val="2000"/>
              </a:lnSpc>
              <a:spcAft>
                <a:spcPts val="700"/>
              </a:spcAft>
              <a:buFont typeface="Arial"/>
              <a:buChar char="•"/>
            </a:pPr>
            <a:r>
              <a:rPr lang="en-US" sz="1500" dirty="0">
                <a:solidFill>
                  <a:srgbClr val="404040"/>
                </a:solidFill>
                <a:latin typeface="Calibri"/>
                <a:cs typeface="Calibri"/>
              </a:rPr>
              <a:t>Recover spread direction; revalidate the target variable</a:t>
            </a:r>
          </a:p>
          <a:p>
            <a:pPr marL="228600" indent="-228600">
              <a:lnSpc>
                <a:spcPts val="2000"/>
              </a:lnSpc>
              <a:spcAft>
                <a:spcPts val="700"/>
              </a:spcAft>
              <a:buFont typeface="Arial"/>
              <a:buChar char="•"/>
            </a:pPr>
            <a:r>
              <a:rPr lang="en-US" sz="1500" dirty="0">
                <a:solidFill>
                  <a:srgbClr val="404040"/>
                </a:solidFill>
                <a:latin typeface="Calibri"/>
                <a:cs typeface="Calibri"/>
              </a:rPr>
              <a:t>Add quarterback injury data as a high-signal feature</a:t>
            </a:r>
          </a:p>
        </p:txBody>
      </p:sp>
      <p:sp>
        <p:nvSpPr>
          <p:cNvPr id="28" name="CC_bg">
            <a:extLst>
              <a:ext uri="{FF2B5EF4-FFF2-40B4-BE49-F238E27FC236}">
                <a16:creationId xmlns:a16="http://schemas.microsoft.com/office/drawing/2014/main" id="{E059529E-307A-294B-9885-E1BC88F47599}"/>
              </a:ext>
            </a:extLst>
          </p:cNvPr>
          <p:cNvSpPr/>
          <p:nvPr/>
        </p:nvSpPr>
        <p:spPr>
          <a:xfrm>
            <a:off x="4699000" y="1130300"/>
            <a:ext cx="4191000" cy="3429000"/>
          </a:xfrm>
          <a:prstGeom prst="rect">
            <a:avLst/>
          </a:prstGeom>
          <a:solidFill>
            <a:srgbClr val="FFFFFF"/>
          </a:solidFill>
          <a:ln w="15875" cap="flat" cmpd="sng" algn="ctr">
            <a:solidFill>
              <a:srgbClr val="1B3A5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9" name="CC_hdr">
            <a:extLst>
              <a:ext uri="{FF2B5EF4-FFF2-40B4-BE49-F238E27FC236}">
                <a16:creationId xmlns:a16="http://schemas.microsoft.com/office/drawing/2014/main" id="{16C3C0E4-1B17-6240-B9B7-8A92CE638EB2}"/>
              </a:ext>
            </a:extLst>
          </p:cNvPr>
          <p:cNvSpPr/>
          <p:nvPr/>
        </p:nvSpPr>
        <p:spPr>
          <a:xfrm>
            <a:off x="4699000" y="1130300"/>
            <a:ext cx="4191000" cy="381000"/>
          </a:xfrm>
          <a:prstGeom prst="rect">
            <a:avLst/>
          </a:prstGeom>
          <a:solidFill>
            <a:srgbClr val="1B3A5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600" b="1">
                <a:solidFill>
                  <a:srgbClr val="FFFFFF"/>
                </a:solidFill>
                <a:latin typeface="Calibri"/>
                <a:cs typeface="Calibri"/>
              </a:rPr>
              <a:t>CONCLUSIONS</a:t>
            </a:r>
          </a:p>
        </p:txBody>
      </p:sp>
      <p:sp>
        <p:nvSpPr>
          <p:cNvPr id="30" name="CC_body">
            <a:extLst>
              <a:ext uri="{FF2B5EF4-FFF2-40B4-BE49-F238E27FC236}">
                <a16:creationId xmlns:a16="http://schemas.microsoft.com/office/drawing/2014/main" id="{7465551A-831B-F14E-873D-DF8175118821}"/>
              </a:ext>
            </a:extLst>
          </p:cNvPr>
          <p:cNvSpPr txBox="1"/>
          <p:nvPr/>
        </p:nvSpPr>
        <p:spPr>
          <a:xfrm>
            <a:off x="4826000" y="1587500"/>
            <a:ext cx="3937000" cy="2870200"/>
          </a:xfrm>
          <a:prstGeom prst="rect">
            <a:avLst/>
          </a:prstGeom>
          <a:noFill/>
        </p:spPr>
        <p:txBody>
          <a:bodyPr vertOverflow="overflow" vert="horz" wrap="square" rtlCol="0" anchor="t">
            <a:noAutofit/>
          </a:bodyPr>
          <a:lstStyle/>
          <a:p>
            <a:pPr marL="228600" indent="-228600">
              <a:lnSpc>
                <a:spcPts val="2000"/>
              </a:lnSpc>
              <a:spcAft>
                <a:spcPts val="700"/>
              </a:spcAft>
              <a:buFont typeface="Arial"/>
              <a:buChar char="•"/>
            </a:pPr>
            <a:r>
              <a:rPr lang="en-US" sz="1500">
                <a:solidFill>
                  <a:srgbClr val="404040"/>
                </a:solidFill>
                <a:latin typeface="Calibri"/>
                <a:cs typeface="Calibri"/>
              </a:rPr>
              <a:t>Partial efficiency confirmed: the market's hard prediction is already encoded in game stats</a:t>
            </a:r>
          </a:p>
          <a:p>
            <a:pPr marL="228600" indent="-228600">
              <a:lnSpc>
                <a:spcPts val="2000"/>
              </a:lnSpc>
              <a:spcAft>
                <a:spcPts val="700"/>
              </a:spcAft>
              <a:buFont typeface="Arial"/>
              <a:buChar char="•"/>
            </a:pPr>
            <a:r>
              <a:rPr lang="en-US" sz="1500">
                <a:solidFill>
                  <a:srgbClr val="404040"/>
                </a:solidFill>
                <a:latin typeface="Calibri"/>
                <a:cs typeface="Calibri"/>
              </a:rPr>
              <a:t>Calibration finding: the market's uncertainty estimate adds information beyond statistics alone</a:t>
            </a:r>
          </a:p>
          <a:p>
            <a:pPr marL="228600" indent="-228600">
              <a:lnSpc>
                <a:spcPts val="2000"/>
              </a:lnSpc>
              <a:spcAft>
                <a:spcPts val="700"/>
              </a:spcAft>
              <a:buFont typeface="Arial"/>
              <a:buChar char="•"/>
            </a:pPr>
            <a:r>
              <a:rPr lang="en-US" sz="1500">
                <a:solidFill>
                  <a:srgbClr val="404040"/>
                </a:solidFill>
                <a:latin typeface="Calibri"/>
                <a:cs typeface="Calibri"/>
              </a:rPr>
              <a:t>PC + HC dual-algorithm design caught and corrected a causally impossible edge</a:t>
            </a:r>
          </a:p>
          <a:p>
            <a:pPr marL="228600" indent="-228600">
              <a:lnSpc>
                <a:spcPts val="2000"/>
              </a:lnSpc>
              <a:spcAft>
                <a:spcPts val="700"/>
              </a:spcAft>
              <a:buFont typeface="Arial"/>
              <a:buChar char="•"/>
            </a:pPr>
            <a:r>
              <a:rPr lang="en-US" sz="1500">
                <a:solidFill>
                  <a:srgbClr val="404040"/>
                </a:solidFill>
                <a:latin typeface="Calibri"/>
                <a:cs typeface="Calibri"/>
              </a:rPr>
              <a:t>A nuanced answer that advances both sides of the efficiency debate</a:t>
            </a:r>
          </a:p>
        </p:txBody>
      </p:sp>
    </p:spTree>
    <p:extLst>
      <p:ext uri="{BB962C8B-B14F-4D97-AF65-F5344CB8AC3E}">
        <p14:creationId xmlns:p14="http://schemas.microsoft.com/office/powerpoint/2010/main" val="13118601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E8A020"/>
          </a:solidFill>
          <a:ln w="12700">
            <a:solidFill>
              <a:srgbClr val="E8A020"/>
            </a:solidFill>
            <a:prstDash val="solid"/>
          </a:ln>
        </p:spPr>
        <p:txBody>
          <a:bodyPr/>
          <a:lstStyle/>
          <a:p>
            <a:endParaRPr lang="en-US"/>
          </a:p>
        </p:txBody>
      </p:sp>
      <p:sp>
        <p:nvSpPr>
          <p:cNvPr id="3" name="Shape 1"/>
          <p:cNvSpPr/>
          <p:nvPr/>
        </p:nvSpPr>
        <p:spPr>
          <a:xfrm>
            <a:off x="406400" y="3175000"/>
            <a:ext cx="5207000" cy="54864"/>
          </a:xfrm>
          <a:prstGeom prst="rect">
            <a:avLst/>
          </a:prstGeom>
          <a:solidFill>
            <a:srgbClr val="E8A020"/>
          </a:solidFill>
          <a:ln w="12700">
            <a:solidFill>
              <a:srgbClr val="E8A020"/>
            </a:solidFill>
            <a:prstDash val="solid"/>
          </a:ln>
        </p:spPr>
        <p:txBody>
          <a:bodyPr/>
          <a:lstStyle/>
          <a:p>
            <a:endParaRPr lang="en-US"/>
          </a:p>
        </p:txBody>
      </p:sp>
      <p:sp>
        <p:nvSpPr>
          <p:cNvPr id="4" name="Text 2"/>
          <p:cNvSpPr/>
          <p:nvPr/>
        </p:nvSpPr>
        <p:spPr>
          <a:xfrm>
            <a:off x="406400" y="889000"/>
            <a:ext cx="8255000" cy="431800"/>
          </a:xfrm>
          <a:prstGeom prst="rect">
            <a:avLst/>
          </a:prstGeom>
          <a:noFill/>
          <a:ln/>
        </p:spPr>
        <p:txBody>
          <a:bodyPr wrap="square" rtlCol="0" anchor="ctr"/>
          <a:lstStyle/>
          <a:p>
            <a:pPr marL="0" indent="0" algn="l">
              <a:buNone/>
            </a:pPr>
            <a:r>
              <a:rPr lang="en-US" sz="2000" b="1">
                <a:solidFill>
                  <a:srgbClr val="8BA0B5"/>
                </a:solidFill>
                <a:latin typeface="Calibri"/>
                <a:cs typeface="Calibri"/>
              </a:rPr>
              <a:t>QUESTIONS &amp; DISCUSSION</a:t>
            </a:r>
          </a:p>
        </p:txBody>
      </p:sp>
      <p:sp>
        <p:nvSpPr>
          <p:cNvPr id="5" name="Text 3"/>
          <p:cNvSpPr/>
          <p:nvPr/>
        </p:nvSpPr>
        <p:spPr>
          <a:xfrm>
            <a:off x="406400" y="1371600"/>
            <a:ext cx="8496808" cy="1016000"/>
          </a:xfrm>
          <a:prstGeom prst="rect">
            <a:avLst/>
          </a:prstGeom>
          <a:noFill/>
          <a:ln/>
        </p:spPr>
        <p:txBody>
          <a:bodyPr wrap="square" rtlCol="0" anchor="ctr"/>
          <a:lstStyle/>
          <a:p>
            <a:pPr marL="0" indent="0" algn="l">
              <a:buNone/>
            </a:pPr>
            <a:r>
              <a:rPr lang="en-US" sz="2600" b="1" dirty="0">
                <a:solidFill>
                  <a:srgbClr val="FFFFFF"/>
                </a:solidFill>
                <a:latin typeface="Calibri"/>
                <a:cs typeface="Calibri"/>
              </a:rPr>
              <a:t>For accuracy: the market adds no signal beyond game stats.</a:t>
            </a:r>
          </a:p>
        </p:txBody>
      </p:sp>
      <p:sp>
        <p:nvSpPr>
          <p:cNvPr id="6" name="Text 4"/>
          <p:cNvSpPr/>
          <p:nvPr/>
        </p:nvSpPr>
        <p:spPr>
          <a:xfrm>
            <a:off x="406400" y="2159000"/>
            <a:ext cx="8255000" cy="889000"/>
          </a:xfrm>
          <a:prstGeom prst="rect">
            <a:avLst/>
          </a:prstGeom>
          <a:noFill/>
          <a:ln/>
        </p:spPr>
        <p:txBody>
          <a:bodyPr wrap="square" rtlCol="0" anchor="ctr"/>
          <a:lstStyle/>
          <a:p>
            <a:pPr marL="0" indent="0" algn="l">
              <a:buNone/>
            </a:pPr>
            <a:r>
              <a:rPr lang="en-US" sz="2600" b="1">
                <a:solidFill>
                  <a:srgbClr val="E8A020"/>
                </a:solidFill>
                <a:latin typeface="Calibri"/>
                <a:cs typeface="Calibri"/>
              </a:rPr>
              <a:t>For calibration: the market's uncertainty estimate does.</a:t>
            </a:r>
          </a:p>
        </p:txBody>
      </p:sp>
      <p:sp>
        <p:nvSpPr>
          <p:cNvPr id="11" name="Text 6">
            <a:extLst>
              <a:ext uri="{FF2B5EF4-FFF2-40B4-BE49-F238E27FC236}">
                <a16:creationId xmlns:a16="http://schemas.microsoft.com/office/drawing/2014/main" id="{634C908A-02AD-8C99-E32A-DFAD41D154A6}"/>
              </a:ext>
            </a:extLst>
          </p:cNvPr>
          <p:cNvSpPr/>
          <p:nvPr/>
        </p:nvSpPr>
        <p:spPr>
          <a:xfrm>
            <a:off x="406400" y="3619500"/>
            <a:ext cx="8255000" cy="355600"/>
          </a:xfrm>
          <a:prstGeom prst="rect">
            <a:avLst/>
          </a:prstGeom>
          <a:noFill/>
          <a:ln/>
        </p:spPr>
        <p:txBody>
          <a:bodyPr wrap="square" rtlCol="0" anchor="ctr"/>
          <a:lstStyle/>
          <a:p>
            <a:pPr marL="0" indent="0" algn="l">
              <a:buNone/>
            </a:pPr>
            <a:r>
              <a:rPr lang="en-US" sz="1500" b="1">
                <a:solidFill>
                  <a:srgbClr val="FFFFFF"/>
                </a:solidFill>
                <a:latin typeface="Calibri"/>
                <a:cs typeface="Calibri"/>
              </a:rPr>
              <a:t>Leland Weeks  ·  Johnny Belichev  ·  Ishant Somal</a:t>
            </a:r>
          </a:p>
        </p:txBody>
      </p:sp>
      <p:sp>
        <p:nvSpPr>
          <p:cNvPr id="12" name="Text 7">
            <a:extLst>
              <a:ext uri="{FF2B5EF4-FFF2-40B4-BE49-F238E27FC236}">
                <a16:creationId xmlns:a16="http://schemas.microsoft.com/office/drawing/2014/main" id="{5FB2D9DF-48BE-6B49-26A7-C90AC810BEDB}"/>
              </a:ext>
            </a:extLst>
          </p:cNvPr>
          <p:cNvSpPr/>
          <p:nvPr/>
        </p:nvSpPr>
        <p:spPr>
          <a:xfrm>
            <a:off x="406400" y="4000500"/>
            <a:ext cx="8255000" cy="762000"/>
          </a:xfrm>
          <a:prstGeom prst="rect">
            <a:avLst/>
          </a:prstGeom>
          <a:noFill/>
          <a:ln/>
        </p:spPr>
        <p:txBody>
          <a:bodyPr wrap="square" rtlCol="0" anchor="ctr"/>
          <a:lstStyle/>
          <a:p>
            <a:pPr marL="0" indent="0" algn="l">
              <a:buNone/>
            </a:pPr>
            <a:r>
              <a:rPr lang="en-US" sz="1300">
                <a:solidFill>
                  <a:srgbClr val="8BA0B5"/>
                </a:solidFill>
                <a:latin typeface="Calibri"/>
                <a:cs typeface="Calibri"/>
              </a:rPr>
              <a:t>lhw22@drexel.edu  ·  jb4458@drexel.edu  ·  is488@drexel.edu</a:t>
            </a:r>
          </a:p>
        </p:txBody>
      </p:sp>
    </p:spTree>
    <p:extLst>
      <p:ext uri="{BB962C8B-B14F-4D97-AF65-F5344CB8AC3E}">
        <p14:creationId xmlns:p14="http://schemas.microsoft.com/office/powerpoint/2010/main" val="38144626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EB57A9C3-9CA4-7D42-9EEF-2FD68FFCC6E1}">
  <we:reference id="WA200010001" version="1.0.0.1" store="Omex" storeType="OMEX"/>
  <we:alternateReferences>
    <we:reference id="WA200010001" version="1.0.0.1" store="WA200010001" storeType="OMEX"/>
  </we:alternateReferences>
  <we:properties>
    <we:property name="claude.fileId" value="&quot;e4864205-247b-4196-abc2-388f6810480e&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592</TotalTime>
  <Words>3041</Words>
  <Application>Microsoft Macintosh PowerPoint</Application>
  <PresentationFormat>On-screen Show (16:9)</PresentationFormat>
  <Paragraphs>247</Paragraphs>
  <Slides>12</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Bayesian Network Modeling of NFL Game Stats and Market Signals</dc:title>
  <dc:subject>PptxGenJS Presentation</dc:subject>
  <dc:creator>PptxGenJS</dc:creator>
  <cp:lastModifiedBy>Weeks,Leland</cp:lastModifiedBy>
  <cp:revision>13</cp:revision>
  <dcterms:created xsi:type="dcterms:W3CDTF">2026-05-06T00:02:55Z</dcterms:created>
  <dcterms:modified xsi:type="dcterms:W3CDTF">2026-06-02T19:49:30Z</dcterms:modified>
</cp:coreProperties>
</file>