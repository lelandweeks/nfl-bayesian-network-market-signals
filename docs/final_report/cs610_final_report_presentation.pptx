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324" r:id="rId2"/>
    <p:sldId id="367" r:id="rId3"/>
    <p:sldId id="385" r:id="rId4"/>
    <p:sldId id="347" r:id="rId5"/>
    <p:sldId id="384" r:id="rId6"/>
    <p:sldId id="361" r:id="rId7"/>
    <p:sldId id="357" r:id="rId8"/>
    <p:sldId id="378" r:id="rId9"/>
    <p:sldId id="377" r:id="rId10"/>
    <p:sldId id="386" r:id="rId11"/>
    <p:sldId id="352" r:id="rId12"/>
    <p:sldId id="358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8A3723-C774-96C3-F02A-AADCAE282D9D}" v="22" dt="2026-06-04T18:44:28.505"/>
    <p1510:client id="{6DB86085-EDE5-1AAA-3215-0A2A46B554C7}" v="5" dt="2026-06-04T04:14:10.5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8"/>
    <p:restoredTop sz="53490"/>
  </p:normalViewPr>
  <p:slideViewPr>
    <p:cSldViewPr snapToGrid="0">
      <p:cViewPr varScale="1">
        <p:scale>
          <a:sx n="71" d="100"/>
          <a:sy n="71" d="100"/>
        </p:scale>
        <p:origin x="16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2112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143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69EC-A9FB-A08F-E84B-F5CE9F8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8B015-FFD7-6F8E-0BB4-C73FE6C1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D747D-6DA4-C7F2-A9A6-7F76909A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A043F-67D8-A50A-C9E0-4B016BD8F6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06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69EC-A9FB-A08F-E84B-F5CE9F8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8B015-FFD7-6F8E-0BB4-C73FE6C1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D747D-6DA4-C7F2-A9A6-7F76909A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A043F-67D8-A50A-C9E0-4B016BD8F6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064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69EC-A9FB-A08F-E84B-F5CE9F8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8B015-FFD7-6F8E-0BB4-C73FE6C1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D747D-6DA4-C7F2-A9A6-7F76909A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A043F-67D8-A50A-C9E0-4B016BD8F6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064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0448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69EC-A9FB-A08F-E84B-F5CE9F8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8B015-FFD7-6F8E-0BB4-C73FE6C1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D747D-6DA4-C7F2-A9A6-7F76909A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A043F-67D8-A50A-C9E0-4B016BD8F6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064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69EC-A9FB-A08F-E84B-F5CE9F8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8B015-FFD7-6F8E-0BB4-C73FE6C1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D747D-6DA4-C7F2-A9A6-7F76909A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A043F-67D8-A50A-C9E0-4B016BD8F6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064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69EC-A9FB-A08F-E84B-F5CE9F8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8B015-FFD7-6F8E-0BB4-C73FE6C1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D747D-6DA4-C7F2-A9A6-7F76909A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A043F-67D8-A50A-C9E0-4B016BD8F6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0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69EC-A9FB-A08F-E84B-F5CE9F8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8B015-FFD7-6F8E-0BB4-C73FE6C1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D747D-6DA4-C7F2-A9A6-7F76909A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A043F-67D8-A50A-C9E0-4B016BD8F6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064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E69EC-A9FB-A08F-E84B-F5CE9F8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8B015-FFD7-6F8E-0BB4-C73FE6C1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D747D-6DA4-C7F2-A9A6-7F76909A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A043F-67D8-A50A-C9E0-4B016BD8F6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064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06400" y="2603500"/>
            <a:ext cx="5207000" cy="508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8B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Network Modeling of</a:t>
            </a:r>
            <a:endParaRPr lang="en-US" sz="2800"/>
          </a:p>
        </p:txBody>
      </p:sp>
      <p:sp>
        <p:nvSpPr>
          <p:cNvPr id="5" name="Text 3"/>
          <p:cNvSpPr/>
          <p:nvPr/>
        </p:nvSpPr>
        <p:spPr>
          <a:xfrm>
            <a:off x="411480" y="11430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NFL Game Stats &amp;</a:t>
            </a:r>
            <a:endParaRPr lang="en-US" sz="5200"/>
          </a:p>
        </p:txBody>
      </p:sp>
      <p:sp>
        <p:nvSpPr>
          <p:cNvPr id="6" name="Text 4"/>
          <p:cNvSpPr/>
          <p:nvPr/>
        </p:nvSpPr>
        <p:spPr>
          <a:xfrm>
            <a:off x="411480" y="19202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Signals</a:t>
            </a:r>
            <a:endParaRPr lang="en-US" sz="380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634C908A-02AD-8C99-E32A-DFAD41D154A6}"/>
              </a:ext>
            </a:extLst>
          </p:cNvPr>
          <p:cNvSpPr/>
          <p:nvPr/>
        </p:nvSpPr>
        <p:spPr>
          <a:xfrm>
            <a:off x="411480" y="3154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Leland Weeks  ·  Johnny Belichev  ·  Ishant Somal</a:t>
            </a:r>
            <a:endParaRPr lang="en-US" sz="140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5FB2D9DF-48BE-6B49-26A7-C90AC810BEDB}"/>
              </a:ext>
            </a:extLst>
          </p:cNvPr>
          <p:cNvSpPr/>
          <p:nvPr/>
        </p:nvSpPr>
        <p:spPr>
          <a:xfrm>
            <a:off x="411480" y="349300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8B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610  ·  Drexel University  ·  June 2026</a:t>
            </a:r>
            <a:endParaRPr lang="en-US" sz="13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294541-185D-E54A-BFF7-A1FA5F426196}"/>
              </a:ext>
            </a:extLst>
          </p:cNvPr>
          <p:cNvSpPr/>
          <p:nvPr/>
        </p:nvSpPr>
        <p:spPr>
          <a:xfrm>
            <a:off x="5969000" y="2946400"/>
            <a:ext cx="1333500" cy="787400"/>
          </a:xfrm>
          <a:prstGeom prst="rect">
            <a:avLst/>
          </a:prstGeom>
          <a:solidFill>
            <a:srgbClr val="1B3A5C"/>
          </a:solidFill>
          <a:ln w="12700" cap="flat" cmpd="sng" algn="ctr">
            <a:solidFill>
              <a:srgbClr val="E8A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2400" b="1">
                <a:solidFill>
                  <a:srgbClr val="E8A020"/>
                </a:solidFill>
                <a:latin typeface="Calibri"/>
                <a:cs typeface="Calibri"/>
              </a:rPr>
              <a:t>3,990</a:t>
            </a:r>
          </a:p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cs typeface="Calibri"/>
              </a:rPr>
              <a:t>NFL Games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E965EB-8C92-234D-805C-C0AD97126A87}"/>
              </a:ext>
            </a:extLst>
          </p:cNvPr>
          <p:cNvSpPr/>
          <p:nvPr/>
        </p:nvSpPr>
        <p:spPr>
          <a:xfrm>
            <a:off x="7442200" y="2946400"/>
            <a:ext cx="1333500" cy="787400"/>
          </a:xfrm>
          <a:prstGeom prst="rect">
            <a:avLst/>
          </a:prstGeom>
          <a:solidFill>
            <a:srgbClr val="1B3A5C"/>
          </a:solidFill>
          <a:ln w="12700" cap="flat" cmpd="sng" algn="ctr">
            <a:solidFill>
              <a:srgbClr val="E8A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2400" b="1">
                <a:solidFill>
                  <a:srgbClr val="E8A020"/>
                </a:solidFill>
                <a:latin typeface="Calibri"/>
                <a:cs typeface="Calibri"/>
              </a:rPr>
              <a:t>15</a:t>
            </a:r>
          </a:p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cs typeface="Calibri"/>
              </a:rPr>
              <a:t>Seasons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57BE30-B2E0-8444-8BBE-D1106CE18790}"/>
              </a:ext>
            </a:extLst>
          </p:cNvPr>
          <p:cNvSpPr/>
          <p:nvPr/>
        </p:nvSpPr>
        <p:spPr>
          <a:xfrm>
            <a:off x="5969000" y="3873500"/>
            <a:ext cx="1333500" cy="787400"/>
          </a:xfrm>
          <a:prstGeom prst="rect">
            <a:avLst/>
          </a:prstGeom>
          <a:solidFill>
            <a:srgbClr val="1B3A5C"/>
          </a:solidFill>
          <a:ln w="12700" cap="flat" cmpd="sng" algn="ctr">
            <a:solidFill>
              <a:srgbClr val="E8A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2400" b="1">
                <a:solidFill>
                  <a:srgbClr val="E8A020"/>
                </a:solidFill>
                <a:latin typeface="Calibri"/>
                <a:cs typeface="Calibri"/>
              </a:rPr>
              <a:t>6</a:t>
            </a:r>
          </a:p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cs typeface="Calibri"/>
              </a:rPr>
              <a:t>Market Pts / Game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F2E100-AA81-1A44-A7E0-DCA009B85C45}"/>
              </a:ext>
            </a:extLst>
          </p:cNvPr>
          <p:cNvSpPr/>
          <p:nvPr/>
        </p:nvSpPr>
        <p:spPr>
          <a:xfrm>
            <a:off x="7442200" y="3873500"/>
            <a:ext cx="1333500" cy="787400"/>
          </a:xfrm>
          <a:prstGeom prst="rect">
            <a:avLst/>
          </a:prstGeom>
          <a:solidFill>
            <a:srgbClr val="1B3A5C"/>
          </a:solidFill>
          <a:ln w="12700" cap="flat" cmpd="sng" algn="ctr">
            <a:solidFill>
              <a:srgbClr val="E8A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2400" b="1">
                <a:solidFill>
                  <a:srgbClr val="E8A020"/>
                </a:solidFill>
                <a:latin typeface="Calibri"/>
                <a:cs typeface="Calibri"/>
              </a:rPr>
              <a:t>2</a:t>
            </a:r>
          </a:p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cs typeface="Calibri"/>
              </a:rPr>
              <a:t>Data Sources</a:t>
            </a:r>
          </a:p>
        </p:txBody>
      </p:sp>
    </p:spTree>
    <p:extLst>
      <p:ext uri="{BB962C8B-B14F-4D97-AF65-F5344CB8AC3E}">
        <p14:creationId xmlns:p14="http://schemas.microsoft.com/office/powerpoint/2010/main" val="3688139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55017DA-795F-8348-BFA2-64EA0E0DD087}"/>
              </a:ext>
            </a:extLst>
          </p:cNvPr>
          <p:cNvSpPr/>
          <p:nvPr/>
        </p:nvSpPr>
        <p:spPr>
          <a:xfrm>
            <a:off x="0" y="0"/>
            <a:ext cx="9144000" cy="965200"/>
          </a:xfrm>
          <a:prstGeom prst="rect">
            <a:avLst/>
          </a:prstGeom>
          <a:solidFill>
            <a:srgbClr val="0D1B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E9BAACF-E22F-A640-860E-11A3E6307F55}"/>
              </a:ext>
            </a:extLst>
          </p:cNvPr>
          <p:cNvSpPr/>
          <p:nvPr/>
        </p:nvSpPr>
        <p:spPr>
          <a:xfrm>
            <a:off x="0" y="965200"/>
            <a:ext cx="9144000" cy="63500"/>
          </a:xfrm>
          <a:prstGeom prst="rect">
            <a:avLst/>
          </a:prstGeom>
          <a:solidFill>
            <a:srgbClr val="E8A02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737B3D-03C4-E043-B3CA-0EB22188C213}"/>
              </a:ext>
            </a:extLst>
          </p:cNvPr>
          <p:cNvSpPr txBox="1"/>
          <p:nvPr/>
        </p:nvSpPr>
        <p:spPr>
          <a:xfrm>
            <a:off x="368300" y="139700"/>
            <a:ext cx="84074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The Question, Before the Math</a:t>
            </a:r>
          </a:p>
        </p:txBody>
      </p:sp>
      <p:sp>
        <p:nvSpPr>
          <p:cNvPr id="12" name="ViscQuestion">
            <a:extLst>
              <a:ext uri="{FF2B5EF4-FFF2-40B4-BE49-F238E27FC236}">
                <a16:creationId xmlns:a16="http://schemas.microsoft.com/office/drawing/2014/main" id="{420207D5-08AF-4742-86FA-254868C3CED6}"/>
              </a:ext>
            </a:extLst>
          </p:cNvPr>
          <p:cNvSpPr txBox="1"/>
          <p:nvPr/>
        </p:nvSpPr>
        <p:spPr>
          <a:xfrm>
            <a:off x="368300" y="1225034"/>
            <a:ext cx="8128000" cy="369332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800" b="1" dirty="0">
                <a:solidFill>
                  <a:srgbClr val="E8A020"/>
                </a:solidFill>
                <a:latin typeface="Calibri"/>
                <a:cs typeface="Calibri"/>
              </a:rPr>
              <a:t>Does any of this tell you something the box score doesn't?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15C1054-18C6-E969-521B-B66449ECE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790700"/>
            <a:ext cx="8128000" cy="3034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402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8B6B9-46C4-86CC-4DE1-53177C69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C1092F7-F32B-DB4F-93E7-77045B6398B0}"/>
              </a:ext>
            </a:extLst>
          </p:cNvPr>
          <p:cNvSpPr/>
          <p:nvPr/>
        </p:nvSpPr>
        <p:spPr>
          <a:xfrm>
            <a:off x="254000" y="3759200"/>
            <a:ext cx="8636000" cy="1168400"/>
          </a:xfrm>
          <a:prstGeom prst="roundRect">
            <a:avLst/>
          </a:prstGeom>
          <a:solidFill>
            <a:srgbClr val="F4F7FA"/>
          </a:solidFill>
          <a:ln w="12700" cap="flat" cmpd="sng" algn="ctr">
            <a:solidFill>
              <a:srgbClr val="E8A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1F42CA5-B5D4-0171-9177-FC191A1D758B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A95742-D651-1FB6-CF7D-84DA353D307C}"/>
              </a:ext>
            </a:extLst>
          </p:cNvPr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DC2004-EDBE-B484-5854-68F418A3E8DB}"/>
              </a:ext>
            </a:extLst>
          </p:cNvPr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Objectives</a:t>
            </a:r>
          </a:p>
        </p:txBody>
      </p:sp>
      <p:sp>
        <p:nvSpPr>
          <p:cNvPr id="25" name="RQ_Card">
            <a:extLst>
              <a:ext uri="{FF2B5EF4-FFF2-40B4-BE49-F238E27FC236}">
                <a16:creationId xmlns:a16="http://schemas.microsoft.com/office/drawing/2014/main" id="{2ABF7847-FDE6-3A4E-853E-1D6E7A7FAF1C}"/>
              </a:ext>
            </a:extLst>
          </p:cNvPr>
          <p:cNvSpPr/>
          <p:nvPr/>
        </p:nvSpPr>
        <p:spPr>
          <a:xfrm>
            <a:off x="254000" y="1130300"/>
            <a:ext cx="8636000" cy="12192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sz="2400" dirty="0">
                <a:solidFill>
                  <a:srgbClr val="404040"/>
                </a:solidFill>
                <a:latin typeface="Calibri"/>
                <a:cs typeface="Calibri"/>
              </a:rPr>
              <a:t>Is line movement </a:t>
            </a:r>
            <a:r>
              <a:rPr lang="en-US" sz="2400" b="1" dirty="0">
                <a:solidFill>
                  <a:srgbClr val="E8A020"/>
                </a:solidFill>
                <a:latin typeface="Calibri"/>
                <a:cs typeface="Calibri"/>
              </a:rPr>
              <a:t>conditionally independent</a:t>
            </a:r>
            <a:endParaRPr lang="en-US" sz="2400" b="1" dirty="0">
              <a:solidFill>
                <a:srgbClr val="404040"/>
              </a:solidFill>
              <a:latin typeface="Calibri"/>
              <a:cs typeface="Calibri"/>
            </a:endParaRPr>
          </a:p>
          <a:p>
            <a:pPr algn="ctr"/>
            <a:r>
              <a:rPr lang="en-US" sz="2400" dirty="0">
                <a:solidFill>
                  <a:srgbClr val="404040"/>
                </a:solidFill>
                <a:latin typeface="Calibri"/>
                <a:cs typeface="Calibri"/>
              </a:rPr>
              <a:t>of ATS outcome given game fundamentals?</a:t>
            </a:r>
          </a:p>
        </p:txBody>
      </p:sp>
      <p:sp>
        <p:nvSpPr>
          <p:cNvPr id="26" name="Obj_Bullets">
            <a:extLst>
              <a:ext uri="{FF2B5EF4-FFF2-40B4-BE49-F238E27FC236}">
                <a16:creationId xmlns:a16="http://schemas.microsoft.com/office/drawing/2014/main" id="{949A6856-D0F1-0948-8F81-5672588EFF47}"/>
              </a:ext>
            </a:extLst>
          </p:cNvPr>
          <p:cNvSpPr txBox="1"/>
          <p:nvPr/>
        </p:nvSpPr>
        <p:spPr>
          <a:xfrm>
            <a:off x="365760" y="2442904"/>
            <a:ext cx="8636000" cy="1255027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8A020"/>
                </a:solidFill>
                <a:latin typeface="Calibri"/>
                <a:cs typeface="Calibri"/>
              </a:rPr>
              <a:t>Objectives</a:t>
            </a:r>
          </a:p>
          <a:p>
            <a:pPr marL="228600" indent="-228600">
              <a:lnSpc>
                <a:spcPts val="2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404040"/>
                </a:solidFill>
                <a:latin typeface="Calibri"/>
                <a:cs typeface="Calibri"/>
              </a:rPr>
              <a:t>Test whether line movement is conditionally independent of ATS outcome given game fundamentals</a:t>
            </a:r>
          </a:p>
          <a:p>
            <a:pPr marL="228600" indent="-228600">
              <a:lnSpc>
                <a:spcPts val="2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404040"/>
                </a:solidFill>
                <a:latin typeface="Calibri"/>
                <a:cs typeface="Calibri"/>
              </a:rPr>
              <a:t>Isolate whether market signals add predictive information beyond game statistics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D797A4-7C30-864A-B4A4-5AC07DC16647}"/>
              </a:ext>
            </a:extLst>
          </p:cNvPr>
          <p:cNvSpPr/>
          <p:nvPr/>
        </p:nvSpPr>
        <p:spPr>
          <a:xfrm>
            <a:off x="254000" y="3759200"/>
            <a:ext cx="76200" cy="1168400"/>
          </a:xfrm>
          <a:prstGeom prst="rect">
            <a:avLst/>
          </a:prstGeom>
          <a:solidFill>
            <a:srgbClr val="E8A02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Answer_OneLiner">
            <a:extLst>
              <a:ext uri="{FF2B5EF4-FFF2-40B4-BE49-F238E27FC236}">
                <a16:creationId xmlns:a16="http://schemas.microsoft.com/office/drawing/2014/main" id="{737BCCF0-5CA2-4049-82E1-21D6E4C7722E}"/>
              </a:ext>
            </a:extLst>
          </p:cNvPr>
          <p:cNvSpPr txBox="1"/>
          <p:nvPr/>
        </p:nvSpPr>
        <p:spPr>
          <a:xfrm>
            <a:off x="508000" y="3860800"/>
            <a:ext cx="8229600" cy="1212215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0D1B2A"/>
                </a:solidFill>
                <a:latin typeface="Calibri"/>
                <a:cs typeface="Calibri"/>
              </a:rPr>
              <a:t>Our models proved that </a:t>
            </a:r>
            <a:r>
              <a:rPr lang="en-US" sz="1500" b="1" dirty="0">
                <a:solidFill>
                  <a:srgbClr val="E8A020"/>
                </a:solidFill>
                <a:latin typeface="Calibri"/>
                <a:cs typeface="Calibri"/>
              </a:rPr>
              <a:t>market signals</a:t>
            </a:r>
            <a:r>
              <a:rPr lang="en-US" sz="1500" b="1" dirty="0">
                <a:solidFill>
                  <a:srgbClr val="0D1B2A"/>
                </a:solidFill>
                <a:latin typeface="Calibri"/>
                <a:cs typeface="Calibri"/>
              </a:rPr>
              <a:t>:</a:t>
            </a:r>
          </a:p>
          <a:p>
            <a:pPr marL="285750" indent="-285750" algn="l">
              <a:spcBef>
                <a:spcPts val="300"/>
              </a:spcBef>
              <a:buClr>
                <a:srgbClr val="C0392B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Calibri"/>
                <a:cs typeface="Calibri"/>
              </a:rPr>
              <a:t>do NOT </a:t>
            </a:r>
            <a:r>
              <a:rPr lang="en-US" sz="1400" dirty="0">
                <a:solidFill>
                  <a:srgbClr val="0D1B2A"/>
                </a:solidFill>
                <a:latin typeface="Calibri"/>
                <a:cs typeface="Calibri"/>
              </a:rPr>
              <a:t>improve accuracy beyond game stats</a:t>
            </a:r>
          </a:p>
          <a:p>
            <a:pPr marL="285750" indent="-285750" algn="l">
              <a:spcBef>
                <a:spcPts val="300"/>
              </a:spcBef>
              <a:buClr>
                <a:srgbClr val="2E8B57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2E8B57"/>
                </a:solidFill>
                <a:latin typeface="Calibri"/>
                <a:cs typeface="Calibri"/>
              </a:rPr>
              <a:t>but they DO </a:t>
            </a:r>
            <a:r>
              <a:rPr lang="en-US" sz="1400" dirty="0">
                <a:solidFill>
                  <a:srgbClr val="0D1B2A"/>
                </a:solidFill>
                <a:latin typeface="Calibri"/>
                <a:cs typeface="Calibri"/>
              </a:rPr>
              <a:t>improve calibration</a:t>
            </a:r>
          </a:p>
        </p:txBody>
      </p:sp>
    </p:spTree>
    <p:extLst>
      <p:ext uri="{BB962C8B-B14F-4D97-AF65-F5344CB8AC3E}">
        <p14:creationId xmlns:p14="http://schemas.microsoft.com/office/powerpoint/2010/main" val="948695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8B6B9-46C4-86CC-4DE1-53177C69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5E03421-CA6B-1B22-E27A-21BA271D7750}"/>
              </a:ext>
            </a:extLst>
          </p:cNvPr>
          <p:cNvSpPr/>
          <p:nvPr/>
        </p:nvSpPr>
        <p:spPr>
          <a:xfrm>
            <a:off x="6096000" y="1130300"/>
            <a:ext cx="2766483" cy="3049058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A5FABE-2A78-51CE-04CC-EBF1B75FB27D}"/>
              </a:ext>
            </a:extLst>
          </p:cNvPr>
          <p:cNvSpPr/>
          <p:nvPr/>
        </p:nvSpPr>
        <p:spPr>
          <a:xfrm>
            <a:off x="3175000" y="1130300"/>
            <a:ext cx="2755900" cy="305435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04381F-DB86-4694-FA62-5E5F0E0DDE4C}"/>
              </a:ext>
            </a:extLst>
          </p:cNvPr>
          <p:cNvSpPr/>
          <p:nvPr/>
        </p:nvSpPr>
        <p:spPr>
          <a:xfrm>
            <a:off x="259291" y="1130300"/>
            <a:ext cx="2745318" cy="3049058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1F42CA5-B5D4-0171-9177-FC191A1D758B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A95742-D651-1FB6-CF7D-84DA353D307C}"/>
              </a:ext>
            </a:extLst>
          </p:cNvPr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DC2004-EDBE-B484-5854-68F418A3E8DB}"/>
              </a:ext>
            </a:extLst>
          </p:cNvPr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Gap in the Literature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2F089C-302C-F961-9DF0-F6A22CBBBC58}"/>
              </a:ext>
            </a:extLst>
          </p:cNvPr>
          <p:cNvSpPr/>
          <p:nvPr/>
        </p:nvSpPr>
        <p:spPr>
          <a:xfrm>
            <a:off x="254000" y="1130300"/>
            <a:ext cx="27559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GroupHeaderText_Group1">
            <a:extLst>
              <a:ext uri="{FF2B5EF4-FFF2-40B4-BE49-F238E27FC236}">
                <a16:creationId xmlns:a16="http://schemas.microsoft.com/office/drawing/2014/main" id="{ECC02653-D028-86D1-6FB7-697D031FBBBD}"/>
              </a:ext>
            </a:extLst>
          </p:cNvPr>
          <p:cNvSpPr txBox="1"/>
          <p:nvPr/>
        </p:nvSpPr>
        <p:spPr>
          <a:xfrm>
            <a:off x="254000" y="1130300"/>
            <a:ext cx="27559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BNs for Sports Prediction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B2C095-1942-FB66-7121-E3FA6D1B42C7}"/>
              </a:ext>
            </a:extLst>
          </p:cNvPr>
          <p:cNvSpPr txBox="1"/>
          <p:nvPr/>
        </p:nvSpPr>
        <p:spPr>
          <a:xfrm>
            <a:off x="381000" y="1587500"/>
            <a:ext cx="2501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endParaRPr lang="en-US" sz="1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A2B655-FD42-7837-E35E-BAA20709A2C2}"/>
              </a:ext>
            </a:extLst>
          </p:cNvPr>
          <p:cNvSpPr txBox="1"/>
          <p:nvPr/>
        </p:nvSpPr>
        <p:spPr>
          <a:xfrm>
            <a:off x="375709" y="1594909"/>
            <a:ext cx="2507191" cy="239712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en-US">
                <a:solidFill>
                  <a:srgbClr val="404040"/>
                </a:solidFill>
                <a:latin typeface="Calibri"/>
                <a:cs typeface="Calibri"/>
              </a:rPr>
              <a:t>Constantinou, Fenton &amp; Neil (2012–13): BN for soccer forecasting — game variables only, no market movement.</a:t>
            </a:r>
            <a:endParaRPr lang="en-US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C68221-78B2-AF38-C2F9-AD4B8291A4DF}"/>
              </a:ext>
            </a:extLst>
          </p:cNvPr>
          <p:cNvSpPr/>
          <p:nvPr/>
        </p:nvSpPr>
        <p:spPr>
          <a:xfrm>
            <a:off x="3175000" y="1130300"/>
            <a:ext cx="27559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GroupHeaderText_Group2">
            <a:extLst>
              <a:ext uri="{FF2B5EF4-FFF2-40B4-BE49-F238E27FC236}">
                <a16:creationId xmlns:a16="http://schemas.microsoft.com/office/drawing/2014/main" id="{DA92B316-C83D-57A8-C826-115753A83BBF}"/>
              </a:ext>
            </a:extLst>
          </p:cNvPr>
          <p:cNvSpPr txBox="1"/>
          <p:nvPr/>
        </p:nvSpPr>
        <p:spPr>
          <a:xfrm>
            <a:off x="3175000" y="1130300"/>
            <a:ext cx="27559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Stats + Odds Combined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0DF717-DDED-11EA-D17D-B21CC150AE4B}"/>
              </a:ext>
            </a:extLst>
          </p:cNvPr>
          <p:cNvSpPr txBox="1"/>
          <p:nvPr/>
        </p:nvSpPr>
        <p:spPr>
          <a:xfrm>
            <a:off x="3302000" y="1587500"/>
            <a:ext cx="2501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endParaRPr lang="en-US" sz="12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CCF0C0-068A-6BA2-999A-8351870D7DE4}"/>
              </a:ext>
            </a:extLst>
          </p:cNvPr>
          <p:cNvSpPr txBox="1"/>
          <p:nvPr/>
        </p:nvSpPr>
        <p:spPr>
          <a:xfrm>
            <a:off x="3302000" y="1600200"/>
            <a:ext cx="2501900" cy="184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en-US">
                <a:solidFill>
                  <a:srgbClr val="404040"/>
                </a:solidFill>
                <a:latin typeface="Calibri"/>
                <a:cs typeface="Calibri"/>
              </a:rPr>
              <a:t>Egidi, Pauli &amp; Torelli (2018): hierarchical Bayes blending odds — no conditional dependence structure.</a:t>
            </a:r>
            <a:endParaRPr lang="en-US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0A20A5-55E9-B100-6CFA-50AED3B99A3B}"/>
              </a:ext>
            </a:extLst>
          </p:cNvPr>
          <p:cNvSpPr/>
          <p:nvPr/>
        </p:nvSpPr>
        <p:spPr>
          <a:xfrm>
            <a:off x="6096000" y="1130300"/>
            <a:ext cx="27559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GroupHeaderText_Group3">
            <a:extLst>
              <a:ext uri="{FF2B5EF4-FFF2-40B4-BE49-F238E27FC236}">
                <a16:creationId xmlns:a16="http://schemas.microsoft.com/office/drawing/2014/main" id="{7A08DBE0-8AF4-2758-FABC-938D706FE12D}"/>
              </a:ext>
            </a:extLst>
          </p:cNvPr>
          <p:cNvSpPr txBox="1"/>
          <p:nvPr/>
        </p:nvSpPr>
        <p:spPr>
          <a:xfrm>
            <a:off x="6096000" y="1130300"/>
            <a:ext cx="27559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Market Efficiency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381AD6-C2D8-2F3C-2FAB-03E58226397E}"/>
              </a:ext>
            </a:extLst>
          </p:cNvPr>
          <p:cNvSpPr txBox="1"/>
          <p:nvPr/>
        </p:nvSpPr>
        <p:spPr>
          <a:xfrm>
            <a:off x="6223000" y="1587500"/>
            <a:ext cx="25019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endParaRPr lang="en-US" sz="12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010B7E-14D9-7D16-A3A7-B2761B1A587E}"/>
              </a:ext>
            </a:extLst>
          </p:cNvPr>
          <p:cNvSpPr txBox="1"/>
          <p:nvPr/>
        </p:nvSpPr>
        <p:spPr>
          <a:xfrm>
            <a:off x="6223000" y="1600200"/>
            <a:ext cx="2501900" cy="184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en-US">
                <a:solidFill>
                  <a:srgbClr val="404040"/>
                </a:solidFill>
                <a:latin typeface="Calibri"/>
                <a:cs typeface="Calibri"/>
              </a:rPr>
              <a:t>Simon (2024), Moskowitz (2021): line-movement efficiency — no game-stats integration.</a:t>
            </a:r>
            <a:endParaRPr lang="en-US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259EF-72AD-6CE0-6124-3FE0322388E7}"/>
              </a:ext>
            </a:extLst>
          </p:cNvPr>
          <p:cNvSpPr/>
          <p:nvPr/>
        </p:nvSpPr>
        <p:spPr>
          <a:xfrm>
            <a:off x="269875" y="4293658"/>
            <a:ext cx="8598959" cy="593725"/>
          </a:xfrm>
          <a:prstGeom prst="rect">
            <a:avLst/>
          </a:prstGeom>
          <a:solidFill>
            <a:srgbClr val="FBF3DF"/>
          </a:solidFill>
          <a:ln w="9525" cap="flat" cmpd="sng" algn="ctr">
            <a:solidFill>
              <a:srgbClr val="E0A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1ECF7EA-EF31-BE2B-B5BB-F83AA4E58938}"/>
              </a:ext>
            </a:extLst>
          </p:cNvPr>
          <p:cNvSpPr/>
          <p:nvPr/>
        </p:nvSpPr>
        <p:spPr>
          <a:xfrm>
            <a:off x="264583" y="4288366"/>
            <a:ext cx="24342" cy="593725"/>
          </a:xfrm>
          <a:prstGeom prst="rect">
            <a:avLst/>
          </a:prstGeom>
          <a:solidFill>
            <a:srgbClr val="E0A9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D25D1A-5288-EE90-4501-06C2A5FA609C}"/>
              </a:ext>
            </a:extLst>
          </p:cNvPr>
          <p:cNvSpPr txBox="1"/>
          <p:nvPr/>
        </p:nvSpPr>
        <p:spPr>
          <a:xfrm>
            <a:off x="457200" y="4421717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n-US" sz="1800" b="1">
                <a:solidFill>
                  <a:srgbClr val="E0A93D"/>
                </a:solidFill>
                <a:latin typeface="Calibri"/>
                <a:cs typeface="Calibri"/>
              </a:rPr>
              <a:t>GAP CONFIRMED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3D6678-9B47-1683-EB0D-69FA649AFA52}"/>
              </a:ext>
            </a:extLst>
          </p:cNvPr>
          <p:cNvSpPr txBox="1"/>
          <p:nvPr/>
        </p:nvSpPr>
        <p:spPr>
          <a:xfrm>
            <a:off x="457200" y="4546600"/>
            <a:ext cx="83058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 anchorCtr="0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7182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8B6B9-46C4-86CC-4DE1-53177C69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5E03421-CA6B-1B22-E27A-21BA271D7750}"/>
              </a:ext>
            </a:extLst>
          </p:cNvPr>
          <p:cNvSpPr/>
          <p:nvPr/>
        </p:nvSpPr>
        <p:spPr>
          <a:xfrm>
            <a:off x="4724400" y="1117600"/>
            <a:ext cx="4165600" cy="34163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A5FABE-2A78-51CE-04CC-EBF1B75FB27D}"/>
              </a:ext>
            </a:extLst>
          </p:cNvPr>
          <p:cNvSpPr/>
          <p:nvPr/>
        </p:nvSpPr>
        <p:spPr>
          <a:xfrm>
            <a:off x="254000" y="2933700"/>
            <a:ext cx="4318000" cy="16002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04381F-DB86-4694-FA62-5E5F0E0DDE4C}"/>
              </a:ext>
            </a:extLst>
          </p:cNvPr>
          <p:cNvSpPr/>
          <p:nvPr/>
        </p:nvSpPr>
        <p:spPr>
          <a:xfrm>
            <a:off x="254000" y="1130300"/>
            <a:ext cx="4318000" cy="16002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1F42CA5-B5D4-0171-9177-FC191A1D758B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A95742-D651-1FB6-CF7D-84DA353D307C}"/>
              </a:ext>
            </a:extLst>
          </p:cNvPr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DC2004-EDBE-B484-5854-68F418A3E8DB}"/>
              </a:ext>
            </a:extLst>
          </p:cNvPr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Methodology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2F089C-302C-F961-9DF0-F6A22CBBBC58}"/>
              </a:ext>
            </a:extLst>
          </p:cNvPr>
          <p:cNvSpPr/>
          <p:nvPr/>
        </p:nvSpPr>
        <p:spPr>
          <a:xfrm>
            <a:off x="254000" y="1130300"/>
            <a:ext cx="4318000" cy="3556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GroupHeaderText_Group1">
            <a:extLst>
              <a:ext uri="{FF2B5EF4-FFF2-40B4-BE49-F238E27FC236}">
                <a16:creationId xmlns:a16="http://schemas.microsoft.com/office/drawing/2014/main" id="{ECC02653-D028-86D1-6FB7-697D031FBBBD}"/>
              </a:ext>
            </a:extLst>
          </p:cNvPr>
          <p:cNvSpPr txBox="1"/>
          <p:nvPr/>
        </p:nvSpPr>
        <p:spPr>
          <a:xfrm>
            <a:off x="254000" y="1130300"/>
            <a:ext cx="431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Calibri"/>
                <a:cs typeface="Calibri"/>
              </a:rPr>
              <a:t>MODEL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B2C095-1942-FB66-7121-E3FA6D1B42C7}"/>
              </a:ext>
            </a:extLst>
          </p:cNvPr>
          <p:cNvSpPr txBox="1"/>
          <p:nvPr/>
        </p:nvSpPr>
        <p:spPr>
          <a:xfrm>
            <a:off x="381000" y="1587500"/>
            <a:ext cx="4089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1100">
                <a:solidFill>
                  <a:srgbClr val="404040"/>
                </a:solidFill>
                <a:latin typeface="Calibri"/>
                <a:cs typeface="Calibri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A2B655-FD42-7837-E35E-BAA20709A2C2}"/>
              </a:ext>
            </a:extLst>
          </p:cNvPr>
          <p:cNvSpPr txBox="1"/>
          <p:nvPr/>
        </p:nvSpPr>
        <p:spPr>
          <a:xfrm>
            <a:off x="381000" y="1524000"/>
            <a:ext cx="40894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171450" indent="-171450">
              <a:lnSpc>
                <a:spcPts val="1755"/>
              </a:lnSpc>
              <a:spcAft>
                <a:spcPts val="300"/>
              </a:spcAft>
              <a:buFont typeface="Arial"/>
              <a:buChar char="•"/>
            </a:pPr>
            <a:r>
              <a:rPr lang="en-US" sz="1300">
                <a:solidFill>
                  <a:srgbClr val="404040"/>
                </a:solidFill>
                <a:latin typeface="Calibri"/>
                <a:cs typeface="Calibri"/>
              </a:rPr>
              <a:t>Naive Bayes baseline — all features independent</a:t>
            </a:r>
          </a:p>
          <a:p>
            <a:pPr marL="171450" indent="-171450">
              <a:lnSpc>
                <a:spcPts val="1755"/>
              </a:lnSpc>
              <a:spcAft>
                <a:spcPts val="300"/>
              </a:spcAft>
              <a:buFont typeface="Arial"/>
              <a:buChar char="•"/>
            </a:pPr>
            <a:r>
              <a:rPr lang="en-US" sz="1300">
                <a:solidFill>
                  <a:srgbClr val="404040"/>
                </a:solidFill>
                <a:latin typeface="Calibri"/>
                <a:cs typeface="Calibri"/>
              </a:rPr>
              <a:t>Hill Climbing BN — score-based learning</a:t>
            </a:r>
          </a:p>
          <a:p>
            <a:pPr marL="171450" indent="-171450">
              <a:lnSpc>
                <a:spcPts val="1755"/>
              </a:lnSpc>
              <a:spcAft>
                <a:spcPts val="300"/>
              </a:spcAft>
              <a:buFont typeface="Arial"/>
              <a:buChar char="•"/>
            </a:pPr>
            <a:r>
              <a:rPr lang="en-US" sz="1300">
                <a:solidFill>
                  <a:srgbClr val="404040"/>
                </a:solidFill>
                <a:latin typeface="Calibri"/>
                <a:cs typeface="Calibri"/>
              </a:rPr>
              <a:t>PC Algorithm BN — constraint-based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C68221-78B2-AF38-C2F9-AD4B8291A4DF}"/>
              </a:ext>
            </a:extLst>
          </p:cNvPr>
          <p:cNvSpPr/>
          <p:nvPr/>
        </p:nvSpPr>
        <p:spPr>
          <a:xfrm>
            <a:off x="254000" y="2933700"/>
            <a:ext cx="4318000" cy="3556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GroupHeaderText_Group2">
            <a:extLst>
              <a:ext uri="{FF2B5EF4-FFF2-40B4-BE49-F238E27FC236}">
                <a16:creationId xmlns:a16="http://schemas.microsoft.com/office/drawing/2014/main" id="{DA92B316-C83D-57A8-C826-115753A83BBF}"/>
              </a:ext>
            </a:extLst>
          </p:cNvPr>
          <p:cNvSpPr txBox="1"/>
          <p:nvPr/>
        </p:nvSpPr>
        <p:spPr>
          <a:xfrm>
            <a:off x="254000" y="2933700"/>
            <a:ext cx="431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Calibri"/>
                <a:cs typeface="Calibri"/>
              </a:rPr>
              <a:t>EVALUATION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0DF717-DDED-11EA-D17D-B21CC150AE4B}"/>
              </a:ext>
            </a:extLst>
          </p:cNvPr>
          <p:cNvSpPr txBox="1"/>
          <p:nvPr/>
        </p:nvSpPr>
        <p:spPr>
          <a:xfrm>
            <a:off x="381000" y="3390900"/>
            <a:ext cx="4089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1100">
                <a:solidFill>
                  <a:srgbClr val="404040"/>
                </a:solidFill>
                <a:latin typeface="Calibri"/>
                <a:cs typeface="Calibri"/>
              </a:rPr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CCF0C0-068A-6BA2-999A-8351870D7DE4}"/>
              </a:ext>
            </a:extLst>
          </p:cNvPr>
          <p:cNvSpPr txBox="1"/>
          <p:nvPr/>
        </p:nvSpPr>
        <p:spPr>
          <a:xfrm>
            <a:off x="381000" y="3429000"/>
            <a:ext cx="40894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171450" indent="-171450">
              <a:lnSpc>
                <a:spcPts val="1755"/>
              </a:lnSpc>
              <a:spcAft>
                <a:spcPts val="300"/>
              </a:spcAft>
              <a:buFont typeface="Arial"/>
              <a:buChar char="•"/>
            </a:pPr>
            <a:r>
              <a:rPr lang="en-US" sz="1300">
                <a:solidFill>
                  <a:srgbClr val="404040"/>
                </a:solidFill>
                <a:latin typeface="Calibri"/>
                <a:cs typeface="Calibri"/>
              </a:rPr>
              <a:t>Accuracy — hard prediction performance</a:t>
            </a:r>
          </a:p>
          <a:p>
            <a:pPr marL="171450" indent="-171450">
              <a:lnSpc>
                <a:spcPts val="1755"/>
              </a:lnSpc>
              <a:spcAft>
                <a:spcPts val="300"/>
              </a:spcAft>
              <a:buFont typeface="Arial"/>
              <a:buChar char="•"/>
            </a:pPr>
            <a:r>
              <a:rPr lang="en-US" sz="1300">
                <a:solidFill>
                  <a:srgbClr val="404040"/>
                </a:solidFill>
                <a:latin typeface="Calibri"/>
                <a:cs typeface="Calibri"/>
              </a:rPr>
              <a:t>Log Loss — probability calibration</a:t>
            </a:r>
          </a:p>
          <a:p>
            <a:pPr marL="171450" indent="-171450">
              <a:lnSpc>
                <a:spcPts val="1755"/>
              </a:lnSpc>
              <a:spcAft>
                <a:spcPts val="300"/>
              </a:spcAft>
              <a:buFont typeface="Arial"/>
              <a:buChar char="•"/>
            </a:pPr>
            <a:r>
              <a:rPr lang="en-US" sz="1300">
                <a:solidFill>
                  <a:srgbClr val="404040"/>
                </a:solidFill>
                <a:latin typeface="Calibri"/>
                <a:cs typeface="Calibri"/>
              </a:rPr>
              <a:t>Target: Cover / Loss / Push (3-class)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0A20A5-55E9-B100-6CFA-50AED3B99A3B}"/>
              </a:ext>
            </a:extLst>
          </p:cNvPr>
          <p:cNvSpPr/>
          <p:nvPr/>
        </p:nvSpPr>
        <p:spPr>
          <a:xfrm>
            <a:off x="4724400" y="1117600"/>
            <a:ext cx="41656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GroupHeaderText_Group3">
            <a:extLst>
              <a:ext uri="{FF2B5EF4-FFF2-40B4-BE49-F238E27FC236}">
                <a16:creationId xmlns:a16="http://schemas.microsoft.com/office/drawing/2014/main" id="{7A08DBE0-8AF4-2758-FABC-938D706FE12D}"/>
              </a:ext>
            </a:extLst>
          </p:cNvPr>
          <p:cNvSpPr txBox="1"/>
          <p:nvPr/>
        </p:nvSpPr>
        <p:spPr>
          <a:xfrm>
            <a:off x="4724400" y="1117600"/>
            <a:ext cx="4165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ASSUMED CAUSAL STRUCTURE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744FD715-934E-CC4B-9D09-3DCFD102E173}"/>
              </a:ext>
            </a:extLst>
          </p:cNvPr>
          <p:cNvSpPr/>
          <p:nvPr/>
        </p:nvSpPr>
        <p:spPr>
          <a:xfrm>
            <a:off x="5816600" y="1600200"/>
            <a:ext cx="1981200" cy="508000"/>
          </a:xfrm>
          <a:prstGeom prst="roundRect">
            <a:avLst/>
          </a:prstGeom>
          <a:solidFill>
            <a:srgbClr val="FBF1DA"/>
          </a:solidFill>
          <a:ln w="19050" cap="flat" cmpd="sng" algn="ctr">
            <a:solidFill>
              <a:srgbClr val="E8A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sz="1200" b="1">
                <a:solidFill>
                  <a:srgbClr val="0D1B2A"/>
                </a:solidFill>
                <a:latin typeface="Calibri"/>
                <a:cs typeface="Calibri"/>
              </a:rPr>
              <a:t>Game fundamentals</a:t>
            </a:r>
          </a:p>
          <a:p>
            <a:pPr algn="ctr"/>
            <a:r>
              <a:rPr lang="en-US" sz="900" i="1">
                <a:solidFill>
                  <a:srgbClr val="6B7280"/>
                </a:solidFill>
                <a:latin typeface="Calibri"/>
                <a:cs typeface="Calibri"/>
              </a:rPr>
              <a:t>EPA, TD, turnover, yards diff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39AC655-C931-A649-BD71-ECED069A4835}"/>
              </a:ext>
            </a:extLst>
          </p:cNvPr>
          <p:cNvSpPr/>
          <p:nvPr/>
        </p:nvSpPr>
        <p:spPr>
          <a:xfrm>
            <a:off x="5816600" y="2324100"/>
            <a:ext cx="1981200" cy="355600"/>
          </a:xfrm>
          <a:prstGeom prst="roundRect">
            <a:avLst/>
          </a:prstGeom>
          <a:solidFill>
            <a:srgbClr val="DDEEEE"/>
          </a:solidFill>
          <a:ln w="19050" cap="flat" cmpd="sng" algn="ctr">
            <a:solidFill>
              <a:srgbClr val="2E8B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0D1B2A"/>
                </a:solidFill>
                <a:latin typeface="Calibri"/>
                <a:cs typeface="Calibri"/>
              </a:rPr>
              <a:t>Opening line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6FFB55F-8390-5349-BF0D-51BFDE98D8FA}"/>
              </a:ext>
            </a:extLst>
          </p:cNvPr>
          <p:cNvSpPr/>
          <p:nvPr/>
        </p:nvSpPr>
        <p:spPr>
          <a:xfrm>
            <a:off x="5816600" y="2895600"/>
            <a:ext cx="1981200" cy="355600"/>
          </a:xfrm>
          <a:prstGeom prst="roundRect">
            <a:avLst/>
          </a:prstGeom>
          <a:solidFill>
            <a:srgbClr val="DDEEEE"/>
          </a:solidFill>
          <a:ln w="19050" cap="flat" cmpd="sng" algn="ctr">
            <a:solidFill>
              <a:srgbClr val="2E8B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0D1B2A"/>
                </a:solidFill>
                <a:latin typeface="Calibri"/>
                <a:cs typeface="Calibri"/>
              </a:rPr>
              <a:t>Line movement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CE1F28E-1614-0C46-89FF-1025BFC904A2}"/>
              </a:ext>
            </a:extLst>
          </p:cNvPr>
          <p:cNvSpPr/>
          <p:nvPr/>
        </p:nvSpPr>
        <p:spPr>
          <a:xfrm>
            <a:off x="5816600" y="3467100"/>
            <a:ext cx="1981200" cy="355600"/>
          </a:xfrm>
          <a:prstGeom prst="roundRect">
            <a:avLst/>
          </a:prstGeom>
          <a:solidFill>
            <a:srgbClr val="DDEEEE"/>
          </a:solidFill>
          <a:ln w="19050" cap="flat" cmpd="sng" algn="ctr">
            <a:solidFill>
              <a:srgbClr val="2E8B8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0D1B2A"/>
                </a:solidFill>
                <a:latin typeface="Calibri"/>
                <a:cs typeface="Calibri"/>
              </a:rPr>
              <a:t>Closing line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625364AE-AE52-1149-B22E-53D41640973D}"/>
              </a:ext>
            </a:extLst>
          </p:cNvPr>
          <p:cNvSpPr/>
          <p:nvPr/>
        </p:nvSpPr>
        <p:spPr>
          <a:xfrm>
            <a:off x="5816600" y="4038600"/>
            <a:ext cx="1981200" cy="381000"/>
          </a:xfrm>
          <a:prstGeom prst="roundRect">
            <a:avLst/>
          </a:prstGeom>
          <a:solidFill>
            <a:srgbClr val="0D1B2A"/>
          </a:solidFill>
          <a:ln w="19050" cap="flat" cmpd="sng" algn="ctr">
            <a:solidFill>
              <a:srgbClr val="0D1B2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cs typeface="Calibri"/>
              </a:rPr>
              <a:t>ATS outcome</a:t>
            </a:r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A25C5F0D-765D-FB49-A4A8-A3D28E4C1E20}"/>
              </a:ext>
            </a:extLst>
          </p:cNvPr>
          <p:cNvSpPr/>
          <p:nvPr/>
        </p:nvSpPr>
        <p:spPr>
          <a:xfrm>
            <a:off x="6705600" y="2120900"/>
            <a:ext cx="203200" cy="190500"/>
          </a:xfrm>
          <a:prstGeom prst="downArrow">
            <a:avLst/>
          </a:prstGeom>
          <a:solidFill>
            <a:srgbClr val="0D1B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Down Arrow 29">
            <a:extLst>
              <a:ext uri="{FF2B5EF4-FFF2-40B4-BE49-F238E27FC236}">
                <a16:creationId xmlns:a16="http://schemas.microsoft.com/office/drawing/2014/main" id="{852DE35A-843B-BA40-A164-41908C63A059}"/>
              </a:ext>
            </a:extLst>
          </p:cNvPr>
          <p:cNvSpPr/>
          <p:nvPr/>
        </p:nvSpPr>
        <p:spPr>
          <a:xfrm>
            <a:off x="6705600" y="2692400"/>
            <a:ext cx="203200" cy="190500"/>
          </a:xfrm>
          <a:prstGeom prst="downArrow">
            <a:avLst/>
          </a:prstGeom>
          <a:solidFill>
            <a:srgbClr val="0D1B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6CBF1132-DE0C-284F-A1CD-F34C2A753279}"/>
              </a:ext>
            </a:extLst>
          </p:cNvPr>
          <p:cNvSpPr/>
          <p:nvPr/>
        </p:nvSpPr>
        <p:spPr>
          <a:xfrm>
            <a:off x="6705600" y="3263900"/>
            <a:ext cx="203200" cy="190500"/>
          </a:xfrm>
          <a:prstGeom prst="downArrow">
            <a:avLst/>
          </a:prstGeom>
          <a:solidFill>
            <a:srgbClr val="0D1B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B7BC1E98-575B-2340-8B08-CB55EB0524C3}"/>
              </a:ext>
            </a:extLst>
          </p:cNvPr>
          <p:cNvSpPr/>
          <p:nvPr/>
        </p:nvSpPr>
        <p:spPr>
          <a:xfrm>
            <a:off x="6705600" y="3835400"/>
            <a:ext cx="203200" cy="190500"/>
          </a:xfrm>
          <a:prstGeom prst="downArrow">
            <a:avLst/>
          </a:prstGeom>
          <a:solidFill>
            <a:srgbClr val="0D1B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Down Arrow 32">
            <a:extLst>
              <a:ext uri="{FF2B5EF4-FFF2-40B4-BE49-F238E27FC236}">
                <a16:creationId xmlns:a16="http://schemas.microsoft.com/office/drawing/2014/main" id="{4485F529-1CA5-A24D-AC8F-F094637F2EFC}"/>
              </a:ext>
            </a:extLst>
          </p:cNvPr>
          <p:cNvSpPr/>
          <p:nvPr/>
        </p:nvSpPr>
        <p:spPr>
          <a:xfrm>
            <a:off x="7924800" y="3073400"/>
            <a:ext cx="177800" cy="1270000"/>
          </a:xfrm>
          <a:prstGeom prst="downArrow">
            <a:avLst/>
          </a:prstGeom>
          <a:solidFill>
            <a:srgbClr val="DDEEEE"/>
          </a:solidFill>
          <a:ln w="22225">
            <a:solidFill>
              <a:srgbClr val="2E8B8B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453C4-DCC1-AE44-8C51-61823D6DC07A}"/>
              </a:ext>
            </a:extLst>
          </p:cNvPr>
          <p:cNvSpPr txBox="1"/>
          <p:nvPr/>
        </p:nvSpPr>
        <p:spPr>
          <a:xfrm>
            <a:off x="8128000" y="3175000"/>
            <a:ext cx="7366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0D1B2A"/>
                </a:solidFill>
                <a:latin typeface="Calibri"/>
                <a:cs typeface="Calibri"/>
              </a:rPr>
              <a:t>research question — direct effect?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02AB57-FD1E-5A46-9D7F-8B5644761676}"/>
              </a:ext>
            </a:extLst>
          </p:cNvPr>
          <p:cNvSpPr/>
          <p:nvPr/>
        </p:nvSpPr>
        <p:spPr>
          <a:xfrm>
            <a:off x="254000" y="4673600"/>
            <a:ext cx="8636000" cy="330200"/>
          </a:xfrm>
          <a:prstGeom prst="rect">
            <a:avLst/>
          </a:prstGeom>
          <a:solidFill>
            <a:srgbClr val="F0F2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65E6E8E-F735-3F4D-81C0-0BBC04525BF3}"/>
              </a:ext>
            </a:extLst>
          </p:cNvPr>
          <p:cNvSpPr/>
          <p:nvPr/>
        </p:nvSpPr>
        <p:spPr>
          <a:xfrm>
            <a:off x="254000" y="4673600"/>
            <a:ext cx="50800" cy="330200"/>
          </a:xfrm>
          <a:prstGeom prst="rect">
            <a:avLst/>
          </a:prstGeom>
          <a:solidFill>
            <a:srgbClr val="E8A02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CC78F4-5806-7740-A765-20EAA64227E4}"/>
              </a:ext>
            </a:extLst>
          </p:cNvPr>
          <p:cNvSpPr txBox="1"/>
          <p:nvPr/>
        </p:nvSpPr>
        <p:spPr>
          <a:xfrm>
            <a:off x="431800" y="4686300"/>
            <a:ext cx="84582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dirty="0">
                <a:solidFill>
                  <a:srgbClr val="0D1B2A"/>
                </a:solidFill>
                <a:latin typeface="Calibri"/>
                <a:cs typeface="Calibri"/>
              </a:rPr>
              <a:t>Ablation: 3 feature sets (Stats · Market · Combined) × 3 models (NB · HC · PC) = 9 configurations, each scored on accuracy and log loss.</a:t>
            </a:r>
          </a:p>
        </p:txBody>
      </p:sp>
    </p:spTree>
    <p:extLst>
      <p:ext uri="{BB962C8B-B14F-4D97-AF65-F5344CB8AC3E}">
        <p14:creationId xmlns:p14="http://schemas.microsoft.com/office/powerpoint/2010/main" val="164706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D7FBD6E-E676-9648-B219-6F13BD5A1A2E}"/>
              </a:ext>
            </a:extLst>
          </p:cNvPr>
          <p:cNvSpPr/>
          <p:nvPr/>
        </p:nvSpPr>
        <p:spPr>
          <a:xfrm>
            <a:off x="0" y="0"/>
            <a:ext cx="9144000" cy="965200"/>
          </a:xfrm>
          <a:prstGeom prst="rect">
            <a:avLst/>
          </a:prstGeom>
          <a:solidFill>
            <a:srgbClr val="0D1B2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E632801-6A74-E044-AA74-3E109BF7585C}"/>
              </a:ext>
            </a:extLst>
          </p:cNvPr>
          <p:cNvSpPr/>
          <p:nvPr/>
        </p:nvSpPr>
        <p:spPr>
          <a:xfrm>
            <a:off x="0" y="965200"/>
            <a:ext cx="9144000" cy="63500"/>
          </a:xfrm>
          <a:prstGeom prst="rect">
            <a:avLst/>
          </a:prstGeom>
          <a:solidFill>
            <a:srgbClr val="E8A02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D235CE1-FCE0-D847-AE97-94C1BEF27F9B}"/>
              </a:ext>
            </a:extLst>
          </p:cNvPr>
          <p:cNvSpPr txBox="1"/>
          <p:nvPr/>
        </p:nvSpPr>
        <p:spPr>
          <a:xfrm>
            <a:off x="368300" y="139700"/>
            <a:ext cx="84074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The Result Is Not What You'd Expect</a:t>
            </a:r>
          </a:p>
        </p:txBody>
      </p:sp>
      <p:sp>
        <p:nvSpPr>
          <p:cNvPr id="5" name="LeftPanel">
            <a:extLst>
              <a:ext uri="{FF2B5EF4-FFF2-40B4-BE49-F238E27FC236}">
                <a16:creationId xmlns:a16="http://schemas.microsoft.com/office/drawing/2014/main" id="{DED618A9-E7A3-B448-A525-6D5F938FA9D7}"/>
              </a:ext>
            </a:extLst>
          </p:cNvPr>
          <p:cNvSpPr/>
          <p:nvPr/>
        </p:nvSpPr>
        <p:spPr>
          <a:xfrm>
            <a:off x="254000" y="1168400"/>
            <a:ext cx="4191000" cy="3327400"/>
          </a:xfrm>
          <a:prstGeom prst="rect">
            <a:avLst/>
          </a:prstGeom>
          <a:solidFill>
            <a:srgbClr val="FBF7EE"/>
          </a:solidFill>
          <a:ln w="25400" cap="flat" cmpd="sng" algn="ctr">
            <a:solidFill>
              <a:srgbClr val="E8A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ightPanel">
            <a:extLst>
              <a:ext uri="{FF2B5EF4-FFF2-40B4-BE49-F238E27FC236}">
                <a16:creationId xmlns:a16="http://schemas.microsoft.com/office/drawing/2014/main" id="{2BD7CD01-1792-0D43-BBB8-FEEC51975F7C}"/>
              </a:ext>
            </a:extLst>
          </p:cNvPr>
          <p:cNvSpPr/>
          <p:nvPr/>
        </p:nvSpPr>
        <p:spPr>
          <a:xfrm>
            <a:off x="4699000" y="1168400"/>
            <a:ext cx="4191000" cy="3327400"/>
          </a:xfrm>
          <a:prstGeom prst="rect">
            <a:avLst/>
          </a:prstGeom>
          <a:solidFill>
            <a:srgbClr val="EEF8F2"/>
          </a:solidFill>
          <a:ln w="25400" cap="flat" cmpd="sng" algn="ctr">
            <a:solidFill>
              <a:srgbClr val="4CAF7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4B8F75-0EA5-C847-B8D5-4C63C8A057F9}"/>
              </a:ext>
            </a:extLst>
          </p:cNvPr>
          <p:cNvSpPr txBox="1"/>
          <p:nvPr/>
        </p:nvSpPr>
        <p:spPr>
          <a:xfrm>
            <a:off x="457200" y="1320800"/>
            <a:ext cx="37846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b="1">
                <a:solidFill>
                  <a:srgbClr val="5A6675"/>
                </a:solidFill>
                <a:latin typeface="Calibri"/>
                <a:cs typeface="Calibri"/>
              </a:rPr>
              <a:t>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6FE2B7-97CD-4B4E-A69A-0922CFD97C5F}"/>
              </a:ext>
            </a:extLst>
          </p:cNvPr>
          <p:cNvSpPr txBox="1"/>
          <p:nvPr/>
        </p:nvSpPr>
        <p:spPr>
          <a:xfrm>
            <a:off x="457200" y="1574800"/>
            <a:ext cx="37846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000" b="1">
                <a:solidFill>
                  <a:srgbClr val="B8860B"/>
                </a:solidFill>
                <a:latin typeface="Calibri"/>
                <a:cs typeface="Calibri"/>
              </a:rPr>
              <a:t>Market signals HURT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4A002-10B7-324E-A7D3-C382D7B1C905}"/>
              </a:ext>
            </a:extLst>
          </p:cNvPr>
          <p:cNvSpPr txBox="1"/>
          <p:nvPr/>
        </p:nvSpPr>
        <p:spPr>
          <a:xfrm>
            <a:off x="457200" y="2057400"/>
            <a:ext cx="37846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4000" b="1">
                <a:solidFill>
                  <a:srgbClr val="E8A020"/>
                </a:solidFill>
                <a:latin typeface="Calibri"/>
                <a:cs typeface="Calibri"/>
              </a:rPr>
              <a:t>84.1%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4394D-F360-9A4D-8F9A-C7EEEA502C71}"/>
              </a:ext>
            </a:extLst>
          </p:cNvPr>
          <p:cNvSpPr txBox="1"/>
          <p:nvPr/>
        </p:nvSpPr>
        <p:spPr>
          <a:xfrm>
            <a:off x="457200" y="2616200"/>
            <a:ext cx="37846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b="1">
                <a:solidFill>
                  <a:srgbClr val="5A6675"/>
                </a:solidFill>
                <a:latin typeface="Calibri"/>
                <a:cs typeface="Calibri"/>
              </a:rPr>
              <a:t>Stats-only Naive Bayes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398F3-E727-E947-A904-2BEF2BF5AB9A}"/>
              </a:ext>
            </a:extLst>
          </p:cNvPr>
          <p:cNvSpPr txBox="1"/>
          <p:nvPr/>
        </p:nvSpPr>
        <p:spPr>
          <a:xfrm>
            <a:off x="457200" y="2997200"/>
            <a:ext cx="37846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3000" b="1">
                <a:solidFill>
                  <a:srgbClr val="5A6675"/>
                </a:solidFill>
                <a:latin typeface="Calibri"/>
                <a:cs typeface="Calibri"/>
              </a:rPr>
              <a:t>81.0%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4EB889-A9C2-024F-B3A2-1A4F7BE17394}"/>
              </a:ext>
            </a:extLst>
          </p:cNvPr>
          <p:cNvSpPr txBox="1"/>
          <p:nvPr/>
        </p:nvSpPr>
        <p:spPr>
          <a:xfrm>
            <a:off x="457200" y="3454400"/>
            <a:ext cx="37846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b="1">
                <a:solidFill>
                  <a:srgbClr val="5A6675"/>
                </a:solidFill>
                <a:latin typeface="Calibri"/>
                <a:cs typeface="Calibri"/>
              </a:rPr>
              <a:t>Combined (stats + market)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C382D3-D751-0F4B-9647-8EAFEF3A3B1A}"/>
              </a:ext>
            </a:extLst>
          </p:cNvPr>
          <p:cNvSpPr txBox="1"/>
          <p:nvPr/>
        </p:nvSpPr>
        <p:spPr>
          <a:xfrm>
            <a:off x="457200" y="3835400"/>
            <a:ext cx="37846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 b="1">
                <a:solidFill>
                  <a:srgbClr val="1B2A3A"/>
                </a:solidFill>
                <a:latin typeface="Calibri"/>
                <a:cs typeface="Calibri"/>
              </a:rPr>
              <a:t>Adding market features lowers accuracy.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B1A09F-26E2-6343-94CF-9FBE8059A6CC}"/>
              </a:ext>
            </a:extLst>
          </p:cNvPr>
          <p:cNvSpPr txBox="1"/>
          <p:nvPr/>
        </p:nvSpPr>
        <p:spPr>
          <a:xfrm>
            <a:off x="4902200" y="1320800"/>
            <a:ext cx="37846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b="1">
                <a:solidFill>
                  <a:srgbClr val="5A6675"/>
                </a:solidFill>
                <a:latin typeface="Calibri"/>
                <a:cs typeface="Calibri"/>
              </a:rPr>
              <a:t>CALIBRATION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2F9A1B-3A17-FB4C-B8B8-7A876457BB32}"/>
              </a:ext>
            </a:extLst>
          </p:cNvPr>
          <p:cNvSpPr txBox="1"/>
          <p:nvPr/>
        </p:nvSpPr>
        <p:spPr>
          <a:xfrm>
            <a:off x="4902200" y="1574800"/>
            <a:ext cx="37846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000" b="1">
                <a:solidFill>
                  <a:srgbClr val="2E8B57"/>
                </a:solidFill>
                <a:latin typeface="Calibri"/>
                <a:cs typeface="Calibri"/>
              </a:rPr>
              <a:t>Market signals HELP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6E806F-6227-7D46-8144-982CCD406CCF}"/>
              </a:ext>
            </a:extLst>
          </p:cNvPr>
          <p:cNvSpPr txBox="1"/>
          <p:nvPr/>
        </p:nvSpPr>
        <p:spPr>
          <a:xfrm>
            <a:off x="4902200" y="2057400"/>
            <a:ext cx="37846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4000" b="1">
                <a:solidFill>
                  <a:srgbClr val="4CAF7D"/>
                </a:solidFill>
                <a:latin typeface="Calibri"/>
                <a:cs typeface="Calibri"/>
              </a:rPr>
              <a:t>0.345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8C112D-2CBC-5347-9CBA-0FB7E8B8BC94}"/>
              </a:ext>
            </a:extLst>
          </p:cNvPr>
          <p:cNvSpPr txBox="1"/>
          <p:nvPr/>
        </p:nvSpPr>
        <p:spPr>
          <a:xfrm>
            <a:off x="4902200" y="2616200"/>
            <a:ext cx="37846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b="1">
                <a:solidFill>
                  <a:srgbClr val="5A6675"/>
                </a:solidFill>
                <a:latin typeface="Calibri"/>
                <a:cs typeface="Calibri"/>
              </a:rPr>
              <a:t>Combined PC log loss (best)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2861E7-9E5C-694E-A822-E7EEDECACB38}"/>
              </a:ext>
            </a:extLst>
          </p:cNvPr>
          <p:cNvSpPr txBox="1"/>
          <p:nvPr/>
        </p:nvSpPr>
        <p:spPr>
          <a:xfrm>
            <a:off x="4902200" y="2997200"/>
            <a:ext cx="37846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3000" b="1">
                <a:solidFill>
                  <a:srgbClr val="5A6675"/>
                </a:solidFill>
                <a:latin typeface="Calibri"/>
                <a:cs typeface="Calibri"/>
              </a:rPr>
              <a:t>0.439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27C9C-A506-EC44-8844-0F3B9628FACD}"/>
              </a:ext>
            </a:extLst>
          </p:cNvPr>
          <p:cNvSpPr txBox="1"/>
          <p:nvPr/>
        </p:nvSpPr>
        <p:spPr>
          <a:xfrm>
            <a:off x="4902200" y="3454400"/>
            <a:ext cx="37846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b="1">
                <a:solidFill>
                  <a:srgbClr val="5A6675"/>
                </a:solidFill>
                <a:latin typeface="Calibri"/>
                <a:cs typeface="Calibri"/>
              </a:rPr>
              <a:t>Stats-only NB log loss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08E20A-7F97-C746-A902-0BD65D13825E}"/>
              </a:ext>
            </a:extLst>
          </p:cNvPr>
          <p:cNvSpPr txBox="1"/>
          <p:nvPr/>
        </p:nvSpPr>
        <p:spPr>
          <a:xfrm>
            <a:off x="4902200" y="3835400"/>
            <a:ext cx="378460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400" b="1">
                <a:solidFill>
                  <a:srgbClr val="1B2A3A"/>
                </a:solidFill>
                <a:latin typeface="Calibri"/>
                <a:cs typeface="Calibri"/>
              </a:rPr>
              <a:t>Adding market features improves calibration.</a:t>
            </a:r>
          </a:p>
        </p:txBody>
      </p:sp>
      <p:sp>
        <p:nvSpPr>
          <p:cNvPr id="21" name="VsChip">
            <a:extLst>
              <a:ext uri="{FF2B5EF4-FFF2-40B4-BE49-F238E27FC236}">
                <a16:creationId xmlns:a16="http://schemas.microsoft.com/office/drawing/2014/main" id="{9B1D1D7C-6B81-8841-8A57-0B984AA38F46}"/>
              </a:ext>
            </a:extLst>
          </p:cNvPr>
          <p:cNvSpPr/>
          <p:nvPr/>
        </p:nvSpPr>
        <p:spPr>
          <a:xfrm>
            <a:off x="4368800" y="2667000"/>
            <a:ext cx="406400" cy="406400"/>
          </a:xfrm>
          <a:prstGeom prst="ellipse">
            <a:avLst/>
          </a:prstGeom>
          <a:solidFill>
            <a:srgbClr val="0D1B2A"/>
          </a:solidFill>
          <a:ln w="19050" cap="flat" cmpd="sng" algn="ctr">
            <a:solidFill>
              <a:srgbClr val="E8A02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Calibri"/>
                <a:cs typeface="Calibr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2715629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8B6B9-46C4-86CC-4DE1-53177C69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5E03421-CA6B-1B22-E27A-21BA271D7750}"/>
              </a:ext>
            </a:extLst>
          </p:cNvPr>
          <p:cNvSpPr/>
          <p:nvPr/>
        </p:nvSpPr>
        <p:spPr>
          <a:xfrm>
            <a:off x="4724400" y="1130300"/>
            <a:ext cx="4165600" cy="1905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04381F-DB86-4694-FA62-5E5F0E0DDE4C}"/>
              </a:ext>
            </a:extLst>
          </p:cNvPr>
          <p:cNvSpPr/>
          <p:nvPr/>
        </p:nvSpPr>
        <p:spPr>
          <a:xfrm>
            <a:off x="254000" y="1130300"/>
            <a:ext cx="4318000" cy="1905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1F42CA5-B5D4-0171-9177-FC191A1D758B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A95742-D651-1FB6-CF7D-84DA353D307C}"/>
              </a:ext>
            </a:extLst>
          </p:cNvPr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DC2004-EDBE-B484-5854-68F418A3E8DB}"/>
              </a:ext>
            </a:extLst>
          </p:cNvPr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Results: Accuracy vs. Calibration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2F089C-302C-F961-9DF0-F6A22CBBBC58}"/>
              </a:ext>
            </a:extLst>
          </p:cNvPr>
          <p:cNvSpPr/>
          <p:nvPr/>
        </p:nvSpPr>
        <p:spPr>
          <a:xfrm>
            <a:off x="254000" y="1130300"/>
            <a:ext cx="43180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GroupHeaderText_Group1">
            <a:extLst>
              <a:ext uri="{FF2B5EF4-FFF2-40B4-BE49-F238E27FC236}">
                <a16:creationId xmlns:a16="http://schemas.microsoft.com/office/drawing/2014/main" id="{ECC02653-D028-86D1-6FB7-697D031FBBBD}"/>
              </a:ext>
            </a:extLst>
          </p:cNvPr>
          <p:cNvSpPr txBox="1"/>
          <p:nvPr/>
        </p:nvSpPr>
        <p:spPr>
          <a:xfrm>
            <a:off x="254000" y="1130300"/>
            <a:ext cx="4318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B2C095-1942-FB66-7121-E3FA6D1B42C7}"/>
              </a:ext>
            </a:extLst>
          </p:cNvPr>
          <p:cNvSpPr txBox="1"/>
          <p:nvPr/>
        </p:nvSpPr>
        <p:spPr>
          <a:xfrm>
            <a:off x="381000" y="1494028"/>
            <a:ext cx="40894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4000" b="1" dirty="0">
                <a:solidFill>
                  <a:srgbClr val="E8A020"/>
                </a:solidFill>
                <a:latin typeface="Calibri"/>
                <a:cs typeface="Calibri"/>
              </a:rPr>
              <a:t>84.1%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A2B655-FD42-7837-E35E-BAA20709A2C2}"/>
              </a:ext>
            </a:extLst>
          </p:cNvPr>
          <p:cNvSpPr txBox="1"/>
          <p:nvPr/>
        </p:nvSpPr>
        <p:spPr>
          <a:xfrm>
            <a:off x="381000" y="2082800"/>
            <a:ext cx="4089400" cy="838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>
              <a:lnSpc>
                <a:spcPts val="1450"/>
              </a:lnSpc>
            </a:pPr>
            <a:r>
              <a:rPr lang="en-US" sz="1300" dirty="0">
                <a:solidFill>
                  <a:srgbClr val="404040"/>
                </a:solidFill>
                <a:latin typeface="Calibri"/>
                <a:cs typeface="Calibri"/>
              </a:rPr>
              <a:t>Stats-only Naive Bayes is the highest of any configuration. Adding market features lowers NB accuracy to 81.0%; both Bayesian Networks stay at or below the 58.0% majority baseline in every configuration.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0A20A5-55E9-B100-6CFA-50AED3B99A3B}"/>
              </a:ext>
            </a:extLst>
          </p:cNvPr>
          <p:cNvSpPr/>
          <p:nvPr/>
        </p:nvSpPr>
        <p:spPr>
          <a:xfrm>
            <a:off x="4724400" y="1130300"/>
            <a:ext cx="41656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GroupHeaderText_Group3">
            <a:extLst>
              <a:ext uri="{FF2B5EF4-FFF2-40B4-BE49-F238E27FC236}">
                <a16:creationId xmlns:a16="http://schemas.microsoft.com/office/drawing/2014/main" id="{7A08DBE0-8AF4-2758-FABC-938D706FE12D}"/>
              </a:ext>
            </a:extLst>
          </p:cNvPr>
          <p:cNvSpPr txBox="1"/>
          <p:nvPr/>
        </p:nvSpPr>
        <p:spPr>
          <a:xfrm>
            <a:off x="4724400" y="1130300"/>
            <a:ext cx="4165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CALIBRATION (LOG LOSS)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381AD6-C2D8-2F3C-2FAB-03E58226397E}"/>
              </a:ext>
            </a:extLst>
          </p:cNvPr>
          <p:cNvSpPr txBox="1"/>
          <p:nvPr/>
        </p:nvSpPr>
        <p:spPr>
          <a:xfrm>
            <a:off x="4851400" y="1455928"/>
            <a:ext cx="39116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4000" b="1" dirty="0">
                <a:solidFill>
                  <a:srgbClr val="E8A020"/>
                </a:solidFill>
                <a:latin typeface="Calibri"/>
                <a:cs typeface="Calibri"/>
              </a:rPr>
              <a:t>0.345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010B7E-14D9-7D16-A3A7-B2761B1A587E}"/>
              </a:ext>
            </a:extLst>
          </p:cNvPr>
          <p:cNvSpPr txBox="1"/>
          <p:nvPr/>
        </p:nvSpPr>
        <p:spPr>
          <a:xfrm>
            <a:off x="4851400" y="2078228"/>
            <a:ext cx="39116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>
              <a:lnSpc>
                <a:spcPts val="1700"/>
              </a:lnSpc>
            </a:pPr>
            <a:r>
              <a:rPr lang="en-US" sz="1400" dirty="0">
                <a:solidFill>
                  <a:srgbClr val="404040"/>
                </a:solidFill>
                <a:latin typeface="Calibri"/>
                <a:cs typeface="Calibri"/>
              </a:rPr>
              <a:t>Combined PC algorithm — best log loss of all nine runs. Market signals sharpen probabilities without changing hard predictions.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259EF-72AD-6CE0-6124-3FE0322388E7}"/>
              </a:ext>
            </a:extLst>
          </p:cNvPr>
          <p:cNvSpPr/>
          <p:nvPr/>
        </p:nvSpPr>
        <p:spPr>
          <a:xfrm>
            <a:off x="254000" y="4292600"/>
            <a:ext cx="8636000" cy="660400"/>
          </a:xfrm>
          <a:prstGeom prst="rect">
            <a:avLst/>
          </a:prstGeom>
          <a:solidFill>
            <a:srgbClr val="FBF3DF"/>
          </a:solidFill>
          <a:ln w="9525" cap="flat" cmpd="sng" algn="ctr">
            <a:solidFill>
              <a:srgbClr val="E0A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1ECF7EA-EF31-BE2B-B5BB-F83AA4E58938}"/>
              </a:ext>
            </a:extLst>
          </p:cNvPr>
          <p:cNvSpPr/>
          <p:nvPr/>
        </p:nvSpPr>
        <p:spPr>
          <a:xfrm>
            <a:off x="254000" y="4292600"/>
            <a:ext cx="50800" cy="660400"/>
          </a:xfrm>
          <a:prstGeom prst="rect">
            <a:avLst/>
          </a:prstGeom>
          <a:solidFill>
            <a:srgbClr val="E0A9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D25D1A-5288-EE90-4501-06C2A5FA609C}"/>
              </a:ext>
            </a:extLst>
          </p:cNvPr>
          <p:cNvSpPr txBox="1"/>
          <p:nvPr/>
        </p:nvSpPr>
        <p:spPr>
          <a:xfrm>
            <a:off x="457200" y="43561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 anchorCtr="0">
            <a:noAutofit/>
          </a:bodyPr>
          <a:lstStyle/>
          <a:p>
            <a:r>
              <a:rPr lang="en-US" sz="1800" b="1">
                <a:solidFill>
                  <a:srgbClr val="E0A93D"/>
                </a:solidFill>
                <a:latin typeface="Calibri"/>
                <a:cs typeface="Calibri"/>
              </a:rPr>
              <a:t>CENTRAL FINDING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F94E69-CA15-01B8-A118-ADC80E63E5C6}"/>
              </a:ext>
            </a:extLst>
          </p:cNvPr>
          <p:cNvSpPr txBox="1"/>
          <p:nvPr/>
        </p:nvSpPr>
        <p:spPr>
          <a:xfrm>
            <a:off x="457200" y="4660900"/>
            <a:ext cx="83058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t" anchorCtr="0">
            <a:noAutofit/>
          </a:bodyPr>
          <a:lstStyle/>
          <a:p>
            <a:r>
              <a:rPr lang="en-US" sz="1600" b="1">
                <a:solidFill>
                  <a:srgbClr val="1B3A5C"/>
                </a:solidFill>
                <a:latin typeface="Calibri"/>
                <a:cs typeface="Calibri"/>
              </a:rPr>
              <a:t>Market signals improve how certain the model is — not what it predicts.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00C05D94-8F25-3D44-BBFA-6D5EEA15FB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686563"/>
              </p:ext>
            </p:extLst>
          </p:nvPr>
        </p:nvGraphicFramePr>
        <p:xfrm>
          <a:off x="254000" y="3073400"/>
          <a:ext cx="8636000" cy="111760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23080594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57487863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92051616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36410045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57119037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78488334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11733539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Config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NB Acc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HC Acc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PC Acc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/>
                    <a:lnB w="0"/>
                    <a:lnTlToBr w="0"/>
                    <a:lnBlToTr w="0"/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NB Loss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/>
                    <a:lnB w="0">
                      <a:noFill/>
                    </a:lnB>
                    <a:lnTlToBr w="0"/>
                    <a:lnBlToTr w="0"/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HC Loss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/>
                    <a:lnB w="0">
                      <a:noFill/>
                    </a:lnB>
                    <a:lnTlToBr w="0"/>
                    <a:lnBlToTr w="0"/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PC Loss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>
                      <a:noFill/>
                    </a:lnB>
                    <a:lnTlToBr w="0"/>
                    <a:lnBlToTr w="0"/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1191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solidFill>
                            <a:srgbClr val="E8A020"/>
                          </a:solidFill>
                          <a:latin typeface="Calibri"/>
                          <a:cs typeface="Calibri"/>
                        </a:rPr>
                        <a:t>Stats-Only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1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84.1%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50.4%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50.4%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0.439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0.375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0.368</a:t>
                      </a:r>
                    </a:p>
                  </a:txBody>
                  <a:tcPr marT="0" marB="0" anchor="ctr">
                    <a:lnL w="0"/>
                    <a:lnR w="0"/>
                    <a:lnT w="0">
                      <a:noFill/>
                    </a:lnT>
                    <a:lnB w="0">
                      <a:noFill/>
                    </a:lnB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69521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solidFill>
                            <a:srgbClr val="2EC4B6"/>
                          </a:solidFill>
                          <a:latin typeface="Calibri"/>
                          <a:cs typeface="Calibri"/>
                        </a:rPr>
                        <a:t>Market-Only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56.4%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58.6%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58.6%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0.840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0.776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0.760</a:t>
                      </a:r>
                    </a:p>
                  </a:txBody>
                  <a:tcPr marT="0" marB="0" anchor="ctr">
                    <a:lnL w="0"/>
                    <a:lnR w="0"/>
                    <a:lnT w="0">
                      <a:noFill/>
                    </a:lnT>
                    <a:lnB w="0">
                      <a:noFill/>
                    </a:lnB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45312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1250" b="1">
                          <a:solidFill>
                            <a:srgbClr val="4CAF7D"/>
                          </a:solidFill>
                          <a:latin typeface="Calibri"/>
                          <a:cs typeface="Calibri"/>
                        </a:rPr>
                        <a:t>Combined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81.0%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50.4%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47.3%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0.538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>
                      <a:noFill/>
                    </a:lnT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0.375</a:t>
                      </a:r>
                    </a:p>
                  </a:txBody>
                  <a:tcPr marT="0" marB="0" anchor="ctr">
                    <a:lnL w="0"/>
                    <a:lnR w="0">
                      <a:noFill/>
                    </a:lnR>
                    <a:lnT w="0">
                      <a:noFill/>
                    </a:lnT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1">
                          <a:solidFill>
                            <a:srgbClr val="404040"/>
                          </a:solidFill>
                          <a:latin typeface="Calibri"/>
                          <a:cs typeface="Calibri"/>
                        </a:rPr>
                        <a:t>0.345</a:t>
                      </a:r>
                    </a:p>
                  </a:txBody>
                  <a:tcPr marT="0" marB="0" anchor="ctr">
                    <a:lnL w="0"/>
                    <a:lnR w="0"/>
                    <a:lnT w="0">
                      <a:noFill/>
                    </a:lnT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3300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7297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8B6B9-46C4-86CC-4DE1-53177C69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E066B11-8EF1-D764-B4ED-577CD274071A}"/>
              </a:ext>
            </a:extLst>
          </p:cNvPr>
          <p:cNvSpPr/>
          <p:nvPr/>
        </p:nvSpPr>
        <p:spPr>
          <a:xfrm>
            <a:off x="4699000" y="1579591"/>
            <a:ext cx="4191000" cy="232459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6BC4EC-7643-09D0-F98E-4CEFB11DC7F8}"/>
              </a:ext>
            </a:extLst>
          </p:cNvPr>
          <p:cNvSpPr/>
          <p:nvPr/>
        </p:nvSpPr>
        <p:spPr>
          <a:xfrm>
            <a:off x="254000" y="1557332"/>
            <a:ext cx="4191000" cy="232459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1F42CA5-B5D4-0171-9177-FC191A1D758B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A95742-D651-1FB6-CF7D-84DA353D307C}"/>
              </a:ext>
            </a:extLst>
          </p:cNvPr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DC2004-EDBE-B484-5854-68F418A3E8DB}"/>
              </a:ext>
            </a:extLst>
          </p:cNvPr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800" b="1">
                <a:solidFill>
                  <a:srgbClr val="FFFFFF"/>
                </a:solidFill>
                <a:latin typeface="Calibri"/>
                <a:cs typeface="Calibri"/>
              </a:rPr>
              <a:t>The Model Made a Causal Error — a Second Algorithm Caught 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259EF-72AD-6CE0-6124-3FE0322388E7}"/>
              </a:ext>
            </a:extLst>
          </p:cNvPr>
          <p:cNvSpPr/>
          <p:nvPr/>
        </p:nvSpPr>
        <p:spPr>
          <a:xfrm>
            <a:off x="254000" y="4572000"/>
            <a:ext cx="8636000" cy="406400"/>
          </a:xfrm>
          <a:prstGeom prst="rect">
            <a:avLst/>
          </a:prstGeom>
          <a:solidFill>
            <a:srgbClr val="FBF3DF"/>
          </a:solidFill>
          <a:ln w="9525" cap="flat" cmpd="sng" algn="ctr">
            <a:solidFill>
              <a:srgbClr val="E0A93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1ECF7EA-EF31-BE2B-B5BB-F83AA4E58938}"/>
              </a:ext>
            </a:extLst>
          </p:cNvPr>
          <p:cNvSpPr/>
          <p:nvPr/>
        </p:nvSpPr>
        <p:spPr>
          <a:xfrm>
            <a:off x="254000" y="4572000"/>
            <a:ext cx="50800" cy="406400"/>
          </a:xfrm>
          <a:prstGeom prst="rect">
            <a:avLst/>
          </a:prstGeom>
          <a:solidFill>
            <a:srgbClr val="E0A9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D25D1A-5288-EE90-4501-06C2A5FA609C}"/>
              </a:ext>
            </a:extLst>
          </p:cNvPr>
          <p:cNvSpPr txBox="1"/>
          <p:nvPr/>
        </p:nvSpPr>
        <p:spPr>
          <a:xfrm>
            <a:off x="431800" y="4635500"/>
            <a:ext cx="838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E0A93D"/>
                </a:solidFill>
                <a:latin typeface="Calibri"/>
                <a:cs typeface="Calibri"/>
              </a:rPr>
              <a:t>The algorithm made a causal error — and we caught it: </a:t>
            </a:r>
          </a:p>
          <a:p>
            <a:pPr>
              <a:buNone/>
            </a:pPr>
            <a:r>
              <a:rPr lang="en-US" sz="1200" dirty="0">
                <a:solidFill>
                  <a:srgbClr val="404040"/>
                </a:solidFill>
                <a:latin typeface="Calibri"/>
                <a:cs typeface="Calibri"/>
              </a:rPr>
              <a:t>domain knowledge flipped the edge, and a second, independent algorithm (PC) recovered the same direction on its own.</a:t>
            </a:r>
          </a:p>
        </p:txBody>
      </p:sp>
      <p:sp>
        <p:nvSpPr>
          <p:cNvPr id="27" name="HC_Caption">
            <a:extLst>
              <a:ext uri="{FF2B5EF4-FFF2-40B4-BE49-F238E27FC236}">
                <a16:creationId xmlns:a16="http://schemas.microsoft.com/office/drawing/2014/main" id="{B86BD227-66AC-F54F-8E3A-5B5D840F3503}"/>
              </a:ext>
            </a:extLst>
          </p:cNvPr>
          <p:cNvSpPr txBox="1"/>
          <p:nvPr/>
        </p:nvSpPr>
        <p:spPr>
          <a:xfrm>
            <a:off x="254000" y="4023761"/>
            <a:ext cx="4318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1100" dirty="0">
                <a:solidFill>
                  <a:srgbClr val="D14B4B"/>
                </a:solidFill>
                <a:latin typeface="Calibri"/>
                <a:cs typeface="Calibri"/>
              </a:rPr>
              <a:t>Hill Climbing learned </a:t>
            </a:r>
            <a:r>
              <a:rPr lang="en-US" sz="1100" dirty="0" err="1">
                <a:solidFill>
                  <a:srgbClr val="D14B4B"/>
                </a:solidFill>
                <a:latin typeface="Calibri"/>
                <a:cs typeface="Calibri"/>
              </a:rPr>
              <a:t>ats_result</a:t>
            </a:r>
            <a:r>
              <a:rPr lang="en-US" sz="1100" dirty="0">
                <a:solidFill>
                  <a:srgbClr val="D14B4B"/>
                </a:solidFill>
                <a:latin typeface="Calibri"/>
                <a:cs typeface="Calibri"/>
              </a:rPr>
              <a:t> → </a:t>
            </a:r>
            <a:r>
              <a:rPr lang="en-US" sz="1100" dirty="0" err="1">
                <a:solidFill>
                  <a:srgbClr val="D14B4B"/>
                </a:solidFill>
                <a:latin typeface="Calibri"/>
                <a:cs typeface="Calibri"/>
              </a:rPr>
              <a:t>epa_diff</a:t>
            </a:r>
            <a:r>
              <a:rPr lang="en-US" sz="1100" dirty="0">
                <a:solidFill>
                  <a:srgbClr val="D14B4B"/>
                </a:solidFill>
                <a:latin typeface="Calibri"/>
                <a:cs typeface="Calibri"/>
              </a:rPr>
              <a:t> — a betting outcome cannot cause the on-field play that produced it. Causally impossible.</a:t>
            </a:r>
          </a:p>
        </p:txBody>
      </p:sp>
      <p:sp>
        <p:nvSpPr>
          <p:cNvPr id="28" name="PC_Caption">
            <a:extLst>
              <a:ext uri="{FF2B5EF4-FFF2-40B4-BE49-F238E27FC236}">
                <a16:creationId xmlns:a16="http://schemas.microsoft.com/office/drawing/2014/main" id="{689CFB85-ABD2-3749-AE91-3261BA13C226}"/>
              </a:ext>
            </a:extLst>
          </p:cNvPr>
          <p:cNvSpPr txBox="1"/>
          <p:nvPr/>
        </p:nvSpPr>
        <p:spPr>
          <a:xfrm>
            <a:off x="4572000" y="3975100"/>
            <a:ext cx="4318000" cy="546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n-US" sz="1100" dirty="0">
                <a:solidFill>
                  <a:srgbClr val="4CAF7D"/>
                </a:solidFill>
                <a:latin typeface="Calibri"/>
                <a:cs typeface="Calibri"/>
              </a:rPr>
              <a:t>Run independently, the PC algorithm recovered epa_diff → ats_result on its own — with home_win_prob and close_spread as direct parents. Not confirmation bias: a second method found the same structure.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51E306-8DF5-8E4D-BDE9-2431C8E4C761}"/>
              </a:ext>
            </a:extLst>
          </p:cNvPr>
          <p:cNvSpPr/>
          <p:nvPr/>
        </p:nvSpPr>
        <p:spPr>
          <a:xfrm>
            <a:off x="254000" y="1168400"/>
            <a:ext cx="4191000" cy="330200"/>
          </a:xfrm>
          <a:prstGeom prst="rect">
            <a:avLst/>
          </a:prstGeom>
          <a:solidFill>
            <a:srgbClr val="D14B4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HILL CLIMBING — raw learned DAG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3F5C5D-41C5-A74C-8151-7F9C0BCEE790}"/>
              </a:ext>
            </a:extLst>
          </p:cNvPr>
          <p:cNvSpPr/>
          <p:nvPr/>
        </p:nvSpPr>
        <p:spPr>
          <a:xfrm>
            <a:off x="4699000" y="1168400"/>
            <a:ext cx="4191000" cy="330200"/>
          </a:xfrm>
          <a:prstGeom prst="rect">
            <a:avLst/>
          </a:prstGeom>
          <a:solidFill>
            <a:srgbClr val="4CAF7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PC ALGORITHM — independent result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C019E87-E955-402F-4AED-52E128B393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5065" y="1605379"/>
            <a:ext cx="3018869" cy="22573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8B25E53-78C7-3CD6-7F48-8F7C6F884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066" y="1640439"/>
            <a:ext cx="2969662" cy="221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30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8B6B9-46C4-86CC-4DE1-53177C69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5E03421-CA6B-1B22-E27A-21BA271D7750}"/>
              </a:ext>
            </a:extLst>
          </p:cNvPr>
          <p:cNvSpPr/>
          <p:nvPr/>
        </p:nvSpPr>
        <p:spPr>
          <a:xfrm>
            <a:off x="6096000" y="1130300"/>
            <a:ext cx="2755900" cy="3556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A5FABE-2A78-51CE-04CC-EBF1B75FB27D}"/>
              </a:ext>
            </a:extLst>
          </p:cNvPr>
          <p:cNvSpPr/>
          <p:nvPr/>
        </p:nvSpPr>
        <p:spPr>
          <a:xfrm>
            <a:off x="3175000" y="1130300"/>
            <a:ext cx="2755900" cy="3556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04381F-DB86-4694-FA62-5E5F0E0DDE4C}"/>
              </a:ext>
            </a:extLst>
          </p:cNvPr>
          <p:cNvSpPr/>
          <p:nvPr/>
        </p:nvSpPr>
        <p:spPr>
          <a:xfrm>
            <a:off x="254000" y="1130300"/>
            <a:ext cx="2755900" cy="3556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91F42CA5-B5D4-0171-9177-FC191A1D758B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A95742-D651-1FB6-CF7D-84DA353D307C}"/>
              </a:ext>
            </a:extLst>
          </p:cNvPr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DC2004-EDBE-B484-5854-68F418A3E8DB}"/>
              </a:ext>
            </a:extLst>
          </p:cNvPr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Implementation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2F089C-302C-F961-9DF0-F6A22CBBBC58}"/>
              </a:ext>
            </a:extLst>
          </p:cNvPr>
          <p:cNvSpPr/>
          <p:nvPr/>
        </p:nvSpPr>
        <p:spPr>
          <a:xfrm>
            <a:off x="254000" y="1130300"/>
            <a:ext cx="27559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GroupHeaderText_Group1">
            <a:extLst>
              <a:ext uri="{FF2B5EF4-FFF2-40B4-BE49-F238E27FC236}">
                <a16:creationId xmlns:a16="http://schemas.microsoft.com/office/drawing/2014/main" id="{ECC02653-D028-86D1-6FB7-697D031FBBBD}"/>
              </a:ext>
            </a:extLst>
          </p:cNvPr>
          <p:cNvSpPr txBox="1"/>
          <p:nvPr/>
        </p:nvSpPr>
        <p:spPr>
          <a:xfrm>
            <a:off x="254000" y="1130300"/>
            <a:ext cx="27559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DATA PIPELINE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A2B655-FD42-7837-E35E-BAA20709A2C2}"/>
              </a:ext>
            </a:extLst>
          </p:cNvPr>
          <p:cNvSpPr txBox="1"/>
          <p:nvPr/>
        </p:nvSpPr>
        <p:spPr>
          <a:xfrm>
            <a:off x="355600" y="1574800"/>
            <a:ext cx="2552700" cy="299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en-US" sz="1500" dirty="0" err="1">
                <a:solidFill>
                  <a:srgbClr val="404040"/>
                </a:solidFill>
                <a:latin typeface="Calibri"/>
                <a:cs typeface="Calibri"/>
              </a:rPr>
              <a:t>nflverse</a:t>
            </a: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 (game stats) + </a:t>
            </a:r>
            <a:r>
              <a:rPr lang="en-US" sz="1500" dirty="0" err="1">
                <a:solidFill>
                  <a:srgbClr val="404040"/>
                </a:solidFill>
                <a:latin typeface="Calibri"/>
                <a:cs typeface="Calibri"/>
              </a:rPr>
              <a:t>SportsBookReviewsOnline</a:t>
            </a: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 (market data)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3,990 games, 2007–2022, joined by season + matchup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Game Stats: EPA, TD, turnover, yards differentials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Market Signals: spread &amp; total movement, home win prob, rolling ATS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C68221-78B2-AF38-C2F9-AD4B8291A4DF}"/>
              </a:ext>
            </a:extLst>
          </p:cNvPr>
          <p:cNvSpPr/>
          <p:nvPr/>
        </p:nvSpPr>
        <p:spPr>
          <a:xfrm>
            <a:off x="3175000" y="1130300"/>
            <a:ext cx="27559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GroupHeaderText_Group2">
            <a:extLst>
              <a:ext uri="{FF2B5EF4-FFF2-40B4-BE49-F238E27FC236}">
                <a16:creationId xmlns:a16="http://schemas.microsoft.com/office/drawing/2014/main" id="{DA92B316-C83D-57A8-C826-115753A83BBF}"/>
              </a:ext>
            </a:extLst>
          </p:cNvPr>
          <p:cNvSpPr txBox="1"/>
          <p:nvPr/>
        </p:nvSpPr>
        <p:spPr>
          <a:xfrm>
            <a:off x="3175000" y="1130300"/>
            <a:ext cx="27559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MODELS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CCF0C0-068A-6BA2-999A-8351870D7DE4}"/>
              </a:ext>
            </a:extLst>
          </p:cNvPr>
          <p:cNvSpPr txBox="1"/>
          <p:nvPr/>
        </p:nvSpPr>
        <p:spPr>
          <a:xfrm>
            <a:off x="3276600" y="1574800"/>
            <a:ext cx="2552700" cy="299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171450" indent="-171450">
              <a:spcAft>
                <a:spcPts val="7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Gaussian Naive Bayes =&gt; continuous features, no discretization</a:t>
            </a:r>
          </a:p>
          <a:p>
            <a:pPr marL="171450" indent="-171450">
              <a:spcAft>
                <a:spcPts val="7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Hill Climbing BN +</a:t>
            </a:r>
            <a:b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</a:b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PC Algorithm BN =&gt; </a:t>
            </a:r>
            <a:b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</a:b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3-bin ordinal encoding</a:t>
            </a:r>
          </a:p>
          <a:p>
            <a:pPr marL="171450" indent="-171450">
              <a:spcAft>
                <a:spcPts val="7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80/20 train-test split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0A20A5-55E9-B100-6CFA-50AED3B99A3B}"/>
              </a:ext>
            </a:extLst>
          </p:cNvPr>
          <p:cNvSpPr/>
          <p:nvPr/>
        </p:nvSpPr>
        <p:spPr>
          <a:xfrm>
            <a:off x="6096000" y="1130300"/>
            <a:ext cx="27559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GroupHeaderText_Group3">
            <a:extLst>
              <a:ext uri="{FF2B5EF4-FFF2-40B4-BE49-F238E27FC236}">
                <a16:creationId xmlns:a16="http://schemas.microsoft.com/office/drawing/2014/main" id="{7A08DBE0-8AF4-2758-FABC-938D706FE12D}"/>
              </a:ext>
            </a:extLst>
          </p:cNvPr>
          <p:cNvSpPr txBox="1"/>
          <p:nvPr/>
        </p:nvSpPr>
        <p:spPr>
          <a:xfrm>
            <a:off x="6096000" y="1130300"/>
            <a:ext cx="27559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VALIDATION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010B7E-14D9-7D16-A3A7-B2761B1A587E}"/>
              </a:ext>
            </a:extLst>
          </p:cNvPr>
          <p:cNvSpPr txBox="1"/>
          <p:nvPr/>
        </p:nvSpPr>
        <p:spPr>
          <a:xfrm>
            <a:off x="6197600" y="1574800"/>
            <a:ext cx="2552700" cy="299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marL="171450" indent="-171450">
              <a:spcAft>
                <a:spcPts val="12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Dual-algorithm approach: HC and PC run independently and cross-checked</a:t>
            </a:r>
          </a:p>
          <a:p>
            <a:pPr marL="171450" indent="-171450">
              <a:spcAft>
                <a:spcPts val="12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HC reversed edge corrected via domain knowledge, confirmed by PC</a:t>
            </a:r>
          </a:p>
        </p:txBody>
      </p:sp>
    </p:spTree>
    <p:extLst>
      <p:ext uri="{BB962C8B-B14F-4D97-AF65-F5344CB8AC3E}">
        <p14:creationId xmlns:p14="http://schemas.microsoft.com/office/powerpoint/2010/main" val="818747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8B6B9-46C4-86CC-4DE1-53177C69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F42CA5-B5D4-0171-9177-FC191A1D758B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A95742-D651-1FB6-CF7D-84DA353D307C}"/>
              </a:ext>
            </a:extLst>
          </p:cNvPr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DC2004-EDBE-B484-5854-68F418A3E8DB}"/>
              </a:ext>
            </a:extLst>
          </p:cNvPr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Challenges &amp; Limitations</a:t>
            </a:r>
          </a:p>
        </p:txBody>
      </p:sp>
      <p:sp>
        <p:nvSpPr>
          <p:cNvPr id="25" name="ChalCard0">
            <a:extLst>
              <a:ext uri="{FF2B5EF4-FFF2-40B4-BE49-F238E27FC236}">
                <a16:creationId xmlns:a16="http://schemas.microsoft.com/office/drawing/2014/main" id="{EAE10F36-0347-CF4F-87BF-64C03D812CAB}"/>
              </a:ext>
            </a:extLst>
          </p:cNvPr>
          <p:cNvSpPr/>
          <p:nvPr/>
        </p:nvSpPr>
        <p:spPr>
          <a:xfrm>
            <a:off x="254000" y="1130300"/>
            <a:ext cx="4191000" cy="17526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E8A020"/>
                </a:solidFill>
                <a:latin typeface="Calibri"/>
                <a:cs typeface="Calibri"/>
              </a:rPr>
              <a:t>Retrospective Statistics</a:t>
            </a:r>
          </a:p>
          <a:p>
            <a:pPr>
              <a:lnSpc>
                <a:spcPts val="1550"/>
              </a:lnSpc>
            </a:pPr>
            <a:r>
              <a:rPr lang="en-US" sz="1600" dirty="0">
                <a:solidFill>
                  <a:srgbClr val="404040"/>
                </a:solidFill>
                <a:latin typeface="Calibri"/>
                <a:cs typeface="Calibri"/>
              </a:rPr>
              <a:t>EPA and other game stats are post-game measurements. Stats-only accuracy reflects information content, not pre-game predictive power.</a:t>
            </a:r>
          </a:p>
        </p:txBody>
      </p:sp>
      <p:sp>
        <p:nvSpPr>
          <p:cNvPr id="26" name="ChalStripe0">
            <a:extLst>
              <a:ext uri="{FF2B5EF4-FFF2-40B4-BE49-F238E27FC236}">
                <a16:creationId xmlns:a16="http://schemas.microsoft.com/office/drawing/2014/main" id="{A4226116-7103-A24C-94EF-FE61663FCB1D}"/>
              </a:ext>
            </a:extLst>
          </p:cNvPr>
          <p:cNvSpPr/>
          <p:nvPr/>
        </p:nvSpPr>
        <p:spPr>
          <a:xfrm>
            <a:off x="254000" y="1130300"/>
            <a:ext cx="50800" cy="1752600"/>
          </a:xfrm>
          <a:prstGeom prst="rect">
            <a:avLst/>
          </a:prstGeom>
          <a:solidFill>
            <a:srgbClr val="E0A9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halCard1">
            <a:extLst>
              <a:ext uri="{FF2B5EF4-FFF2-40B4-BE49-F238E27FC236}">
                <a16:creationId xmlns:a16="http://schemas.microsoft.com/office/drawing/2014/main" id="{2ACCF974-162E-CE4D-91A3-E43018F616A4}"/>
              </a:ext>
            </a:extLst>
          </p:cNvPr>
          <p:cNvSpPr/>
          <p:nvPr/>
        </p:nvSpPr>
        <p:spPr>
          <a:xfrm>
            <a:off x="4699000" y="1130300"/>
            <a:ext cx="4191000" cy="17526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E8A020"/>
                </a:solidFill>
                <a:latin typeface="Calibri"/>
                <a:cs typeface="Calibri"/>
              </a:rPr>
              <a:t>Discretization Penalty</a:t>
            </a:r>
          </a:p>
          <a:p>
            <a:pPr>
              <a:lnSpc>
                <a:spcPts val="1550"/>
              </a:lnSpc>
            </a:pPr>
            <a:r>
              <a:rPr lang="en-US" dirty="0">
                <a:solidFill>
                  <a:srgbClr val="404040"/>
                </a:solidFill>
                <a:latin typeface="Calibri"/>
                <a:cs typeface="Calibri"/>
              </a:rPr>
              <a:t>BNs require binning continuous features; magnitude information is lost. The main reason BNs trail Naive Bayes on accuracy.</a:t>
            </a:r>
          </a:p>
        </p:txBody>
      </p:sp>
      <p:sp>
        <p:nvSpPr>
          <p:cNvPr id="28" name="ChalStripe1">
            <a:extLst>
              <a:ext uri="{FF2B5EF4-FFF2-40B4-BE49-F238E27FC236}">
                <a16:creationId xmlns:a16="http://schemas.microsoft.com/office/drawing/2014/main" id="{5BC3B3BE-B53F-9C41-B34B-CA9F78109B30}"/>
              </a:ext>
            </a:extLst>
          </p:cNvPr>
          <p:cNvSpPr/>
          <p:nvPr/>
        </p:nvSpPr>
        <p:spPr>
          <a:xfrm>
            <a:off x="4699000" y="1130300"/>
            <a:ext cx="50800" cy="1752600"/>
          </a:xfrm>
          <a:prstGeom prst="rect">
            <a:avLst/>
          </a:prstGeom>
          <a:solidFill>
            <a:srgbClr val="E0A9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ChalCard2">
            <a:extLst>
              <a:ext uri="{FF2B5EF4-FFF2-40B4-BE49-F238E27FC236}">
                <a16:creationId xmlns:a16="http://schemas.microsoft.com/office/drawing/2014/main" id="{391E9DB8-14B3-5C46-B4BB-BFC8050B4A8D}"/>
              </a:ext>
            </a:extLst>
          </p:cNvPr>
          <p:cNvSpPr/>
          <p:nvPr/>
        </p:nvSpPr>
        <p:spPr>
          <a:xfrm>
            <a:off x="254000" y="3124200"/>
            <a:ext cx="4191000" cy="17526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E8A020"/>
                </a:solidFill>
                <a:latin typeface="Calibri"/>
                <a:cs typeface="Calibri"/>
              </a:rPr>
              <a:t>Class Imbalance</a:t>
            </a:r>
          </a:p>
          <a:p>
            <a:pPr>
              <a:lnSpc>
                <a:spcPts val="1550"/>
              </a:lnSpc>
            </a:pPr>
            <a:r>
              <a:rPr lang="en-US" sz="1600" dirty="0">
                <a:solidFill>
                  <a:srgbClr val="404040"/>
                </a:solidFill>
                <a:latin typeface="Calibri"/>
                <a:cs typeface="Calibri"/>
              </a:rPr>
              <a:t>Push is only 3.0% of the data. Neither BN ever predicts it; NB reaches just 22% F1 on the class.</a:t>
            </a:r>
          </a:p>
        </p:txBody>
      </p:sp>
      <p:sp>
        <p:nvSpPr>
          <p:cNvPr id="30" name="ChalStripe2">
            <a:extLst>
              <a:ext uri="{FF2B5EF4-FFF2-40B4-BE49-F238E27FC236}">
                <a16:creationId xmlns:a16="http://schemas.microsoft.com/office/drawing/2014/main" id="{1E3C69C5-3CB6-2A43-B143-9AF5C2C47C69}"/>
              </a:ext>
            </a:extLst>
          </p:cNvPr>
          <p:cNvSpPr/>
          <p:nvPr/>
        </p:nvSpPr>
        <p:spPr>
          <a:xfrm>
            <a:off x="254000" y="3124200"/>
            <a:ext cx="50800" cy="1752600"/>
          </a:xfrm>
          <a:prstGeom prst="rect">
            <a:avLst/>
          </a:prstGeom>
          <a:solidFill>
            <a:srgbClr val="E0A9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halCard3">
            <a:extLst>
              <a:ext uri="{FF2B5EF4-FFF2-40B4-BE49-F238E27FC236}">
                <a16:creationId xmlns:a16="http://schemas.microsoft.com/office/drawing/2014/main" id="{81C172A0-8EC6-CC4F-808F-4D5CA96B2613}"/>
              </a:ext>
            </a:extLst>
          </p:cNvPr>
          <p:cNvSpPr/>
          <p:nvPr/>
        </p:nvSpPr>
        <p:spPr>
          <a:xfrm>
            <a:off x="4699000" y="3124200"/>
            <a:ext cx="4191000" cy="17526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E8A020"/>
                </a:solidFill>
                <a:latin typeface="Calibri"/>
                <a:cs typeface="Calibri"/>
              </a:rPr>
              <a:t>Spread Direction</a:t>
            </a:r>
          </a:p>
          <a:p>
            <a:pPr>
              <a:lnSpc>
                <a:spcPts val="1550"/>
              </a:lnSpc>
            </a:pPr>
            <a:r>
              <a:rPr lang="en-US" sz="1600" dirty="0">
                <a:solidFill>
                  <a:srgbClr val="404040"/>
                </a:solidFill>
                <a:latin typeface="Calibri"/>
                <a:cs typeface="Calibri"/>
              </a:rPr>
              <a:t>We bin the closing spread by magnitude, which discards direction: a home team laying seven and one receiving seven fall in the same bin. Recovering signed direction is left to future work.</a:t>
            </a:r>
          </a:p>
        </p:txBody>
      </p:sp>
      <p:sp>
        <p:nvSpPr>
          <p:cNvPr id="32" name="ChalStripe3">
            <a:extLst>
              <a:ext uri="{FF2B5EF4-FFF2-40B4-BE49-F238E27FC236}">
                <a16:creationId xmlns:a16="http://schemas.microsoft.com/office/drawing/2014/main" id="{D46063FA-5D99-CF46-B34E-939C8B1EE753}"/>
              </a:ext>
            </a:extLst>
          </p:cNvPr>
          <p:cNvSpPr/>
          <p:nvPr/>
        </p:nvSpPr>
        <p:spPr>
          <a:xfrm>
            <a:off x="4699000" y="3124200"/>
            <a:ext cx="50800" cy="1752600"/>
          </a:xfrm>
          <a:prstGeom prst="rect">
            <a:avLst/>
          </a:prstGeom>
          <a:solidFill>
            <a:srgbClr val="E0A93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865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8B6B9-46C4-86CC-4DE1-53177C69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F42CA5-B5D4-0171-9177-FC191A1D758B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FA95742-D651-1FB6-CF7D-84DA353D307C}"/>
              </a:ext>
            </a:extLst>
          </p:cNvPr>
          <p:cNvSpPr/>
          <p:nvPr/>
        </p:nvSpPr>
        <p:spPr>
          <a:xfrm>
            <a:off x="0" y="96012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DC2004-EDBE-B484-5854-68F418A3E8DB}"/>
              </a:ext>
            </a:extLst>
          </p:cNvPr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800" b="1">
                <a:solidFill>
                  <a:srgbClr val="FFFFFF"/>
                </a:solidFill>
                <a:latin typeface="Calibri"/>
                <a:cs typeface="Calibri"/>
              </a:rPr>
              <a:t>Future Work &amp; Conclusions</a:t>
            </a:r>
          </a:p>
        </p:txBody>
      </p:sp>
      <p:sp>
        <p:nvSpPr>
          <p:cNvPr id="25" name="FW_bg">
            <a:extLst>
              <a:ext uri="{FF2B5EF4-FFF2-40B4-BE49-F238E27FC236}">
                <a16:creationId xmlns:a16="http://schemas.microsoft.com/office/drawing/2014/main" id="{638CC6A0-42F3-D74F-8316-1135D344FD5B}"/>
              </a:ext>
            </a:extLst>
          </p:cNvPr>
          <p:cNvSpPr/>
          <p:nvPr/>
        </p:nvSpPr>
        <p:spPr>
          <a:xfrm>
            <a:off x="254000" y="1130300"/>
            <a:ext cx="4191000" cy="3429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FW_hdr">
            <a:extLst>
              <a:ext uri="{FF2B5EF4-FFF2-40B4-BE49-F238E27FC236}">
                <a16:creationId xmlns:a16="http://schemas.microsoft.com/office/drawing/2014/main" id="{86AD7689-432D-B347-8388-E6E6337D56BB}"/>
              </a:ext>
            </a:extLst>
          </p:cNvPr>
          <p:cNvSpPr/>
          <p:nvPr/>
        </p:nvSpPr>
        <p:spPr>
          <a:xfrm>
            <a:off x="254000" y="1130300"/>
            <a:ext cx="41910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FUTURE WORK</a:t>
            </a:r>
          </a:p>
        </p:txBody>
      </p:sp>
      <p:sp>
        <p:nvSpPr>
          <p:cNvPr id="27" name="FW_body">
            <a:extLst>
              <a:ext uri="{FF2B5EF4-FFF2-40B4-BE49-F238E27FC236}">
                <a16:creationId xmlns:a16="http://schemas.microsoft.com/office/drawing/2014/main" id="{6FE161EA-D833-A74D-810B-B20AFB55D051}"/>
              </a:ext>
            </a:extLst>
          </p:cNvPr>
          <p:cNvSpPr txBox="1"/>
          <p:nvPr/>
        </p:nvSpPr>
        <p:spPr>
          <a:xfrm>
            <a:off x="381000" y="1587500"/>
            <a:ext cx="3937000" cy="287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228600" indent="-228600">
              <a:lnSpc>
                <a:spcPts val="2000"/>
              </a:lnSpc>
              <a:spcAft>
                <a:spcPts val="7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Continuous (Gaussian) BN formulations to eliminate the discretization penalty</a:t>
            </a:r>
          </a:p>
          <a:p>
            <a:pPr marL="228600" indent="-228600">
              <a:lnSpc>
                <a:spcPts val="2000"/>
              </a:lnSpc>
              <a:spcAft>
                <a:spcPts val="7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Post-2018 PASPA analysis only — isolate the modern legal betting market</a:t>
            </a:r>
          </a:p>
          <a:p>
            <a:pPr marL="228600" indent="-228600">
              <a:lnSpc>
                <a:spcPts val="2000"/>
              </a:lnSpc>
              <a:spcAft>
                <a:spcPts val="7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Recover spread direction; revalidate the target variable</a:t>
            </a:r>
          </a:p>
          <a:p>
            <a:pPr marL="228600" indent="-228600">
              <a:lnSpc>
                <a:spcPts val="2000"/>
              </a:lnSpc>
              <a:spcAft>
                <a:spcPts val="700"/>
              </a:spcAft>
              <a:buFont typeface="Arial"/>
              <a:buChar char="•"/>
            </a:pPr>
            <a:r>
              <a:rPr lang="en-US" sz="1500" dirty="0">
                <a:solidFill>
                  <a:srgbClr val="404040"/>
                </a:solidFill>
                <a:latin typeface="Calibri"/>
                <a:cs typeface="Calibri"/>
              </a:rPr>
              <a:t>Add quarterback injury data as a high-signal feature</a:t>
            </a:r>
          </a:p>
        </p:txBody>
      </p:sp>
      <p:sp>
        <p:nvSpPr>
          <p:cNvPr id="28" name="CC_bg">
            <a:extLst>
              <a:ext uri="{FF2B5EF4-FFF2-40B4-BE49-F238E27FC236}">
                <a16:creationId xmlns:a16="http://schemas.microsoft.com/office/drawing/2014/main" id="{E059529E-307A-294B-9885-E1BC88F47599}"/>
              </a:ext>
            </a:extLst>
          </p:cNvPr>
          <p:cNvSpPr/>
          <p:nvPr/>
        </p:nvSpPr>
        <p:spPr>
          <a:xfrm>
            <a:off x="4699000" y="1130300"/>
            <a:ext cx="4191000" cy="34290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1B3A5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CC_hdr">
            <a:extLst>
              <a:ext uri="{FF2B5EF4-FFF2-40B4-BE49-F238E27FC236}">
                <a16:creationId xmlns:a16="http://schemas.microsoft.com/office/drawing/2014/main" id="{16C3C0E4-1B17-6240-B9B7-8A92CE638EB2}"/>
              </a:ext>
            </a:extLst>
          </p:cNvPr>
          <p:cNvSpPr/>
          <p:nvPr/>
        </p:nvSpPr>
        <p:spPr>
          <a:xfrm>
            <a:off x="4699000" y="1130300"/>
            <a:ext cx="4191000" cy="381000"/>
          </a:xfrm>
          <a:prstGeom prst="rect">
            <a:avLst/>
          </a:prstGeom>
          <a:solidFill>
            <a:srgbClr val="1B3A5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alibri"/>
                <a:cs typeface="Calibri"/>
              </a:rPr>
              <a:t>CONCLUSIONS</a:t>
            </a:r>
          </a:p>
        </p:txBody>
      </p:sp>
      <p:sp>
        <p:nvSpPr>
          <p:cNvPr id="30" name="CC_body">
            <a:extLst>
              <a:ext uri="{FF2B5EF4-FFF2-40B4-BE49-F238E27FC236}">
                <a16:creationId xmlns:a16="http://schemas.microsoft.com/office/drawing/2014/main" id="{7465551A-831B-F14E-873D-DF8175118821}"/>
              </a:ext>
            </a:extLst>
          </p:cNvPr>
          <p:cNvSpPr txBox="1"/>
          <p:nvPr/>
        </p:nvSpPr>
        <p:spPr>
          <a:xfrm>
            <a:off x="4826000" y="1587500"/>
            <a:ext cx="3937000" cy="287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228600" indent="-228600">
              <a:lnSpc>
                <a:spcPts val="2000"/>
              </a:lnSpc>
              <a:spcAft>
                <a:spcPts val="700"/>
              </a:spcAft>
              <a:buFont typeface="Arial"/>
              <a:buChar char="•"/>
            </a:pPr>
            <a:r>
              <a:rPr lang="en-US" sz="1500">
                <a:solidFill>
                  <a:srgbClr val="404040"/>
                </a:solidFill>
                <a:latin typeface="Calibri"/>
                <a:cs typeface="Calibri"/>
              </a:rPr>
              <a:t>Partial efficiency confirmed: the market's hard prediction is already encoded in game stats</a:t>
            </a:r>
          </a:p>
          <a:p>
            <a:pPr marL="228600" indent="-228600">
              <a:lnSpc>
                <a:spcPts val="2000"/>
              </a:lnSpc>
              <a:spcAft>
                <a:spcPts val="700"/>
              </a:spcAft>
              <a:buFont typeface="Arial"/>
              <a:buChar char="•"/>
            </a:pPr>
            <a:r>
              <a:rPr lang="en-US" sz="1500">
                <a:solidFill>
                  <a:srgbClr val="404040"/>
                </a:solidFill>
                <a:latin typeface="Calibri"/>
                <a:cs typeface="Calibri"/>
              </a:rPr>
              <a:t>Calibration finding: the market's uncertainty estimate adds information beyond statistics alone</a:t>
            </a:r>
          </a:p>
          <a:p>
            <a:pPr marL="228600" indent="-228600">
              <a:lnSpc>
                <a:spcPts val="2000"/>
              </a:lnSpc>
              <a:spcAft>
                <a:spcPts val="700"/>
              </a:spcAft>
              <a:buFont typeface="Arial"/>
              <a:buChar char="•"/>
            </a:pPr>
            <a:r>
              <a:rPr lang="en-US" sz="1500">
                <a:solidFill>
                  <a:srgbClr val="404040"/>
                </a:solidFill>
                <a:latin typeface="Calibri"/>
                <a:cs typeface="Calibri"/>
              </a:rPr>
              <a:t>PC + HC dual-algorithm design caught and corrected a causally impossible edge</a:t>
            </a:r>
          </a:p>
          <a:p>
            <a:pPr marL="228600" indent="-228600">
              <a:lnSpc>
                <a:spcPts val="2000"/>
              </a:lnSpc>
              <a:spcAft>
                <a:spcPts val="700"/>
              </a:spcAft>
              <a:buFont typeface="Arial"/>
              <a:buChar char="•"/>
            </a:pPr>
            <a:r>
              <a:rPr lang="en-US" sz="1500">
                <a:solidFill>
                  <a:srgbClr val="404040"/>
                </a:solidFill>
                <a:latin typeface="Calibri"/>
                <a:cs typeface="Calibri"/>
              </a:rPr>
              <a:t>A nuanced answer that advances both sides of the efficiency debate</a:t>
            </a:r>
          </a:p>
        </p:txBody>
      </p:sp>
    </p:spTree>
    <p:extLst>
      <p:ext uri="{BB962C8B-B14F-4D97-AF65-F5344CB8AC3E}">
        <p14:creationId xmlns:p14="http://schemas.microsoft.com/office/powerpoint/2010/main" val="1311860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06400" y="3175000"/>
            <a:ext cx="5207000" cy="54864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06400" y="889000"/>
            <a:ext cx="8255000" cy="43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8BA0B5"/>
                </a:solidFill>
                <a:latin typeface="Calibri"/>
                <a:cs typeface="Calibri"/>
              </a:rPr>
              <a:t>QUESTIONS &amp; DISCUSSION</a:t>
            </a:r>
          </a:p>
        </p:txBody>
      </p:sp>
      <p:sp>
        <p:nvSpPr>
          <p:cNvPr id="5" name="Text 3"/>
          <p:cNvSpPr/>
          <p:nvPr/>
        </p:nvSpPr>
        <p:spPr>
          <a:xfrm>
            <a:off x="406400" y="1371600"/>
            <a:ext cx="8496808" cy="10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cs typeface="Calibri"/>
              </a:rPr>
              <a:t>For accuracy: the market adds no signal beyond game stats.</a:t>
            </a:r>
          </a:p>
        </p:txBody>
      </p:sp>
      <p:sp>
        <p:nvSpPr>
          <p:cNvPr id="6" name="Text 4"/>
          <p:cNvSpPr/>
          <p:nvPr/>
        </p:nvSpPr>
        <p:spPr>
          <a:xfrm>
            <a:off x="406400" y="2159000"/>
            <a:ext cx="8255000" cy="889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2600" b="1">
                <a:solidFill>
                  <a:srgbClr val="E8A020"/>
                </a:solidFill>
                <a:latin typeface="Calibri"/>
                <a:cs typeface="Calibri"/>
              </a:rPr>
              <a:t>For calibration: the market's uncertainty estimate does.</a:t>
            </a: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634C908A-02AD-8C99-E32A-DFAD41D154A6}"/>
              </a:ext>
            </a:extLst>
          </p:cNvPr>
          <p:cNvSpPr/>
          <p:nvPr/>
        </p:nvSpPr>
        <p:spPr>
          <a:xfrm>
            <a:off x="406400" y="3619500"/>
            <a:ext cx="8255000" cy="355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cs typeface="Calibri"/>
              </a:rPr>
              <a:t>Leland Weeks  ·  Johnny Belichev  ·  Ishant Somal</a:t>
            </a: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5FB2D9DF-48BE-6B49-26A7-C90AC810BEDB}"/>
              </a:ext>
            </a:extLst>
          </p:cNvPr>
          <p:cNvSpPr/>
          <p:nvPr/>
        </p:nvSpPr>
        <p:spPr>
          <a:xfrm>
            <a:off x="406400" y="4000500"/>
            <a:ext cx="8255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8BA0B5"/>
                </a:solidFill>
                <a:latin typeface="Calibri"/>
                <a:cs typeface="Calibri"/>
              </a:rPr>
              <a:t>lhw22@drexel.edu  ·  jb4458@drexel.edu  ·  is488@drexel.edu</a:t>
            </a:r>
          </a:p>
        </p:txBody>
      </p:sp>
    </p:spTree>
    <p:extLst>
      <p:ext uri="{BB962C8B-B14F-4D97-AF65-F5344CB8AC3E}">
        <p14:creationId xmlns:p14="http://schemas.microsoft.com/office/powerpoint/2010/main" val="3814462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B57A9C3-9CA4-7D42-9EEF-2FD68FFCC6E1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4864205-247b-4196-abc2-388f6810480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964</Words>
  <Application>Microsoft Macintosh PowerPoint</Application>
  <PresentationFormat>On-screen Show (16:9)</PresentationFormat>
  <Paragraphs>160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Bayesian Network Modeling of NFL Game Stats and Market Signals</dc:title>
  <dc:subject>PptxGenJS Presentation</dc:subject>
  <dc:creator>PptxGenJS</dc:creator>
  <cp:lastModifiedBy>Weeks,Leland</cp:lastModifiedBy>
  <cp:revision>31</cp:revision>
  <dcterms:created xsi:type="dcterms:W3CDTF">2026-05-06T00:02:55Z</dcterms:created>
  <dcterms:modified xsi:type="dcterms:W3CDTF">2026-06-04T20:10:57Z</dcterms:modified>
</cp:coreProperties>
</file>