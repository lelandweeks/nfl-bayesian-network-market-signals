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93" r:id="rId2"/>
    <p:sldId id="320" r:id="rId3"/>
    <p:sldId id="314" r:id="rId4"/>
    <p:sldId id="306" r:id="rId5"/>
    <p:sldId id="321" r:id="rId6"/>
    <p:sldId id="308" r:id="rId7"/>
    <p:sldId id="284" r:id="rId8"/>
    <p:sldId id="315" r:id="rId9"/>
    <p:sldId id="291" r:id="rId10"/>
    <p:sldId id="300" r:id="rId11"/>
    <p:sldId id="292" r:id="rId12"/>
    <p:sldId id="303"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46DF3B-CF1B-4ADB-BA45-60F2D17F6138}" v="4" dt="2026-05-07T17:06:58.748"/>
    <p1510:client id="{4DD16706-C98D-AEE2-C533-8C1C9AD283BA}" v="2" dt="2026-05-07T21:37:47.120"/>
    <p1510:client id="{63565EB0-CEA5-E501-C7D9-F2603D40465E}" v="29" dt="2026-05-07T21:07:51.918"/>
    <p1510:client id="{92D5E018-C153-1F28-E1CC-9062512ECF9A}" v="17" dt="2026-05-08T00:55:00.1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2112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*Leland*</a:t>
            </a:r>
            <a:endParaRPr lang="en-US"/>
          </a:p>
          <a:p>
            <a:endParaRPr lang="en-US"/>
          </a:p>
          <a:p>
            <a:r>
              <a:rPr lang="en-US"/>
              <a:t>Hi everyone, my name is Leland.</a:t>
            </a:r>
          </a:p>
          <a:p>
            <a:endParaRPr lang="en-US"/>
          </a:p>
          <a:p>
            <a:r>
              <a:rPr lang="en-US"/>
              <a:t>My teammates - Johnny and Ishant - and I are going to present our project on how we plan to implement a Bayesian Network to model NFL Game Stats and Market Signals.</a:t>
            </a:r>
          </a:p>
          <a:p>
            <a:endParaRPr lang="en-US"/>
          </a:p>
          <a:p>
            <a:r>
              <a:rPr lang="en-US"/>
              <a:t>I don’t think any of us are particularly interested in sports, but there are a few good reasons why we chose this project.</a:t>
            </a:r>
            <a:endParaRPr lang="en-US">
              <a:ea typeface="Calibri"/>
              <a:cs typeface="Calibri"/>
            </a:endParaRPr>
          </a:p>
          <a:p>
            <a:endParaRPr lang="en-US"/>
          </a:p>
          <a:p>
            <a:r>
              <a:rPr lang="en-US"/>
              <a:t>The data is clean, public, and the causal direction is well known — both lend themselves well to a Bayesian Network.</a:t>
            </a:r>
            <a:endParaRPr lang="en-US">
              <a:ea typeface="Calibri"/>
              <a:cs typeface="+mn-lt"/>
            </a:endParaRPr>
          </a:p>
          <a:p>
            <a:endParaRPr lang="en-US"/>
          </a:p>
          <a:p>
            <a:r>
              <a:rPr lang="en-US"/>
              <a:t>And as much as sports data has been modeled, we believe our project is a truly novel application of a Bayesian Network. </a:t>
            </a: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*Leland*</a:t>
            </a:r>
            <a:endParaRPr lang="en-US"/>
          </a:p>
          <a:p>
            <a:endParaRPr lang="en-US"/>
          </a:p>
          <a:p>
            <a:r>
              <a:rPr lang="en-US"/>
              <a:t>Every NFL game has two information sources – historical game stats, and the betting market.</a:t>
            </a:r>
          </a:p>
          <a:p>
            <a:endParaRPr lang="en-US"/>
          </a:p>
          <a:p>
            <a:r>
              <a:rPr lang="en-US"/>
              <a:t>The question we’re asking is, does the market know something that the stats don’t?</a:t>
            </a:r>
          </a:p>
          <a:p>
            <a:endParaRPr lang="en-US"/>
          </a:p>
          <a:p>
            <a:r>
              <a:rPr lang="en-US"/>
              <a:t>To answer that formally, we will model both sources as a Bayesian Network and test whether line movement is conditionally independent of game outcome given the historical game stats.</a:t>
            </a:r>
          </a:p>
          <a:p>
            <a:endParaRPr lang="en-US"/>
          </a:p>
          <a:p>
            <a:r>
              <a:rPr lang="en-US"/>
              <a:t>If we find the market adds signal, that’s evidence of inefficiency.</a:t>
            </a:r>
          </a:p>
          <a:p>
            <a:endParaRPr lang="en-US"/>
          </a:p>
          <a:p>
            <a:r>
              <a:rPr lang="en-US"/>
              <a:t>If we don’t, we’ve formally confirmed that closing lines are efficient.</a:t>
            </a:r>
          </a:p>
          <a:p>
            <a:endParaRPr lang="en-US"/>
          </a:p>
          <a:p>
            <a:r>
              <a:rPr lang="en-US"/>
              <a:t>And I'd like to point out one note on scope - we’re using data from 2007-2022, which is significantly old enough to not be actionable - meaning the results will not be helpful in placing any </a:t>
            </a:r>
          </a:p>
          <a:p>
            <a:r>
              <a:rPr lang="en-US"/>
              <a:t>sports bets in today's market, unfortunately. </a:t>
            </a:r>
            <a:endParaRPr lang="en-US">
              <a:ea typeface="Calibri"/>
              <a:cs typeface="Calibri"/>
            </a:endParaRPr>
          </a:p>
          <a:p>
            <a:endParaRPr lang="en-US"/>
          </a:p>
          <a:p>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E69EC-A9FB-A08F-E84B-F5CE9F813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8B015-FFD7-6F8E-0BB4-C73FE6C132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D747D-6DA4-C7F2-A9A6-7F76909A3059}"/>
              </a:ext>
            </a:extLst>
          </p:cNvPr>
          <p:cNvSpPr>
            <a:spLocks noGrp="1"/>
          </p:cNvSpPr>
          <p:nvPr>
            <p:ph type="body" idx="1"/>
          </p:nvPr>
        </p:nvSpPr>
        <p:spPr/>
        <p:txBody>
          <a:bodyPr/>
          <a:lstStyle/>
          <a:p>
            <a:r>
              <a:rPr lang="en-US"/>
              <a:t>Johnny</a:t>
            </a:r>
            <a:br>
              <a:rPr lang="en-US"/>
            </a:br>
            <a:br>
              <a:rPr lang="en-US"/>
            </a:br>
            <a:r>
              <a:rPr lang="en-US"/>
              <a:t>For the literature review, we grouped the existing work into three areas because each one connects to our project, but none of them fully answers our question.</a:t>
            </a:r>
          </a:p>
          <a:p>
            <a:r>
              <a:rPr lang="en-US"/>
              <a:t>The first area is Bayesian networks for sports prediction. This supports our choice of model because it shows that Bayesian networks can be useful for forecasting sports outcomes. The limitation is that these studies usually focus on game-related variables only, without including betting market movement.</a:t>
            </a:r>
          </a:p>
          <a:p>
            <a:endParaRPr lang="en-US"/>
          </a:p>
          <a:p>
            <a:r>
              <a:rPr lang="en-US"/>
              <a:t>The second area combines game statistics with betting odds. These studies are closer to our idea, but they mostly blend the data sources for prediction. They do not directly test whether the market data and game stats contain independent information.</a:t>
            </a:r>
          </a:p>
          <a:p>
            <a:endParaRPr lang="en-US"/>
          </a:p>
          <a:p>
            <a:r>
              <a:rPr lang="en-US"/>
              <a:t>The third area focuses on market efficiency and line movement. These papers look at whether opening and closing lines have predictive value, but they usually do not integrate detailed game statistics into one combined model.</a:t>
            </a:r>
          </a:p>
          <a:p>
            <a:endParaRPr lang="en-US"/>
          </a:p>
          <a:p>
            <a:r>
              <a:rPr lang="en-US"/>
              <a:t>The key gap is shown at the bottom of the slide. A recent review confirmed that no study clearly combines all three pieces: Bayesian networks, game statistics, and market movement. That is where our project fits. We are not only trying to predict games. We are testing whether line movement adds information beyond the game fundamentals.</a:t>
            </a:r>
          </a:p>
          <a:p>
            <a:endParaRPr lang="en-US"/>
          </a:p>
        </p:txBody>
      </p:sp>
      <p:sp>
        <p:nvSpPr>
          <p:cNvPr id="4" name="Slide Number Placeholder 3">
            <a:extLst>
              <a:ext uri="{FF2B5EF4-FFF2-40B4-BE49-F238E27FC236}">
                <a16:creationId xmlns:a16="http://schemas.microsoft.com/office/drawing/2014/main" id="{A47A043F-67D8-A50A-C9E0-4B016BD8F6D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915406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Johnny</a:t>
            </a:r>
          </a:p>
          <a:p>
            <a:endParaRPr lang="en-US"/>
          </a:p>
          <a:p>
            <a:r>
              <a:rPr lang="en-US"/>
              <a:t>The objective of our project is to answer one main research question: does line movement contain predictive information beyond what game statistics already capture?</a:t>
            </a:r>
          </a:p>
          <a:p>
            <a:endParaRPr lang="en-US"/>
          </a:p>
          <a:p>
            <a:r>
              <a:rPr lang="en-US"/>
              <a:t>In simpler terms, we want to know whether betting markets are reacting to something meaningful that is not fully explained by the teams’ historical performance and game fundamentals.</a:t>
            </a:r>
          </a:p>
          <a:p>
            <a:endParaRPr lang="en-US"/>
          </a:p>
          <a:p>
            <a:r>
              <a:rPr lang="en-US"/>
              <a:t>Formally, we are asking whether line movement is conditionally independent of the against-the-spread outcome once we account for game fundamentals. If it is independent, then line movement does not add much new information. That would support the idea that the closing line already absorbs the available signal and that the market is mostly efficient.</a:t>
            </a:r>
          </a:p>
          <a:p>
            <a:endParaRPr lang="en-US"/>
          </a:p>
          <a:p>
            <a:r>
              <a:rPr lang="en-US"/>
              <a:t>But if line movement still helps predict the outcome after controlling for game stats, then that suggests the market contains extra information beyond fundamentals. Either result is useful because it tells us something about how efficient NFL betting markets really are.</a:t>
            </a:r>
          </a:p>
          <a:p>
            <a:endParaRPr lang="en-US"/>
          </a:p>
        </p:txBody>
      </p:sp>
    </p:spTree>
    <p:extLst>
      <p:ext uri="{BB962C8B-B14F-4D97-AF65-F5344CB8AC3E}">
        <p14:creationId xmlns:p14="http://schemas.microsoft.com/office/powerpoint/2010/main" val="1999189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*Leland*</a:t>
            </a:r>
            <a:br>
              <a:rPr lang="en-US">
                <a:ea typeface="Calibri"/>
                <a:cs typeface="+mn-lt"/>
              </a:rPr>
            </a:br>
            <a:br>
              <a:rPr lang="en-US">
                <a:ea typeface="Calibri"/>
                <a:cs typeface="+mn-lt"/>
              </a:rPr>
            </a:br>
            <a:r>
              <a:rPr lang="en-US"/>
              <a:t>We model this as a Bayesian Network by using a DAG structure.</a:t>
            </a:r>
            <a:endParaRPr lang="en-US">
              <a:ea typeface="Calibri"/>
              <a:cs typeface="Calibri"/>
            </a:endParaRPr>
          </a:p>
          <a:p>
            <a:endParaRPr lang="en-US">
              <a:cs typeface="+mn-lt"/>
            </a:endParaRPr>
          </a:p>
          <a:p>
            <a:r>
              <a:rPr lang="en-US"/>
              <a:t>The first thing you’ll notice is that there are no cycles in the graph and all information flows down to the game’s outcome.</a:t>
            </a:r>
          </a:p>
          <a:p>
            <a:endParaRPr lang="en-US">
              <a:cs typeface="+mn-lt"/>
            </a:endParaRPr>
          </a:p>
          <a:p>
            <a:r>
              <a:rPr lang="en-US"/>
              <a:t>Now at the top are the historical game stats, which essentially describe how the two teams compare against each other.</a:t>
            </a:r>
          </a:p>
          <a:p>
            <a:endParaRPr lang="en-US">
              <a:cs typeface="+mn-lt"/>
            </a:endParaRPr>
          </a:p>
          <a:p>
            <a:r>
              <a:rPr lang="en-US"/>
              <a:t>And all of that data gets encoded down into the opening line.</a:t>
            </a:r>
          </a:p>
          <a:p>
            <a:endParaRPr lang="en-US">
              <a:cs typeface="+mn-lt"/>
            </a:endParaRPr>
          </a:p>
          <a:p>
            <a:r>
              <a:rPr lang="en-US"/>
              <a:t>The opening line says which team is predicted to win and by how many points they will win by.</a:t>
            </a:r>
          </a:p>
          <a:p>
            <a:endParaRPr lang="en-US">
              <a:cs typeface="+mn-lt"/>
            </a:endParaRPr>
          </a:p>
          <a:p>
            <a:r>
              <a:rPr lang="en-US"/>
              <a:t>From the opening line, an arrow goes to Line Movement and another to Closing Line.</a:t>
            </a:r>
          </a:p>
          <a:p>
            <a:endParaRPr lang="en-US">
              <a:cs typeface="+mn-lt"/>
            </a:endParaRPr>
          </a:p>
          <a:p>
            <a:r>
              <a:rPr lang="en-US"/>
              <a:t>The opening line drives both because it’s the starting point for the market.</a:t>
            </a:r>
          </a:p>
          <a:p>
            <a:endParaRPr lang="en-US">
              <a:cs typeface="+mn-lt"/>
            </a:endParaRPr>
          </a:p>
          <a:p>
            <a:r>
              <a:rPr lang="en-US"/>
              <a:t>Line movement points to closing line because it’s the line movement that happens between the opening line and the closing line.</a:t>
            </a:r>
          </a:p>
          <a:p>
            <a:endParaRPr lang="en-US">
              <a:cs typeface="+mn-lt"/>
            </a:endParaRPr>
          </a:p>
          <a:p>
            <a:r>
              <a:rPr lang="en-US"/>
              <a:t>And then line movement and closing line points to the game outcome - this is the causal chain.</a:t>
            </a:r>
          </a:p>
          <a:p>
            <a:endParaRPr lang="en-US">
              <a:cs typeface="+mn-lt"/>
            </a:endParaRPr>
          </a:p>
          <a:p>
            <a:r>
              <a:rPr lang="en-US"/>
              <a:t>The dashed arrows are the research questions, and the red dashed is the heart of the research question - this is where our answer will be surfaced.</a:t>
            </a:r>
          </a:p>
          <a:p>
            <a:endParaRPr lang="en-US">
              <a:cs typeface="+mn-lt"/>
            </a:endParaRPr>
          </a:p>
          <a:p>
            <a:r>
              <a:rPr lang="en-US"/>
              <a:t>We plan to use Naive Bayes as our baseline because it’s the simplest possible classifier.</a:t>
            </a:r>
          </a:p>
          <a:p>
            <a:endParaRPr lang="en-US">
              <a:cs typeface="+mn-lt"/>
            </a:endParaRPr>
          </a:p>
          <a:p>
            <a:r>
              <a:rPr lang="en-US"/>
              <a:t>Whether our Bayesian Network can beat Naive Bayes will determine whether our model has uncovered inefficiency or not. </a:t>
            </a:r>
          </a:p>
          <a:p>
            <a:endParaRPr lang="en-US">
              <a:cs typeface="+mn-lt"/>
            </a:endParaRPr>
          </a:p>
          <a:p>
            <a:r>
              <a:rPr lang="en-US"/>
              <a:t>In addition, we plan to use hill climbing to learn our dependency structure, and Peter-Clark to validate our domain assumptions. </a:t>
            </a:r>
          </a:p>
          <a:p>
            <a:endParaRPr lang="en-US">
              <a:ea typeface="Calibri"/>
              <a:cs typeface="+mn-lt"/>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Ishant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Ishant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Johnny</a:t>
            </a:r>
          </a:p>
          <a:p>
            <a:endParaRPr lang="en-US"/>
          </a:p>
          <a:p>
            <a:r>
              <a:rPr lang="en-US"/>
              <a:t>There are four main challenges we expect with this project.</a:t>
            </a:r>
          </a:p>
          <a:p>
            <a:endParaRPr lang="en-US"/>
          </a:p>
          <a:p>
            <a:r>
              <a:rPr lang="en-US"/>
              <a:t>The first is data leakage. Since we are using rolling statistics, we have to make sure each game only uses information from games that happened before it. For example, week one has no prior games, so we need to handle that carefully instead of accidentally using future information.</a:t>
            </a:r>
          </a:p>
          <a:p>
            <a:endParaRPr lang="en-US"/>
          </a:p>
          <a:p>
            <a:r>
              <a:rPr lang="en-US"/>
              <a:t>The second challenge is Bayesian network structure sensitivity. Hill Climbing can sometimes settle on a local optimum, meaning it finds a decent structure but not necessarily the best one. To reduce that risk, we plan to start from a domain-informed DAG and run multiple restarts.</a:t>
            </a:r>
          </a:p>
          <a:p>
            <a:endParaRPr lang="en-US"/>
          </a:p>
          <a:p>
            <a:r>
              <a:rPr lang="en-US"/>
              <a:t>The third issue is class imbalance. Pushes, or ATS ties, are rare, so simple accuracy could make the model look better than it really is. We will need balanced metrics so the evaluation is not misleading.</a:t>
            </a:r>
          </a:p>
          <a:p>
            <a:endParaRPr lang="en-US"/>
          </a:p>
          <a:p>
            <a:r>
              <a:rPr lang="en-US"/>
              <a:t>Finally, continuous features are a challenge because standard Bayesian networks usually require discretization. Naive Bayes can handle Gaussian features more naturally, but the full BN will need careful preprocessing so we do not lose too much information.</a:t>
            </a:r>
          </a:p>
          <a:p>
            <a:endParaRPr lang="en-US"/>
          </a:p>
          <a:p>
            <a:r>
              <a:rPr lang="en-US"/>
              <a:t>-----</a:t>
            </a:r>
          </a:p>
          <a:p>
            <a:endParaRPr lang="en-US"/>
          </a:p>
          <a:p>
            <a:r>
              <a:rPr lang="en-US" b="1"/>
              <a:t>About ATS tie:</a:t>
            </a:r>
            <a:br>
              <a:rPr lang="en-US"/>
            </a:br>
            <a:r>
              <a:rPr lang="en-US"/>
              <a:t>An </a:t>
            </a:r>
            <a:r>
              <a:rPr lang="en-US" b="1"/>
              <a:t>ATS tie</a:t>
            </a:r>
            <a:r>
              <a:rPr lang="en-US"/>
              <a:t> means an </a:t>
            </a:r>
            <a:r>
              <a:rPr lang="en-US" b="1"/>
              <a:t>Against-The-Spread tie</a:t>
            </a:r>
            <a:r>
              <a:rPr lang="en-US"/>
              <a:t>, also called a </a:t>
            </a:r>
            <a:r>
              <a:rPr lang="en-US" b="1"/>
              <a:t>push</a:t>
            </a:r>
            <a:r>
              <a:rPr lang="en-US"/>
              <a:t>.</a:t>
            </a:r>
          </a:p>
          <a:p>
            <a:r>
              <a:rPr lang="en-US"/>
              <a:t>ATS asks: </a:t>
            </a:r>
            <a:r>
              <a:rPr lang="en-US" b="1"/>
              <a:t>did the team cover the betting spread?</a:t>
            </a:r>
            <a:endParaRPr lang="en-US"/>
          </a:p>
          <a:p>
            <a:r>
              <a:rPr lang="en-US"/>
              <a:t>Example:</a:t>
            </a:r>
          </a:p>
          <a:p>
            <a:r>
              <a:rPr lang="en-US"/>
              <a:t>The Eagles are favored by </a:t>
            </a:r>
            <a:r>
              <a:rPr lang="en-US" b="1"/>
              <a:t>-7</a:t>
            </a:r>
            <a:r>
              <a:rPr lang="en-US"/>
              <a:t> against the Giants.</a:t>
            </a:r>
          </a:p>
          <a:p>
            <a:r>
              <a:rPr lang="en-US"/>
              <a:t>Final score:</a:t>
            </a:r>
            <a:br>
              <a:rPr lang="en-US"/>
            </a:br>
            <a:r>
              <a:rPr lang="en-US" b="1"/>
              <a:t>Eagles 27, Giants 20</a:t>
            </a:r>
            <a:endParaRPr lang="en-US"/>
          </a:p>
          <a:p>
            <a:r>
              <a:rPr lang="en-US"/>
              <a:t>The Eagles won by exactly </a:t>
            </a:r>
            <a:r>
              <a:rPr lang="en-US" b="1"/>
              <a:t>7 points</a:t>
            </a:r>
            <a:r>
              <a:rPr lang="en-US"/>
              <a:t>.</a:t>
            </a:r>
          </a:p>
          <a:p>
            <a:r>
              <a:rPr lang="en-US"/>
              <a:t>Because the spread was </a:t>
            </a:r>
            <a:r>
              <a:rPr lang="en-US" b="1"/>
              <a:t>-7</a:t>
            </a:r>
            <a:r>
              <a:rPr lang="en-US"/>
              <a:t>, they did </a:t>
            </a:r>
            <a:r>
              <a:rPr lang="en-US" b="1"/>
              <a:t>not beat the spread</a:t>
            </a:r>
            <a:r>
              <a:rPr lang="en-US"/>
              <a:t>, but they also did not fail to cover. The result lands exactly on the line, so it is an </a:t>
            </a:r>
            <a:r>
              <a:rPr lang="en-US" b="1"/>
              <a:t>ATS tie / push</a:t>
            </a:r>
            <a:r>
              <a:rPr lang="en-US"/>
              <a:t>.</a:t>
            </a:r>
          </a:p>
          <a:p>
            <a:endParaRPr lang="en-US"/>
          </a:p>
          <a:p>
            <a:endParaRPr lang="en-US"/>
          </a:p>
        </p:txBody>
      </p:sp>
    </p:spTree>
    <p:extLst>
      <p:ext uri="{BB962C8B-B14F-4D97-AF65-F5344CB8AC3E}">
        <p14:creationId xmlns:p14="http://schemas.microsoft.com/office/powerpoint/2010/main" val="3938157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7507C-01DC-3F3C-5F49-922E475030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E2385-515A-5D7F-A87F-92F1F88B9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44E303-4108-54A6-270D-E790A0D8FF0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0705666-E29D-024B-5DDB-472A58AC049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908071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A020"/>
          </a:solidFill>
          <a:ln w="12700">
            <a:solidFill>
              <a:srgbClr val="E8A020"/>
            </a:solidFill>
            <a:prstDash val="solid"/>
          </a:ln>
        </p:spPr>
        <p:txBody>
          <a:bodyPr/>
          <a:lstStyle/>
          <a:p>
            <a:endParaRPr lang="en-US"/>
          </a:p>
        </p:txBody>
      </p:sp>
      <p:sp>
        <p:nvSpPr>
          <p:cNvPr id="3" name="Shape 1"/>
          <p:cNvSpPr/>
          <p:nvPr/>
        </p:nvSpPr>
        <p:spPr>
          <a:xfrm>
            <a:off x="164592" y="2331720"/>
            <a:ext cx="8979408" cy="54864"/>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411480" y="548640"/>
            <a:ext cx="8046720" cy="640080"/>
          </a:xfrm>
          <a:prstGeom prst="rect">
            <a:avLst/>
          </a:prstGeom>
          <a:noFill/>
          <a:ln/>
        </p:spPr>
        <p:txBody>
          <a:bodyPr wrap="square" rtlCol="0" anchor="ctr"/>
          <a:lstStyle/>
          <a:p>
            <a:pPr marL="0" indent="0" algn="l">
              <a:buNone/>
            </a:pPr>
            <a:r>
              <a:rPr lang="en-US" sz="2800" b="1">
                <a:solidFill>
                  <a:srgbClr val="8BA0B5"/>
                </a:solidFill>
                <a:latin typeface="Calibri" pitchFamily="34" charset="0"/>
                <a:ea typeface="Calibri" pitchFamily="34" charset="-122"/>
                <a:cs typeface="Calibri" pitchFamily="34" charset="-120"/>
              </a:rPr>
              <a:t>Bayesian Network Modeling of</a:t>
            </a:r>
            <a:endParaRPr lang="en-US" sz="2800"/>
          </a:p>
        </p:txBody>
      </p:sp>
      <p:sp>
        <p:nvSpPr>
          <p:cNvPr id="5" name="Text 3"/>
          <p:cNvSpPr/>
          <p:nvPr/>
        </p:nvSpPr>
        <p:spPr>
          <a:xfrm>
            <a:off x="411480" y="1143000"/>
            <a:ext cx="8046720" cy="868680"/>
          </a:xfrm>
          <a:prstGeom prst="rect">
            <a:avLst/>
          </a:prstGeom>
          <a:noFill/>
          <a:ln/>
        </p:spPr>
        <p:txBody>
          <a:bodyPr wrap="square" rtlCol="0" anchor="ctr"/>
          <a:lstStyle/>
          <a:p>
            <a:pPr marL="0" indent="0" algn="l">
              <a:buNone/>
            </a:pPr>
            <a:r>
              <a:rPr lang="en-US" sz="5200" b="1">
                <a:solidFill>
                  <a:srgbClr val="FFFFFF"/>
                </a:solidFill>
                <a:latin typeface="Calibri" pitchFamily="34" charset="0"/>
                <a:ea typeface="Calibri" pitchFamily="34" charset="-122"/>
                <a:cs typeface="Calibri" pitchFamily="34" charset="-120"/>
              </a:rPr>
              <a:t>NFL Game Stats &amp;</a:t>
            </a:r>
            <a:endParaRPr lang="en-US" sz="5200"/>
          </a:p>
        </p:txBody>
      </p:sp>
      <p:sp>
        <p:nvSpPr>
          <p:cNvPr id="6" name="Text 4"/>
          <p:cNvSpPr/>
          <p:nvPr/>
        </p:nvSpPr>
        <p:spPr>
          <a:xfrm>
            <a:off x="411480" y="1920240"/>
            <a:ext cx="8046720" cy="502920"/>
          </a:xfrm>
          <a:prstGeom prst="rect">
            <a:avLst/>
          </a:prstGeom>
          <a:noFill/>
          <a:ln/>
        </p:spPr>
        <p:txBody>
          <a:bodyPr wrap="square" rtlCol="0" anchor="ctr"/>
          <a:lstStyle/>
          <a:p>
            <a:pPr marL="0" indent="0" algn="l">
              <a:buNone/>
            </a:pPr>
            <a:r>
              <a:rPr lang="en-US" sz="3800" b="1">
                <a:solidFill>
                  <a:srgbClr val="E8A020"/>
                </a:solidFill>
                <a:latin typeface="Calibri" pitchFamily="34" charset="0"/>
                <a:ea typeface="Calibri" pitchFamily="34" charset="-122"/>
                <a:cs typeface="Calibri" pitchFamily="34" charset="-120"/>
              </a:rPr>
              <a:t>Market Signals</a:t>
            </a:r>
            <a:endParaRPr lang="en-US" sz="3800"/>
          </a:p>
        </p:txBody>
      </p:sp>
      <p:sp>
        <p:nvSpPr>
          <p:cNvPr id="11" name="Text 6">
            <a:extLst>
              <a:ext uri="{FF2B5EF4-FFF2-40B4-BE49-F238E27FC236}">
                <a16:creationId xmlns:a16="http://schemas.microsoft.com/office/drawing/2014/main" id="{634C908A-02AD-8C99-E32A-DFAD41D154A6}"/>
              </a:ext>
            </a:extLst>
          </p:cNvPr>
          <p:cNvSpPr/>
          <p:nvPr/>
        </p:nvSpPr>
        <p:spPr>
          <a:xfrm>
            <a:off x="411480" y="3154680"/>
            <a:ext cx="8046720" cy="320040"/>
          </a:xfrm>
          <a:prstGeom prst="rect">
            <a:avLst/>
          </a:prstGeom>
          <a:noFill/>
          <a:ln/>
        </p:spPr>
        <p:txBody>
          <a:bodyPr wrap="square" rtlCol="0" anchor="ctr"/>
          <a:lstStyle/>
          <a:p>
            <a:pPr marL="0" indent="0" algn="l">
              <a:buNone/>
            </a:pPr>
            <a:r>
              <a:rPr lang="en-US" sz="1400">
                <a:solidFill>
                  <a:srgbClr val="F0F4F8"/>
                </a:solidFill>
                <a:latin typeface="Calibri" pitchFamily="34" charset="0"/>
                <a:ea typeface="Calibri" pitchFamily="34" charset="-122"/>
                <a:cs typeface="Calibri" pitchFamily="34" charset="-120"/>
              </a:rPr>
              <a:t>Leland Weeks  ·  Johnny Belichev  ·  Ishant Somal</a:t>
            </a:r>
            <a:endParaRPr lang="en-US" sz="1400"/>
          </a:p>
        </p:txBody>
      </p:sp>
      <p:sp>
        <p:nvSpPr>
          <p:cNvPr id="12" name="Text 7">
            <a:extLst>
              <a:ext uri="{FF2B5EF4-FFF2-40B4-BE49-F238E27FC236}">
                <a16:creationId xmlns:a16="http://schemas.microsoft.com/office/drawing/2014/main" id="{5FB2D9DF-48BE-6B49-26A7-C90AC810BEDB}"/>
              </a:ext>
            </a:extLst>
          </p:cNvPr>
          <p:cNvSpPr/>
          <p:nvPr/>
        </p:nvSpPr>
        <p:spPr>
          <a:xfrm>
            <a:off x="411480" y="3493008"/>
            <a:ext cx="8046720" cy="274320"/>
          </a:xfrm>
          <a:prstGeom prst="rect">
            <a:avLst/>
          </a:prstGeom>
          <a:noFill/>
          <a:ln/>
        </p:spPr>
        <p:txBody>
          <a:bodyPr wrap="square" rtlCol="0" anchor="ctr"/>
          <a:lstStyle/>
          <a:p>
            <a:pPr marL="0" indent="0" algn="l">
              <a:buNone/>
            </a:pPr>
            <a:r>
              <a:rPr lang="en-US" sz="1300">
                <a:solidFill>
                  <a:srgbClr val="8BA0B5"/>
                </a:solidFill>
                <a:latin typeface="Calibri" pitchFamily="34" charset="0"/>
                <a:ea typeface="Calibri" pitchFamily="34" charset="-122"/>
                <a:cs typeface="Calibri" pitchFamily="34" charset="-120"/>
              </a:rPr>
              <a:t>CS 610  ·  May 2026</a:t>
            </a:r>
            <a:endParaRPr lang="en-US" sz="1300"/>
          </a:p>
        </p:txBody>
      </p:sp>
      <p:sp>
        <p:nvSpPr>
          <p:cNvPr id="13" name="Shape 8">
            <a:extLst>
              <a:ext uri="{FF2B5EF4-FFF2-40B4-BE49-F238E27FC236}">
                <a16:creationId xmlns:a16="http://schemas.microsoft.com/office/drawing/2014/main" id="{2291DD7B-D142-006D-691A-7B60D98F49A9}"/>
              </a:ext>
            </a:extLst>
          </p:cNvPr>
          <p:cNvSpPr/>
          <p:nvPr/>
        </p:nvSpPr>
        <p:spPr>
          <a:xfrm>
            <a:off x="6583680" y="3017520"/>
            <a:ext cx="2194560" cy="1554480"/>
          </a:xfrm>
          <a:prstGeom prst="rect">
            <a:avLst/>
          </a:prstGeom>
          <a:solidFill>
            <a:srgbClr val="1B3A5C"/>
          </a:solidFill>
          <a:ln w="12700">
            <a:solidFill>
              <a:srgbClr val="E8A020"/>
            </a:solidFill>
            <a:prstDash val="solid"/>
          </a:ln>
          <a:effectLst>
            <a:outerShdw blurRad="101600" dist="38100" dir="8100000" algn="bl" rotWithShape="0">
              <a:srgbClr val="000000">
                <a:alpha val="18000"/>
              </a:srgbClr>
            </a:outerShdw>
          </a:effectLst>
        </p:spPr>
        <p:txBody>
          <a:bodyPr/>
          <a:lstStyle/>
          <a:p>
            <a:endParaRPr lang="en-US"/>
          </a:p>
        </p:txBody>
      </p:sp>
      <p:sp>
        <p:nvSpPr>
          <p:cNvPr id="14" name="Text 9">
            <a:extLst>
              <a:ext uri="{FF2B5EF4-FFF2-40B4-BE49-F238E27FC236}">
                <a16:creationId xmlns:a16="http://schemas.microsoft.com/office/drawing/2014/main" id="{BD15D86F-DBB2-765C-F94E-7BEFE1B27212}"/>
              </a:ext>
            </a:extLst>
          </p:cNvPr>
          <p:cNvSpPr/>
          <p:nvPr/>
        </p:nvSpPr>
        <p:spPr>
          <a:xfrm>
            <a:off x="6583680" y="3154680"/>
            <a:ext cx="2194560" cy="640080"/>
          </a:xfrm>
          <a:prstGeom prst="rect">
            <a:avLst/>
          </a:prstGeom>
          <a:noFill/>
          <a:ln/>
        </p:spPr>
        <p:txBody>
          <a:bodyPr wrap="square" rtlCol="0" anchor="ctr"/>
          <a:lstStyle/>
          <a:p>
            <a:pPr marL="0" indent="0" algn="ctr">
              <a:buNone/>
            </a:pPr>
            <a:r>
              <a:rPr lang="en-US" sz="4000" b="1">
                <a:solidFill>
                  <a:srgbClr val="E8A020"/>
                </a:solidFill>
                <a:latin typeface="Calibri" pitchFamily="34" charset="0"/>
                <a:ea typeface="Calibri" pitchFamily="34" charset="-122"/>
                <a:cs typeface="Calibri" pitchFamily="34" charset="-120"/>
              </a:rPr>
              <a:t>3,990</a:t>
            </a:r>
            <a:endParaRPr lang="en-US" sz="4000"/>
          </a:p>
        </p:txBody>
      </p:sp>
      <p:sp>
        <p:nvSpPr>
          <p:cNvPr id="15" name="Text 10">
            <a:extLst>
              <a:ext uri="{FF2B5EF4-FFF2-40B4-BE49-F238E27FC236}">
                <a16:creationId xmlns:a16="http://schemas.microsoft.com/office/drawing/2014/main" id="{5CFAFD03-0A8E-46FE-CBFF-7FC0DBA3241F}"/>
              </a:ext>
            </a:extLst>
          </p:cNvPr>
          <p:cNvSpPr/>
          <p:nvPr/>
        </p:nvSpPr>
        <p:spPr>
          <a:xfrm>
            <a:off x="6583680" y="3749040"/>
            <a:ext cx="2194560" cy="640080"/>
          </a:xfrm>
          <a:prstGeom prst="rect">
            <a:avLst/>
          </a:prstGeom>
          <a:noFill/>
          <a:ln/>
        </p:spPr>
        <p:txBody>
          <a:bodyPr wrap="square" rtlCol="0" anchor="ctr"/>
          <a:lstStyle/>
          <a:p>
            <a:pPr marL="0" indent="0" algn="ctr">
              <a:buNone/>
            </a:pPr>
            <a:r>
              <a:rPr lang="en-US" sz="1300">
                <a:solidFill>
                  <a:srgbClr val="FFFFFF"/>
                </a:solidFill>
                <a:latin typeface="Calibri" pitchFamily="34" charset="0"/>
                <a:ea typeface="Calibri" pitchFamily="34" charset="-122"/>
                <a:cs typeface="Calibri" pitchFamily="34" charset="-120"/>
              </a:rPr>
              <a:t>NFL Games</a:t>
            </a:r>
            <a:endParaRPr lang="en-US" sz="1300"/>
          </a:p>
          <a:p>
            <a:pPr marL="0" indent="0" algn="ctr">
              <a:buNone/>
            </a:pPr>
            <a:r>
              <a:rPr lang="en-US" sz="1300">
                <a:solidFill>
                  <a:srgbClr val="FFFFFF"/>
                </a:solidFill>
                <a:latin typeface="Calibri" pitchFamily="34" charset="0"/>
                <a:ea typeface="Calibri" pitchFamily="34" charset="-122"/>
                <a:cs typeface="Calibri" pitchFamily="34" charset="-120"/>
              </a:rPr>
              <a:t>15 Seasons</a:t>
            </a:r>
            <a:endParaRPr lang="en-US" sz="1300"/>
          </a:p>
        </p:txBody>
      </p:sp>
    </p:spTree>
    <p:extLst>
      <p:ext uri="{BB962C8B-B14F-4D97-AF65-F5344CB8AC3E}">
        <p14:creationId xmlns:p14="http://schemas.microsoft.com/office/powerpoint/2010/main" val="2102575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365760" y="137160"/>
            <a:ext cx="8412480" cy="685800"/>
          </a:xfrm>
          <a:prstGeom prst="rect">
            <a:avLst/>
          </a:prstGeom>
          <a:noFill/>
          <a:ln/>
        </p:spPr>
        <p:txBody>
          <a:bodyPr wrap="square" lIns="91440" tIns="45720" rIns="91440" bIns="45720" rtlCol="0" anchor="ctr"/>
          <a:lstStyle/>
          <a:p>
            <a:pPr marL="0" indent="0">
              <a:buNone/>
            </a:pPr>
            <a:r>
              <a:rPr lang="en-US" sz="2800" b="1">
                <a:solidFill>
                  <a:srgbClr val="FFFFFF"/>
                </a:solidFill>
                <a:latin typeface="Calibri"/>
                <a:ea typeface="Calibri"/>
                <a:cs typeface="Calibri"/>
              </a:rPr>
              <a:t>Introduction</a:t>
            </a:r>
            <a:endParaRPr lang="en-US" sz="2800"/>
          </a:p>
        </p:txBody>
      </p:sp>
      <p:sp>
        <p:nvSpPr>
          <p:cNvPr id="5" name="Rectangle 4">
            <a:extLst>
              <a:ext uri="{FF2B5EF4-FFF2-40B4-BE49-F238E27FC236}">
                <a16:creationId xmlns:a16="http://schemas.microsoft.com/office/drawing/2014/main" id="{EE7D1C5D-8277-1042-AC50-CDF0F8EA9060}"/>
              </a:ext>
            </a:extLst>
          </p:cNvPr>
          <p:cNvSpPr/>
          <p:nvPr/>
        </p:nvSpPr>
        <p:spPr>
          <a:xfrm>
            <a:off x="254000" y="1168400"/>
            <a:ext cx="8636000" cy="2133600"/>
          </a:xfrm>
          <a:prstGeom prst="rect">
            <a:avLst/>
          </a:prstGeom>
          <a:solidFill>
            <a:srgbClr val="FFFFFF"/>
          </a:solidFill>
          <a:ln w="6350" cap="flat" cmpd="sng" algn="ctr">
            <a:solidFill>
              <a:srgbClr val="D6D6D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5E6A77C7-B3EC-F542-AE1E-C50B67CDDD43}"/>
              </a:ext>
            </a:extLst>
          </p:cNvPr>
          <p:cNvSpPr/>
          <p:nvPr/>
        </p:nvSpPr>
        <p:spPr>
          <a:xfrm>
            <a:off x="254000" y="1168400"/>
            <a:ext cx="8636000" cy="508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12C58548-FCB6-AB41-B5F1-FDEF0EB19EE0}"/>
              </a:ext>
            </a:extLst>
          </p:cNvPr>
          <p:cNvSpPr txBox="1"/>
          <p:nvPr/>
        </p:nvSpPr>
        <p:spPr>
          <a:xfrm>
            <a:off x="838200" y="1270000"/>
            <a:ext cx="7874000" cy="304800"/>
          </a:xfrm>
          <a:prstGeom prst="rect">
            <a:avLst/>
          </a:prstGeom>
          <a:noFill/>
        </p:spPr>
        <p:txBody>
          <a:bodyPr vertOverflow="overflow" vert="horz" wrap="square" rtlCol="0" anchor="ctr" anchorCtr="0">
            <a:noAutofit/>
          </a:bodyPr>
          <a:lstStyle/>
          <a:p>
            <a:pPr marL="0" indent="0">
              <a:lnSpc>
                <a:spcPct val="115000"/>
              </a:lnSpc>
              <a:buNone/>
            </a:pPr>
            <a:r>
              <a:rPr lang="en-US" sz="1300" b="1">
                <a:solidFill>
                  <a:srgbClr val="FFFFFF"/>
                </a:solidFill>
                <a:latin typeface="Calibri"/>
                <a:cs typeface="Calibri"/>
              </a:rPr>
              <a:t>PROBLEM STATEMENT</a:t>
            </a:r>
          </a:p>
        </p:txBody>
      </p:sp>
      <p:sp>
        <p:nvSpPr>
          <p:cNvPr id="9" name="TextBox 8">
            <a:extLst>
              <a:ext uri="{FF2B5EF4-FFF2-40B4-BE49-F238E27FC236}">
                <a16:creationId xmlns:a16="http://schemas.microsoft.com/office/drawing/2014/main" id="{9819E07F-2325-E240-BA80-035E2906B3E2}"/>
              </a:ext>
            </a:extLst>
          </p:cNvPr>
          <p:cNvSpPr txBox="1"/>
          <p:nvPr/>
        </p:nvSpPr>
        <p:spPr>
          <a:xfrm>
            <a:off x="558800" y="1854200"/>
            <a:ext cx="8219440" cy="1320800"/>
          </a:xfrm>
          <a:prstGeom prst="rect">
            <a:avLst/>
          </a:prstGeom>
          <a:noFill/>
        </p:spPr>
        <p:txBody>
          <a:bodyPr vertOverflow="overflow" vert="horz" wrap="square" lIns="91440" tIns="45720" rIns="91440" bIns="45720" rtlCol="0" anchor="t">
            <a:noAutofit/>
          </a:bodyPr>
          <a:lstStyle/>
          <a:p>
            <a:pPr marL="0" indent="0" algn="ctr">
              <a:lnSpc>
                <a:spcPct val="120000"/>
              </a:lnSpc>
              <a:spcAft>
                <a:spcPts val="600"/>
              </a:spcAft>
              <a:buNone/>
            </a:pPr>
            <a:r>
              <a:rPr lang="en-US" sz="1500">
                <a:solidFill>
                  <a:srgbClr val="404040"/>
                </a:solidFill>
                <a:latin typeface="Calibri"/>
                <a:cs typeface="Calibri"/>
              </a:rPr>
              <a:t>Two information sources exist for every NFL game — </a:t>
            </a:r>
            <a:r>
              <a:rPr lang="en-US" sz="1500" b="1">
                <a:solidFill>
                  <a:srgbClr val="1B3A5C"/>
                </a:solidFill>
                <a:latin typeface="Calibri"/>
                <a:cs typeface="Calibri"/>
              </a:rPr>
              <a:t>historical game stats</a:t>
            </a:r>
            <a:r>
              <a:rPr lang="en-US" sz="1500">
                <a:solidFill>
                  <a:srgbClr val="404040"/>
                </a:solidFill>
                <a:latin typeface="Calibri"/>
                <a:cs typeface="Calibri"/>
              </a:rPr>
              <a:t> and </a:t>
            </a:r>
            <a:r>
              <a:rPr lang="en-US" sz="1500" b="1">
                <a:solidFill>
                  <a:srgbClr val="1B3A5C"/>
                </a:solidFill>
                <a:latin typeface="Calibri"/>
                <a:cs typeface="Calibri"/>
              </a:rPr>
              <a:t>market signals</a:t>
            </a:r>
            <a:r>
              <a:rPr lang="en-US" sz="1500">
                <a:solidFill>
                  <a:srgbClr val="404040"/>
                </a:solidFill>
                <a:latin typeface="Calibri"/>
                <a:cs typeface="Calibri"/>
              </a:rPr>
              <a:t>.</a:t>
            </a:r>
            <a:endParaRPr lang="en-US"/>
          </a:p>
          <a:p>
            <a:pPr algn="ctr">
              <a:lnSpc>
                <a:spcPct val="120000"/>
              </a:lnSpc>
            </a:pPr>
            <a:r>
              <a:rPr lang="en-US" sz="1700" b="1">
                <a:solidFill>
                  <a:srgbClr val="1B3A5C"/>
                </a:solidFill>
                <a:latin typeface="Calibri"/>
                <a:cs typeface="Calibri"/>
              </a:rPr>
              <a:t>Do market signals encode predictive information</a:t>
            </a:r>
            <a:endParaRPr lang="en-US" sz="1700" b="1">
              <a:solidFill>
                <a:srgbClr val="E0A93D"/>
              </a:solidFill>
              <a:latin typeface="Calibri"/>
              <a:ea typeface="Calibri"/>
              <a:cs typeface="Calibri"/>
            </a:endParaRPr>
          </a:p>
          <a:p>
            <a:pPr marL="0" indent="0" algn="ctr">
              <a:lnSpc>
                <a:spcPct val="120000"/>
              </a:lnSpc>
              <a:buNone/>
            </a:pPr>
            <a:r>
              <a:rPr lang="en-US" sz="1700" b="1">
                <a:solidFill>
                  <a:srgbClr val="E0A93D"/>
                </a:solidFill>
                <a:latin typeface="Calibri"/>
                <a:cs typeface="Calibri"/>
              </a:rPr>
              <a:t>beyond what game stats already capture?</a:t>
            </a:r>
            <a:endParaRPr lang="en-US">
              <a:ea typeface="Calibri" panose="020F0502020204030204"/>
              <a:cs typeface="Calibri" panose="020F0502020204030204"/>
            </a:endParaRPr>
          </a:p>
        </p:txBody>
      </p:sp>
      <p:sp>
        <p:nvSpPr>
          <p:cNvPr id="10" name="Rectangle 9">
            <a:extLst>
              <a:ext uri="{FF2B5EF4-FFF2-40B4-BE49-F238E27FC236}">
                <a16:creationId xmlns:a16="http://schemas.microsoft.com/office/drawing/2014/main" id="{618E74E5-B91E-2444-95F3-A38CE6B01A43}"/>
              </a:ext>
            </a:extLst>
          </p:cNvPr>
          <p:cNvSpPr/>
          <p:nvPr/>
        </p:nvSpPr>
        <p:spPr>
          <a:xfrm>
            <a:off x="254000" y="3505200"/>
            <a:ext cx="2806700" cy="1473200"/>
          </a:xfrm>
          <a:prstGeom prst="rect">
            <a:avLst/>
          </a:prstGeom>
          <a:solidFill>
            <a:srgbClr val="FFFFFF"/>
          </a:solidFill>
          <a:ln w="6350" cap="flat" cmpd="sng" algn="ctr">
            <a:solidFill>
              <a:srgbClr val="D6D6D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B2B4A382-77AD-1347-8E82-F0F6410BD968}"/>
              </a:ext>
            </a:extLst>
          </p:cNvPr>
          <p:cNvSpPr/>
          <p:nvPr/>
        </p:nvSpPr>
        <p:spPr>
          <a:xfrm>
            <a:off x="254000" y="3505200"/>
            <a:ext cx="2806700" cy="3556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E5CD71C8-37A7-1644-9F89-D638825AB877}"/>
              </a:ext>
            </a:extLst>
          </p:cNvPr>
          <p:cNvSpPr txBox="1"/>
          <p:nvPr/>
        </p:nvSpPr>
        <p:spPr>
          <a:xfrm>
            <a:off x="685800" y="3568700"/>
            <a:ext cx="2298700" cy="228600"/>
          </a:xfrm>
          <a:prstGeom prst="rect">
            <a:avLst/>
          </a:prstGeom>
          <a:noFill/>
        </p:spPr>
        <p:txBody>
          <a:bodyPr vertOverflow="overflow" vert="horz" wrap="square" rtlCol="0" anchor="ctr" anchorCtr="0">
            <a:noAutofit/>
          </a:bodyPr>
          <a:lstStyle/>
          <a:p>
            <a:pPr marL="0" indent="0">
              <a:lnSpc>
                <a:spcPct val="115000"/>
              </a:lnSpc>
              <a:buNone/>
            </a:pPr>
            <a:r>
              <a:rPr lang="en-US" sz="1000" b="1">
                <a:solidFill>
                  <a:srgbClr val="FFFFFF"/>
                </a:solidFill>
                <a:latin typeface="Calibri"/>
                <a:cs typeface="Calibri"/>
              </a:rPr>
              <a:t>WHY IT MATTERS</a:t>
            </a:r>
          </a:p>
        </p:txBody>
      </p:sp>
      <p:sp>
        <p:nvSpPr>
          <p:cNvPr id="14" name="TextBox 13">
            <a:extLst>
              <a:ext uri="{FF2B5EF4-FFF2-40B4-BE49-F238E27FC236}">
                <a16:creationId xmlns:a16="http://schemas.microsoft.com/office/drawing/2014/main" id="{8414BF44-22F8-734F-8AAD-E06EC5835E44}"/>
              </a:ext>
            </a:extLst>
          </p:cNvPr>
          <p:cNvSpPr txBox="1"/>
          <p:nvPr/>
        </p:nvSpPr>
        <p:spPr>
          <a:xfrm>
            <a:off x="406400" y="3962400"/>
            <a:ext cx="2501900" cy="914400"/>
          </a:xfrm>
          <a:prstGeom prst="rect">
            <a:avLst/>
          </a:prstGeom>
          <a:noFill/>
        </p:spPr>
        <p:txBody>
          <a:bodyPr vertOverflow="overflow" vert="horz" wrap="square" rtlCol="0" anchor="t">
            <a:noAutofit/>
          </a:bodyPr>
          <a:lstStyle/>
          <a:p>
            <a:pPr marL="0" indent="0">
              <a:lnSpc>
                <a:spcPct val="120000"/>
              </a:lnSpc>
              <a:buNone/>
            </a:pPr>
            <a:r>
              <a:rPr lang="en-US" sz="1100">
                <a:solidFill>
                  <a:srgbClr val="404040"/>
                </a:solidFill>
                <a:latin typeface="Calibri"/>
                <a:cs typeface="Calibri"/>
              </a:rPr>
              <a:t>First formal test of conditional dependence between game fundamentals, market, and outcome.</a:t>
            </a:r>
          </a:p>
        </p:txBody>
      </p:sp>
      <p:sp>
        <p:nvSpPr>
          <p:cNvPr id="15" name="Rectangle 14">
            <a:extLst>
              <a:ext uri="{FF2B5EF4-FFF2-40B4-BE49-F238E27FC236}">
                <a16:creationId xmlns:a16="http://schemas.microsoft.com/office/drawing/2014/main" id="{35437575-829F-2940-80A7-4AC9065E8588}"/>
              </a:ext>
            </a:extLst>
          </p:cNvPr>
          <p:cNvSpPr/>
          <p:nvPr/>
        </p:nvSpPr>
        <p:spPr>
          <a:xfrm>
            <a:off x="3175000" y="3505200"/>
            <a:ext cx="2806700" cy="1473200"/>
          </a:xfrm>
          <a:prstGeom prst="rect">
            <a:avLst/>
          </a:prstGeom>
          <a:solidFill>
            <a:srgbClr val="FFFFFF"/>
          </a:solidFill>
          <a:ln w="6350" cap="flat" cmpd="sng" algn="ctr">
            <a:solidFill>
              <a:srgbClr val="D6D6D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4B28612F-DCC4-BC4F-98D3-E8761398D569}"/>
              </a:ext>
            </a:extLst>
          </p:cNvPr>
          <p:cNvSpPr/>
          <p:nvPr/>
        </p:nvSpPr>
        <p:spPr>
          <a:xfrm>
            <a:off x="3175000" y="3505200"/>
            <a:ext cx="2806700" cy="3556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F7DE276E-D6CC-6D47-AA84-CCCBAEFC2146}"/>
              </a:ext>
            </a:extLst>
          </p:cNvPr>
          <p:cNvSpPr txBox="1"/>
          <p:nvPr/>
        </p:nvSpPr>
        <p:spPr>
          <a:xfrm>
            <a:off x="3606800" y="3568700"/>
            <a:ext cx="2298700" cy="228600"/>
          </a:xfrm>
          <a:prstGeom prst="rect">
            <a:avLst/>
          </a:prstGeom>
          <a:noFill/>
        </p:spPr>
        <p:txBody>
          <a:bodyPr vertOverflow="overflow" vert="horz" wrap="square" rtlCol="0" anchor="ctr" anchorCtr="0">
            <a:noAutofit/>
          </a:bodyPr>
          <a:lstStyle/>
          <a:p>
            <a:pPr marL="0" indent="0">
              <a:lnSpc>
                <a:spcPct val="115000"/>
              </a:lnSpc>
              <a:buNone/>
            </a:pPr>
            <a:r>
              <a:rPr lang="en-US" sz="1000" b="1">
                <a:solidFill>
                  <a:srgbClr val="FFFFFF"/>
                </a:solidFill>
                <a:latin typeface="Calibri"/>
                <a:cs typeface="Calibri"/>
              </a:rPr>
              <a:t>SIGNIFICANCE</a:t>
            </a:r>
          </a:p>
        </p:txBody>
      </p:sp>
      <p:sp>
        <p:nvSpPr>
          <p:cNvPr id="19" name="TextBox 18">
            <a:extLst>
              <a:ext uri="{FF2B5EF4-FFF2-40B4-BE49-F238E27FC236}">
                <a16:creationId xmlns:a16="http://schemas.microsoft.com/office/drawing/2014/main" id="{8956A82D-00B3-3D42-9DD0-929497C370FD}"/>
              </a:ext>
            </a:extLst>
          </p:cNvPr>
          <p:cNvSpPr txBox="1"/>
          <p:nvPr/>
        </p:nvSpPr>
        <p:spPr>
          <a:xfrm>
            <a:off x="3327400" y="3962400"/>
            <a:ext cx="2501900" cy="914400"/>
          </a:xfrm>
          <a:prstGeom prst="rect">
            <a:avLst/>
          </a:prstGeom>
          <a:noFill/>
        </p:spPr>
        <p:txBody>
          <a:bodyPr vertOverflow="overflow" vert="horz" wrap="square" rtlCol="0" anchor="t">
            <a:noAutofit/>
          </a:bodyPr>
          <a:lstStyle/>
          <a:p>
            <a:pPr marL="0" indent="0">
              <a:lnSpc>
                <a:spcPct val="120000"/>
              </a:lnSpc>
              <a:buNone/>
            </a:pPr>
            <a:r>
              <a:rPr lang="en-US" sz="1100">
                <a:solidFill>
                  <a:srgbClr val="404040"/>
                </a:solidFill>
                <a:latin typeface="Calibri"/>
                <a:cs typeface="Calibri"/>
              </a:rPr>
              <a:t>Either result is meaningful — </a:t>
            </a:r>
            <a:r>
              <a:rPr lang="en-US" sz="1100" b="1">
                <a:solidFill>
                  <a:srgbClr val="1B3A5C"/>
                </a:solidFill>
                <a:latin typeface="Calibri"/>
                <a:cs typeface="Calibri"/>
              </a:rPr>
              <a:t>inefficiency found </a:t>
            </a:r>
            <a:r>
              <a:rPr lang="en-US" sz="1100">
                <a:solidFill>
                  <a:srgbClr val="404040"/>
                </a:solidFill>
                <a:latin typeface="Calibri"/>
                <a:cs typeface="Calibri"/>
              </a:rPr>
              <a:t>or </a:t>
            </a:r>
            <a:r>
              <a:rPr lang="en-US" sz="1100" b="1">
                <a:solidFill>
                  <a:srgbClr val="1B3A5C"/>
                </a:solidFill>
                <a:latin typeface="Calibri"/>
                <a:cs typeface="Calibri"/>
              </a:rPr>
              <a:t>closing line sufficiency confirmed</a:t>
            </a:r>
            <a:r>
              <a:rPr lang="en-US" sz="1100">
                <a:solidFill>
                  <a:srgbClr val="404040"/>
                </a:solidFill>
                <a:latin typeface="Calibri"/>
                <a:cs typeface="Calibri"/>
              </a:rPr>
              <a:t>.</a:t>
            </a:r>
          </a:p>
        </p:txBody>
      </p:sp>
      <p:sp>
        <p:nvSpPr>
          <p:cNvPr id="20" name="Rectangle 19">
            <a:extLst>
              <a:ext uri="{FF2B5EF4-FFF2-40B4-BE49-F238E27FC236}">
                <a16:creationId xmlns:a16="http://schemas.microsoft.com/office/drawing/2014/main" id="{888D8CC6-4B5B-AF4A-805E-66CE7643C6D8}"/>
              </a:ext>
            </a:extLst>
          </p:cNvPr>
          <p:cNvSpPr/>
          <p:nvPr/>
        </p:nvSpPr>
        <p:spPr>
          <a:xfrm>
            <a:off x="6096000" y="3505200"/>
            <a:ext cx="2806700" cy="1473200"/>
          </a:xfrm>
          <a:prstGeom prst="rect">
            <a:avLst/>
          </a:prstGeom>
          <a:solidFill>
            <a:srgbClr val="FFFFFF"/>
          </a:solidFill>
          <a:ln w="6350" cap="flat" cmpd="sng" algn="ctr">
            <a:solidFill>
              <a:srgbClr val="D6D6D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B7283E0C-5A53-E54C-B39E-E4385C71A7E5}"/>
              </a:ext>
            </a:extLst>
          </p:cNvPr>
          <p:cNvSpPr/>
          <p:nvPr/>
        </p:nvSpPr>
        <p:spPr>
          <a:xfrm>
            <a:off x="6096000" y="3505200"/>
            <a:ext cx="2806700" cy="3556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62A68B65-8A53-FF43-9F39-C7A1B7B92ACC}"/>
              </a:ext>
            </a:extLst>
          </p:cNvPr>
          <p:cNvSpPr txBox="1"/>
          <p:nvPr/>
        </p:nvSpPr>
        <p:spPr>
          <a:xfrm>
            <a:off x="6527800" y="3568700"/>
            <a:ext cx="2298700" cy="228600"/>
          </a:xfrm>
          <a:prstGeom prst="rect">
            <a:avLst/>
          </a:prstGeom>
          <a:noFill/>
        </p:spPr>
        <p:txBody>
          <a:bodyPr vertOverflow="overflow" vert="horz" wrap="square" rtlCol="0" anchor="ctr" anchorCtr="0">
            <a:noAutofit/>
          </a:bodyPr>
          <a:lstStyle/>
          <a:p>
            <a:pPr marL="0" indent="0">
              <a:lnSpc>
                <a:spcPct val="115000"/>
              </a:lnSpc>
              <a:buNone/>
            </a:pPr>
            <a:r>
              <a:rPr lang="en-US" sz="1000" b="1">
                <a:solidFill>
                  <a:srgbClr val="FFFFFF"/>
                </a:solidFill>
                <a:latin typeface="Calibri"/>
                <a:cs typeface="Calibri"/>
              </a:rPr>
              <a:t>HISTORICAL FRAMING</a:t>
            </a:r>
          </a:p>
        </p:txBody>
      </p:sp>
      <p:sp>
        <p:nvSpPr>
          <p:cNvPr id="24" name="TextBox 23">
            <a:extLst>
              <a:ext uri="{FF2B5EF4-FFF2-40B4-BE49-F238E27FC236}">
                <a16:creationId xmlns:a16="http://schemas.microsoft.com/office/drawing/2014/main" id="{EA9BB7AF-E805-7046-95E4-F5B3FEEE980E}"/>
              </a:ext>
            </a:extLst>
          </p:cNvPr>
          <p:cNvSpPr txBox="1"/>
          <p:nvPr/>
        </p:nvSpPr>
        <p:spPr>
          <a:xfrm>
            <a:off x="6248400" y="3962400"/>
            <a:ext cx="2501900" cy="914400"/>
          </a:xfrm>
          <a:prstGeom prst="rect">
            <a:avLst/>
          </a:prstGeom>
          <a:noFill/>
        </p:spPr>
        <p:txBody>
          <a:bodyPr vertOverflow="overflow" vert="horz" wrap="square" rtlCol="0" anchor="t">
            <a:noAutofit/>
          </a:bodyPr>
          <a:lstStyle/>
          <a:p>
            <a:pPr marL="0" indent="0">
              <a:lnSpc>
                <a:spcPct val="120000"/>
              </a:lnSpc>
              <a:buNone/>
            </a:pPr>
            <a:r>
              <a:rPr lang="en-US" sz="1100" b="1">
                <a:solidFill>
                  <a:srgbClr val="1B3A5C"/>
                </a:solidFill>
                <a:latin typeface="Calibri"/>
                <a:cs typeface="Calibri"/>
              </a:rPr>
              <a:t>2007–2022 </a:t>
            </a:r>
            <a:r>
              <a:rPr lang="en-US" sz="1100">
                <a:solidFill>
                  <a:srgbClr val="404040"/>
                </a:solidFill>
                <a:latin typeface="Calibri"/>
                <a:cs typeface="Calibri"/>
              </a:rPr>
              <a:t>data window, spanning the 2018 PASPA repeal — not a prescriptive system.</a:t>
            </a:r>
          </a:p>
        </p:txBody>
      </p:sp>
      <p:pic>
        <p:nvPicPr>
          <p:cNvPr id="26" name="Graphic 26" descr="Lightbulb"/>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0200" y="3543300"/>
            <a:ext cx="279400" cy="279400"/>
          </a:xfrm>
          <a:prstGeom prst="rect">
            <a:avLst/>
          </a:prstGeom>
        </p:spPr>
      </p:pic>
      <p:pic>
        <p:nvPicPr>
          <p:cNvPr id="27" name="Graphic 27" descr="Bullsey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51200" y="3543300"/>
            <a:ext cx="279400" cy="279400"/>
          </a:xfrm>
          <a:prstGeom prst="rect">
            <a:avLst/>
          </a:prstGeom>
        </p:spPr>
      </p:pic>
      <p:pic>
        <p:nvPicPr>
          <p:cNvPr id="28" name="Graphic 28" descr="Calenda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72200" y="3543300"/>
            <a:ext cx="279400" cy="279400"/>
          </a:xfrm>
          <a:prstGeom prst="rect">
            <a:avLst/>
          </a:prstGeom>
        </p:spPr>
      </p:pic>
      <p:pic>
        <p:nvPicPr>
          <p:cNvPr id="29" name="Graphic 29" descr="Question badge"/>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06400" y="1244600"/>
            <a:ext cx="355600" cy="355600"/>
          </a:xfrm>
          <a:prstGeom prst="rect">
            <a:avLst/>
          </a:prstGeom>
        </p:spPr>
      </p:pic>
    </p:spTree>
    <p:extLst>
      <p:ext uri="{BB962C8B-B14F-4D97-AF65-F5344CB8AC3E}">
        <p14:creationId xmlns:p14="http://schemas.microsoft.com/office/powerpoint/2010/main" val="367003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F9C8B6B9-46C4-86CC-4DE1-53177C69945D}"/>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E5E03421-CA6B-1B22-E27A-21BA271D7750}"/>
              </a:ext>
            </a:extLst>
          </p:cNvPr>
          <p:cNvSpPr/>
          <p:nvPr/>
        </p:nvSpPr>
        <p:spPr>
          <a:xfrm>
            <a:off x="4724400" y="1117600"/>
            <a:ext cx="4165600" cy="2387600"/>
          </a:xfrm>
          <a:prstGeom prst="rect">
            <a:avLst/>
          </a:prstGeom>
          <a:solidFill>
            <a:srgbClr val="FFFFFF"/>
          </a:solidFill>
          <a:ln w="15875" cap="flat" cmpd="sng" algn="ctr">
            <a:solidFill>
              <a:srgbClr val="8C2A3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0CA5FABE-2A78-51CE-04CC-EBF1B75FB27D}"/>
              </a:ext>
            </a:extLst>
          </p:cNvPr>
          <p:cNvSpPr/>
          <p:nvPr/>
        </p:nvSpPr>
        <p:spPr>
          <a:xfrm>
            <a:off x="254000" y="2393362"/>
            <a:ext cx="4318000" cy="1117600"/>
          </a:xfrm>
          <a:prstGeom prst="rect">
            <a:avLst/>
          </a:prstGeom>
          <a:solidFill>
            <a:srgbClr val="FFFFFF"/>
          </a:solidFill>
          <a:ln w="15875" cap="flat" cmpd="sng" algn="ctr">
            <a:solidFill>
              <a:srgbClr val="2E7D7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A304381F-DB86-4694-FA62-5E5F0E0DDE4C}"/>
              </a:ext>
            </a:extLst>
          </p:cNvPr>
          <p:cNvSpPr/>
          <p:nvPr/>
        </p:nvSpPr>
        <p:spPr>
          <a:xfrm>
            <a:off x="254000" y="1136454"/>
            <a:ext cx="4318000" cy="1117600"/>
          </a:xfrm>
          <a:prstGeom prst="rect">
            <a:avLst/>
          </a:prstGeom>
          <a:solidFill>
            <a:srgbClr val="FFFFFF"/>
          </a:solidFill>
          <a:ln w="15875" cap="flat" cmpd="sng" algn="ctr">
            <a:solidFill>
              <a:srgbClr val="1B3A5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Shape 0">
            <a:extLst>
              <a:ext uri="{FF2B5EF4-FFF2-40B4-BE49-F238E27FC236}">
                <a16:creationId xmlns:a16="http://schemas.microsoft.com/office/drawing/2014/main" id="{91F42CA5-B5D4-0171-9177-FC191A1D758B}"/>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a:extLst>
              <a:ext uri="{FF2B5EF4-FFF2-40B4-BE49-F238E27FC236}">
                <a16:creationId xmlns:a16="http://schemas.microsoft.com/office/drawing/2014/main" id="{CFA95742-D651-1FB6-CF7D-84DA353D307C}"/>
              </a:ext>
            </a:extLst>
          </p:cNvPr>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a:extLst>
              <a:ext uri="{FF2B5EF4-FFF2-40B4-BE49-F238E27FC236}">
                <a16:creationId xmlns:a16="http://schemas.microsoft.com/office/drawing/2014/main" id="{44DC2004-EDBE-B484-5854-68F418A3E8DB}"/>
              </a:ext>
            </a:extLst>
          </p:cNvPr>
          <p:cNvSpPr/>
          <p:nvPr/>
        </p:nvSpPr>
        <p:spPr>
          <a:xfrm>
            <a:off x="365760" y="137160"/>
            <a:ext cx="8412480" cy="685800"/>
          </a:xfrm>
          <a:prstGeom prst="rect">
            <a:avLst/>
          </a:prstGeom>
          <a:noFill/>
          <a:ln/>
        </p:spPr>
        <p:txBody>
          <a:bodyPr wrap="square" lIns="91440" tIns="45720" rIns="91440" bIns="45720" rtlCol="0" anchor="ctr"/>
          <a:lstStyle/>
          <a:p>
            <a:r>
              <a:rPr lang="en-US" sz="2800" b="1">
                <a:solidFill>
                  <a:srgbClr val="FFFFFF"/>
                </a:solidFill>
                <a:latin typeface="Calibri"/>
                <a:ea typeface="Calibri"/>
                <a:cs typeface="Calibri"/>
              </a:rPr>
              <a:t>Literature Review</a:t>
            </a:r>
            <a:endParaRPr lang="en-US" sz="2800"/>
          </a:p>
        </p:txBody>
      </p:sp>
      <p:sp>
        <p:nvSpPr>
          <p:cNvPr id="6" name="Rectangle 5">
            <a:extLst>
              <a:ext uri="{FF2B5EF4-FFF2-40B4-BE49-F238E27FC236}">
                <a16:creationId xmlns:a16="http://schemas.microsoft.com/office/drawing/2014/main" id="{9B2F089C-302C-F961-9DF0-F6A22CBBBC58}"/>
              </a:ext>
            </a:extLst>
          </p:cNvPr>
          <p:cNvSpPr/>
          <p:nvPr/>
        </p:nvSpPr>
        <p:spPr>
          <a:xfrm>
            <a:off x="254000" y="1136454"/>
            <a:ext cx="4318000" cy="381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GroupHeaderText_Group1">
            <a:extLst>
              <a:ext uri="{FF2B5EF4-FFF2-40B4-BE49-F238E27FC236}">
                <a16:creationId xmlns:a16="http://schemas.microsoft.com/office/drawing/2014/main" id="{ECC02653-D028-86D1-6FB7-697D031FBBBD}"/>
              </a:ext>
            </a:extLst>
          </p:cNvPr>
          <p:cNvSpPr txBox="1"/>
          <p:nvPr/>
        </p:nvSpPr>
        <p:spPr>
          <a:xfrm>
            <a:off x="254000" y="1136454"/>
            <a:ext cx="4318000" cy="381000"/>
          </a:xfrm>
          <a:prstGeom prst="rect">
            <a:avLst/>
          </a:prstGeom>
          <a:noFill/>
          <a:ln>
            <a:noFill/>
          </a:ln>
        </p:spPr>
        <p:txBody>
          <a:bodyPr vertOverflow="overflow" vert="horz" wrap="square" rtlCol="0" anchor="ctr" anchorCtr="0">
            <a:noAutofit/>
          </a:bodyPr>
          <a:lstStyle/>
          <a:p>
            <a:pPr algn="l"/>
            <a:r>
              <a:rPr lang="en-US" sz="1100">
                <a:solidFill>
                  <a:srgbClr val="FFFFFF"/>
                </a:solidFill>
                <a:latin typeface="Calibri"/>
                <a:cs typeface="Calibri"/>
              </a:rPr>
              <a:t>Group 1
BNs for Sports Prediction</a:t>
            </a:r>
          </a:p>
        </p:txBody>
      </p:sp>
      <p:sp>
        <p:nvSpPr>
          <p:cNvPr id="8" name="TextBox 7">
            <a:extLst>
              <a:ext uri="{FF2B5EF4-FFF2-40B4-BE49-F238E27FC236}">
                <a16:creationId xmlns:a16="http://schemas.microsoft.com/office/drawing/2014/main" id="{85B2C095-1942-FB66-7121-E3FA6D1B42C7}"/>
              </a:ext>
            </a:extLst>
          </p:cNvPr>
          <p:cNvSpPr txBox="1"/>
          <p:nvPr/>
        </p:nvSpPr>
        <p:spPr>
          <a:xfrm>
            <a:off x="381000" y="1593654"/>
            <a:ext cx="4089400" cy="228600"/>
          </a:xfrm>
          <a:prstGeom prst="rect">
            <a:avLst/>
          </a:prstGeom>
          <a:noFill/>
          <a:ln>
            <a:noFill/>
          </a:ln>
        </p:spPr>
        <p:txBody>
          <a:bodyPr vertOverflow="overflow" vert="horz" wrap="square" rtlCol="0" anchor="t" anchorCtr="0">
            <a:noAutofit/>
          </a:bodyPr>
          <a:lstStyle/>
          <a:p>
            <a:pPr algn="l"/>
            <a:r>
              <a:rPr lang="en-US" sz="1200" b="1">
                <a:solidFill>
                  <a:srgbClr val="1B3A5C"/>
                </a:solidFill>
                <a:latin typeface="Calibri"/>
                <a:cs typeface="Calibri"/>
              </a:rPr>
              <a:t>Constantinou, Fenton &amp; Neil (2012–13)</a:t>
            </a:r>
          </a:p>
        </p:txBody>
      </p:sp>
      <p:sp>
        <p:nvSpPr>
          <p:cNvPr id="9" name="TextBox 8">
            <a:extLst>
              <a:ext uri="{FF2B5EF4-FFF2-40B4-BE49-F238E27FC236}">
                <a16:creationId xmlns:a16="http://schemas.microsoft.com/office/drawing/2014/main" id="{1BA2B655-FD42-7837-E35E-BAA20709A2C2}"/>
              </a:ext>
            </a:extLst>
          </p:cNvPr>
          <p:cNvSpPr txBox="1"/>
          <p:nvPr/>
        </p:nvSpPr>
        <p:spPr>
          <a:xfrm>
            <a:off x="381000" y="1847654"/>
            <a:ext cx="4089400" cy="381000"/>
          </a:xfrm>
          <a:prstGeom prst="rect">
            <a:avLst/>
          </a:prstGeom>
          <a:noFill/>
          <a:ln>
            <a:noFill/>
          </a:ln>
        </p:spPr>
        <p:txBody>
          <a:bodyPr vertOverflow="overflow" vert="horz" wrap="square" rtlCol="0" anchor="t" anchorCtr="0">
            <a:noAutofit/>
          </a:bodyPr>
          <a:lstStyle/>
          <a:p>
            <a:pPr algn="l"/>
            <a:r>
              <a:rPr lang="en-US" sz="1100">
                <a:solidFill>
                  <a:srgbClr val="404040"/>
                </a:solidFill>
                <a:latin typeface="Calibri"/>
                <a:cs typeface="Calibri"/>
              </a:rPr>
              <a:t>BN for soccer forecasting — game variables only, no market movement</a:t>
            </a:r>
          </a:p>
        </p:txBody>
      </p:sp>
      <p:sp>
        <p:nvSpPr>
          <p:cNvPr id="11" name="Rectangle 10">
            <a:extLst>
              <a:ext uri="{FF2B5EF4-FFF2-40B4-BE49-F238E27FC236}">
                <a16:creationId xmlns:a16="http://schemas.microsoft.com/office/drawing/2014/main" id="{0EC68221-78B2-AF38-C2F9-AD4B8291A4DF}"/>
              </a:ext>
            </a:extLst>
          </p:cNvPr>
          <p:cNvSpPr/>
          <p:nvPr/>
        </p:nvSpPr>
        <p:spPr>
          <a:xfrm>
            <a:off x="254000" y="2393362"/>
            <a:ext cx="4318000" cy="381000"/>
          </a:xfrm>
          <a:prstGeom prst="rect">
            <a:avLst/>
          </a:prstGeom>
          <a:solidFill>
            <a:srgbClr val="2E7D7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GroupHeaderText_Group2">
            <a:extLst>
              <a:ext uri="{FF2B5EF4-FFF2-40B4-BE49-F238E27FC236}">
                <a16:creationId xmlns:a16="http://schemas.microsoft.com/office/drawing/2014/main" id="{DA92B316-C83D-57A8-C826-115753A83BBF}"/>
              </a:ext>
            </a:extLst>
          </p:cNvPr>
          <p:cNvSpPr txBox="1"/>
          <p:nvPr/>
        </p:nvSpPr>
        <p:spPr>
          <a:xfrm>
            <a:off x="254000" y="2393362"/>
            <a:ext cx="4318000" cy="381000"/>
          </a:xfrm>
          <a:prstGeom prst="rect">
            <a:avLst/>
          </a:prstGeom>
          <a:noFill/>
          <a:ln>
            <a:noFill/>
          </a:ln>
        </p:spPr>
        <p:txBody>
          <a:bodyPr vertOverflow="overflow" vert="horz" wrap="square" rtlCol="0" anchor="ctr" anchorCtr="0">
            <a:noAutofit/>
          </a:bodyPr>
          <a:lstStyle/>
          <a:p>
            <a:pPr algn="l"/>
            <a:r>
              <a:rPr lang="en-US" sz="1100">
                <a:solidFill>
                  <a:srgbClr val="FFFFFF"/>
                </a:solidFill>
                <a:latin typeface="Calibri"/>
                <a:cs typeface="Calibri"/>
              </a:rPr>
              <a:t>Group 2
Stats + Odds Combined</a:t>
            </a:r>
          </a:p>
        </p:txBody>
      </p:sp>
      <p:sp>
        <p:nvSpPr>
          <p:cNvPr id="13" name="TextBox 12">
            <a:extLst>
              <a:ext uri="{FF2B5EF4-FFF2-40B4-BE49-F238E27FC236}">
                <a16:creationId xmlns:a16="http://schemas.microsoft.com/office/drawing/2014/main" id="{B70DF717-DDED-11EA-D17D-B21CC150AE4B}"/>
              </a:ext>
            </a:extLst>
          </p:cNvPr>
          <p:cNvSpPr txBox="1"/>
          <p:nvPr/>
        </p:nvSpPr>
        <p:spPr>
          <a:xfrm>
            <a:off x="381000" y="2850562"/>
            <a:ext cx="4089400" cy="228600"/>
          </a:xfrm>
          <a:prstGeom prst="rect">
            <a:avLst/>
          </a:prstGeom>
          <a:noFill/>
          <a:ln>
            <a:noFill/>
          </a:ln>
        </p:spPr>
        <p:txBody>
          <a:bodyPr vertOverflow="overflow" vert="horz" wrap="square" rtlCol="0" anchor="t" anchorCtr="0">
            <a:noAutofit/>
          </a:bodyPr>
          <a:lstStyle/>
          <a:p>
            <a:pPr algn="l"/>
            <a:r>
              <a:rPr lang="en-US" sz="1200" b="1">
                <a:solidFill>
                  <a:srgbClr val="2E7D7A"/>
                </a:solidFill>
                <a:latin typeface="Calibri"/>
                <a:cs typeface="Calibri"/>
              </a:rPr>
              <a:t>Egidi, Pauli &amp; Torelli (2018)</a:t>
            </a:r>
          </a:p>
        </p:txBody>
      </p:sp>
      <p:sp>
        <p:nvSpPr>
          <p:cNvPr id="14" name="TextBox 13">
            <a:extLst>
              <a:ext uri="{FF2B5EF4-FFF2-40B4-BE49-F238E27FC236}">
                <a16:creationId xmlns:a16="http://schemas.microsoft.com/office/drawing/2014/main" id="{D1CCF0C0-068A-6BA2-999A-8351870D7DE4}"/>
              </a:ext>
            </a:extLst>
          </p:cNvPr>
          <p:cNvSpPr txBox="1"/>
          <p:nvPr/>
        </p:nvSpPr>
        <p:spPr>
          <a:xfrm>
            <a:off x="381000" y="3104562"/>
            <a:ext cx="4089400" cy="381000"/>
          </a:xfrm>
          <a:prstGeom prst="rect">
            <a:avLst/>
          </a:prstGeom>
          <a:noFill/>
          <a:ln>
            <a:noFill/>
          </a:ln>
        </p:spPr>
        <p:txBody>
          <a:bodyPr vertOverflow="overflow" vert="horz" wrap="square" rtlCol="0" anchor="t" anchorCtr="0">
            <a:noAutofit/>
          </a:bodyPr>
          <a:lstStyle/>
          <a:p>
            <a:pPr algn="l"/>
            <a:r>
              <a:rPr lang="en-US" sz="1100">
                <a:solidFill>
                  <a:srgbClr val="404040"/>
                </a:solidFill>
                <a:latin typeface="Calibri"/>
                <a:cs typeface="Calibri"/>
              </a:rPr>
              <a:t>Hierarchical Bayes blending odds — no conditional dependence structure</a:t>
            </a:r>
          </a:p>
        </p:txBody>
      </p:sp>
      <p:sp>
        <p:nvSpPr>
          <p:cNvPr id="16" name="Rectangle 15">
            <a:extLst>
              <a:ext uri="{FF2B5EF4-FFF2-40B4-BE49-F238E27FC236}">
                <a16:creationId xmlns:a16="http://schemas.microsoft.com/office/drawing/2014/main" id="{500A20A5-55E9-B100-6CFA-50AED3B99A3B}"/>
              </a:ext>
            </a:extLst>
          </p:cNvPr>
          <p:cNvSpPr/>
          <p:nvPr/>
        </p:nvSpPr>
        <p:spPr>
          <a:xfrm>
            <a:off x="4724400" y="1117600"/>
            <a:ext cx="4165600" cy="381000"/>
          </a:xfrm>
          <a:prstGeom prst="rect">
            <a:avLst/>
          </a:prstGeom>
          <a:solidFill>
            <a:srgbClr val="8C2A3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GroupHeaderText_Group3">
            <a:extLst>
              <a:ext uri="{FF2B5EF4-FFF2-40B4-BE49-F238E27FC236}">
                <a16:creationId xmlns:a16="http://schemas.microsoft.com/office/drawing/2014/main" id="{7A08DBE0-8AF4-2758-FABC-938D706FE12D}"/>
              </a:ext>
            </a:extLst>
          </p:cNvPr>
          <p:cNvSpPr txBox="1"/>
          <p:nvPr/>
        </p:nvSpPr>
        <p:spPr>
          <a:xfrm>
            <a:off x="4724400" y="1117600"/>
            <a:ext cx="4165600" cy="381000"/>
          </a:xfrm>
          <a:prstGeom prst="rect">
            <a:avLst/>
          </a:prstGeom>
          <a:noFill/>
          <a:ln>
            <a:noFill/>
          </a:ln>
        </p:spPr>
        <p:txBody>
          <a:bodyPr vertOverflow="overflow" vert="horz" wrap="square" rtlCol="0" anchor="ctr" anchorCtr="0">
            <a:noAutofit/>
          </a:bodyPr>
          <a:lstStyle/>
          <a:p>
            <a:pPr algn="l"/>
            <a:r>
              <a:rPr lang="en-US" sz="1100">
                <a:solidFill>
                  <a:srgbClr val="FFFFFF"/>
                </a:solidFill>
                <a:latin typeface="Calibri"/>
                <a:cs typeface="Calibri"/>
              </a:rPr>
              <a:t>Group 3
Market Efficiency / Line Movement</a:t>
            </a:r>
          </a:p>
        </p:txBody>
      </p:sp>
      <p:sp>
        <p:nvSpPr>
          <p:cNvPr id="18" name="TextBox 17">
            <a:extLst>
              <a:ext uri="{FF2B5EF4-FFF2-40B4-BE49-F238E27FC236}">
                <a16:creationId xmlns:a16="http://schemas.microsoft.com/office/drawing/2014/main" id="{07381AD6-C2D8-2F3C-2FAB-03E58226397E}"/>
              </a:ext>
            </a:extLst>
          </p:cNvPr>
          <p:cNvSpPr txBox="1"/>
          <p:nvPr/>
        </p:nvSpPr>
        <p:spPr>
          <a:xfrm>
            <a:off x="4851400" y="1574800"/>
            <a:ext cx="3911600" cy="228600"/>
          </a:xfrm>
          <a:prstGeom prst="rect">
            <a:avLst/>
          </a:prstGeom>
          <a:noFill/>
          <a:ln>
            <a:noFill/>
          </a:ln>
        </p:spPr>
        <p:txBody>
          <a:bodyPr vertOverflow="overflow" vert="horz" wrap="square" rtlCol="0" anchor="t" anchorCtr="0">
            <a:noAutofit/>
          </a:bodyPr>
          <a:lstStyle/>
          <a:p>
            <a:pPr algn="l"/>
            <a:r>
              <a:rPr lang="en-US" sz="1200" b="1">
                <a:solidFill>
                  <a:srgbClr val="8C2A3E"/>
                </a:solidFill>
                <a:latin typeface="Calibri"/>
                <a:cs typeface="Calibri"/>
              </a:rPr>
              <a:t>Simon (Mgmt. Sci.) (2024)</a:t>
            </a:r>
          </a:p>
        </p:txBody>
      </p:sp>
      <p:sp>
        <p:nvSpPr>
          <p:cNvPr id="19" name="TextBox 18">
            <a:extLst>
              <a:ext uri="{FF2B5EF4-FFF2-40B4-BE49-F238E27FC236}">
                <a16:creationId xmlns:a16="http://schemas.microsoft.com/office/drawing/2014/main" id="{56010B7E-14D9-7D16-A3A7-B2761B1A587E}"/>
              </a:ext>
            </a:extLst>
          </p:cNvPr>
          <p:cNvSpPr txBox="1"/>
          <p:nvPr/>
        </p:nvSpPr>
        <p:spPr>
          <a:xfrm>
            <a:off x="4851400" y="1828800"/>
            <a:ext cx="3911600" cy="406400"/>
          </a:xfrm>
          <a:prstGeom prst="rect">
            <a:avLst/>
          </a:prstGeom>
          <a:noFill/>
          <a:ln>
            <a:noFill/>
          </a:ln>
        </p:spPr>
        <p:txBody>
          <a:bodyPr vertOverflow="overflow" vert="horz" wrap="square" rtlCol="0" anchor="t" anchorCtr="0">
            <a:noAutofit/>
          </a:bodyPr>
          <a:lstStyle/>
          <a:p>
            <a:pPr algn="l"/>
            <a:r>
              <a:rPr lang="en-US" sz="1100">
                <a:solidFill>
                  <a:srgbClr val="404040"/>
                </a:solidFill>
                <a:latin typeface="Calibri"/>
                <a:cs typeface="Calibri"/>
              </a:rPr>
              <a:t>Line movement efficiency — no game stats integration</a:t>
            </a:r>
          </a:p>
        </p:txBody>
      </p:sp>
      <p:sp>
        <p:nvSpPr>
          <p:cNvPr id="20" name="TextBox 19">
            <a:extLst>
              <a:ext uri="{FF2B5EF4-FFF2-40B4-BE49-F238E27FC236}">
                <a16:creationId xmlns:a16="http://schemas.microsoft.com/office/drawing/2014/main" id="{EA966579-CAD8-53C9-76CC-1B643EB87761}"/>
              </a:ext>
            </a:extLst>
          </p:cNvPr>
          <p:cNvSpPr txBox="1"/>
          <p:nvPr/>
        </p:nvSpPr>
        <p:spPr>
          <a:xfrm>
            <a:off x="4851400" y="2209800"/>
            <a:ext cx="3911600" cy="228600"/>
          </a:xfrm>
          <a:prstGeom prst="rect">
            <a:avLst/>
          </a:prstGeom>
          <a:noFill/>
          <a:ln>
            <a:noFill/>
          </a:ln>
        </p:spPr>
        <p:txBody>
          <a:bodyPr vertOverflow="overflow" vert="horz" wrap="square" rtlCol="0" anchor="t" anchorCtr="0">
            <a:noAutofit/>
          </a:bodyPr>
          <a:lstStyle/>
          <a:p>
            <a:pPr algn="l"/>
            <a:r>
              <a:rPr lang="en-US" sz="1200" b="1">
                <a:solidFill>
                  <a:srgbClr val="8C2A3E"/>
                </a:solidFill>
                <a:latin typeface="Calibri"/>
                <a:cs typeface="Calibri"/>
              </a:rPr>
              <a:t>Moskowitz (J. Finance) (2021)</a:t>
            </a:r>
          </a:p>
        </p:txBody>
      </p:sp>
      <p:sp>
        <p:nvSpPr>
          <p:cNvPr id="21" name="TextBox 20">
            <a:extLst>
              <a:ext uri="{FF2B5EF4-FFF2-40B4-BE49-F238E27FC236}">
                <a16:creationId xmlns:a16="http://schemas.microsoft.com/office/drawing/2014/main" id="{DA627F86-81A1-BD8C-8D05-FC4DF58B07F1}"/>
              </a:ext>
            </a:extLst>
          </p:cNvPr>
          <p:cNvSpPr txBox="1"/>
          <p:nvPr/>
        </p:nvSpPr>
        <p:spPr>
          <a:xfrm>
            <a:off x="4851400" y="2463800"/>
            <a:ext cx="3911600" cy="406400"/>
          </a:xfrm>
          <a:prstGeom prst="rect">
            <a:avLst/>
          </a:prstGeom>
          <a:noFill/>
          <a:ln>
            <a:noFill/>
          </a:ln>
        </p:spPr>
        <p:txBody>
          <a:bodyPr vertOverflow="overflow" vert="horz" wrap="square" rtlCol="0" anchor="t" anchorCtr="0">
            <a:noAutofit/>
          </a:bodyPr>
          <a:lstStyle/>
          <a:p>
            <a:pPr algn="l"/>
            <a:r>
              <a:rPr lang="en-US" sz="1100">
                <a:solidFill>
                  <a:srgbClr val="404040"/>
                </a:solidFill>
                <a:latin typeface="Calibri"/>
                <a:cs typeface="Calibri"/>
              </a:rPr>
              <a:t>Sports betting as asset pricing — no conditional independence test</a:t>
            </a:r>
          </a:p>
        </p:txBody>
      </p:sp>
      <p:sp>
        <p:nvSpPr>
          <p:cNvPr id="22" name="TextBox 21">
            <a:extLst>
              <a:ext uri="{FF2B5EF4-FFF2-40B4-BE49-F238E27FC236}">
                <a16:creationId xmlns:a16="http://schemas.microsoft.com/office/drawing/2014/main" id="{753FE3BA-E96B-54EC-2F3C-29A9FF11ABD3}"/>
              </a:ext>
            </a:extLst>
          </p:cNvPr>
          <p:cNvSpPr txBox="1"/>
          <p:nvPr/>
        </p:nvSpPr>
        <p:spPr>
          <a:xfrm>
            <a:off x="4851400" y="2844800"/>
            <a:ext cx="3911600" cy="228600"/>
          </a:xfrm>
          <a:prstGeom prst="rect">
            <a:avLst/>
          </a:prstGeom>
          <a:noFill/>
          <a:ln>
            <a:noFill/>
          </a:ln>
        </p:spPr>
        <p:txBody>
          <a:bodyPr vertOverflow="overflow" vert="horz" wrap="square" rtlCol="0" anchor="t" anchorCtr="0">
            <a:noAutofit/>
          </a:bodyPr>
          <a:lstStyle/>
          <a:p>
            <a:pPr algn="l"/>
            <a:r>
              <a:rPr lang="en-US" sz="1200" b="1">
                <a:solidFill>
                  <a:srgbClr val="8C2A3E"/>
                </a:solidFill>
                <a:latin typeface="Calibri"/>
                <a:cs typeface="Calibri"/>
              </a:rPr>
              <a:t>Szalkowski &amp; Nelson (2012)</a:t>
            </a:r>
          </a:p>
        </p:txBody>
      </p:sp>
      <p:sp>
        <p:nvSpPr>
          <p:cNvPr id="23" name="TextBox 22">
            <a:extLst>
              <a:ext uri="{FF2B5EF4-FFF2-40B4-BE49-F238E27FC236}">
                <a16:creationId xmlns:a16="http://schemas.microsoft.com/office/drawing/2014/main" id="{D0E249B4-B913-20A8-6D4E-BCA0349530C7}"/>
              </a:ext>
            </a:extLst>
          </p:cNvPr>
          <p:cNvSpPr txBox="1"/>
          <p:nvPr/>
        </p:nvSpPr>
        <p:spPr>
          <a:xfrm>
            <a:off x="4851400" y="3098800"/>
            <a:ext cx="3911600" cy="406400"/>
          </a:xfrm>
          <a:prstGeom prst="rect">
            <a:avLst/>
          </a:prstGeom>
          <a:noFill/>
          <a:ln>
            <a:noFill/>
          </a:ln>
        </p:spPr>
        <p:txBody>
          <a:bodyPr vertOverflow="overflow" vert="horz" wrap="square" rtlCol="0" anchor="t" anchorCtr="0">
            <a:noAutofit/>
          </a:bodyPr>
          <a:lstStyle/>
          <a:p>
            <a:pPr algn="l"/>
            <a:r>
              <a:rPr lang="en-US" sz="1100">
                <a:solidFill>
                  <a:srgbClr val="404040"/>
                </a:solidFill>
                <a:latin typeface="Calibri"/>
                <a:cs typeface="Calibri"/>
              </a:rPr>
              <a:t>NFL opening/closing lines as predictors — never built as a model feature</a:t>
            </a:r>
          </a:p>
        </p:txBody>
      </p:sp>
      <p:sp>
        <p:nvSpPr>
          <p:cNvPr id="24" name="Rectangle 23">
            <a:extLst>
              <a:ext uri="{FF2B5EF4-FFF2-40B4-BE49-F238E27FC236}">
                <a16:creationId xmlns:a16="http://schemas.microsoft.com/office/drawing/2014/main" id="{931259EF-72AD-6CE0-6124-3FE0322388E7}"/>
              </a:ext>
            </a:extLst>
          </p:cNvPr>
          <p:cNvSpPr/>
          <p:nvPr/>
        </p:nvSpPr>
        <p:spPr>
          <a:xfrm>
            <a:off x="254000" y="3759200"/>
            <a:ext cx="8636000" cy="1117600"/>
          </a:xfrm>
          <a:prstGeom prst="rect">
            <a:avLst/>
          </a:prstGeom>
          <a:solidFill>
            <a:srgbClr val="FBF3DF"/>
          </a:solidFill>
          <a:ln w="9525" cap="flat" cmpd="sng" algn="ctr">
            <a:solidFill>
              <a:srgbClr val="E0A93D"/>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91ECF7EA-EF31-BE2B-B5BB-F83AA4E58938}"/>
              </a:ext>
            </a:extLst>
          </p:cNvPr>
          <p:cNvSpPr/>
          <p:nvPr/>
        </p:nvSpPr>
        <p:spPr>
          <a:xfrm>
            <a:off x="254000" y="3759200"/>
            <a:ext cx="50800" cy="1117600"/>
          </a:xfrm>
          <a:prstGeom prst="rect">
            <a:avLst/>
          </a:prstGeom>
          <a:solidFill>
            <a:srgbClr val="E0A9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TextBox 40">
            <a:extLst>
              <a:ext uri="{FF2B5EF4-FFF2-40B4-BE49-F238E27FC236}">
                <a16:creationId xmlns:a16="http://schemas.microsoft.com/office/drawing/2014/main" id="{AAD25D1A-5288-EE90-4501-06C2A5FA609C}"/>
              </a:ext>
            </a:extLst>
          </p:cNvPr>
          <p:cNvSpPr txBox="1"/>
          <p:nvPr/>
        </p:nvSpPr>
        <p:spPr>
          <a:xfrm>
            <a:off x="457200" y="3860800"/>
            <a:ext cx="2540000" cy="304800"/>
          </a:xfrm>
          <a:prstGeom prst="rect">
            <a:avLst/>
          </a:prstGeom>
          <a:noFill/>
          <a:ln>
            <a:noFill/>
          </a:ln>
        </p:spPr>
        <p:txBody>
          <a:bodyPr vertOverflow="overflow" vert="horz" wrap="none" rtlCol="0" anchor="t" anchorCtr="0">
            <a:noAutofit/>
          </a:bodyPr>
          <a:lstStyle/>
          <a:p>
            <a:pPr algn="l"/>
            <a:r>
              <a:rPr lang="en-US" sz="1800" b="1">
                <a:solidFill>
                  <a:srgbClr val="E0A93D"/>
                </a:solidFill>
                <a:latin typeface="Calibri"/>
                <a:cs typeface="Calibri"/>
              </a:rPr>
              <a:t>GAP CONFIRMED</a:t>
            </a:r>
          </a:p>
        </p:txBody>
      </p:sp>
      <p:sp>
        <p:nvSpPr>
          <p:cNvPr id="42" name="TextBox 41">
            <a:extLst>
              <a:ext uri="{FF2B5EF4-FFF2-40B4-BE49-F238E27FC236}">
                <a16:creationId xmlns:a16="http://schemas.microsoft.com/office/drawing/2014/main" id="{5BF94E69-CA15-01B8-A118-ADC80E63E5C6}"/>
              </a:ext>
            </a:extLst>
          </p:cNvPr>
          <p:cNvSpPr txBox="1"/>
          <p:nvPr/>
        </p:nvSpPr>
        <p:spPr>
          <a:xfrm>
            <a:off x="457200" y="4191000"/>
            <a:ext cx="8305800" cy="304800"/>
          </a:xfrm>
          <a:prstGeom prst="rect">
            <a:avLst/>
          </a:prstGeom>
          <a:noFill/>
          <a:ln>
            <a:noFill/>
          </a:ln>
        </p:spPr>
        <p:txBody>
          <a:bodyPr vertOverflow="overflow" vert="horz" wrap="none" rtlCol="0" anchor="t" anchorCtr="0">
            <a:noAutofit/>
          </a:bodyPr>
          <a:lstStyle/>
          <a:p>
            <a:pPr algn="l"/>
            <a:r>
              <a:rPr lang="en-US" sz="1400" b="1">
                <a:solidFill>
                  <a:srgbClr val="1B3A5C"/>
                </a:solidFill>
                <a:latin typeface="Calibri"/>
                <a:cs typeface="Calibri"/>
              </a:rPr>
              <a:t>Walsh &amp; Joshi (2024)</a:t>
            </a:r>
          </a:p>
        </p:txBody>
      </p:sp>
      <p:sp>
        <p:nvSpPr>
          <p:cNvPr id="43" name="TextBox 42">
            <a:extLst>
              <a:ext uri="{FF2B5EF4-FFF2-40B4-BE49-F238E27FC236}">
                <a16:creationId xmlns:a16="http://schemas.microsoft.com/office/drawing/2014/main" id="{BD3D6678-9B47-1683-EB0D-69FA649AFA52}"/>
              </a:ext>
            </a:extLst>
          </p:cNvPr>
          <p:cNvSpPr txBox="1"/>
          <p:nvPr/>
        </p:nvSpPr>
        <p:spPr>
          <a:xfrm>
            <a:off x="457200" y="4546600"/>
            <a:ext cx="8305800" cy="355600"/>
          </a:xfrm>
          <a:prstGeom prst="rect">
            <a:avLst/>
          </a:prstGeom>
          <a:noFill/>
          <a:ln>
            <a:noFill/>
          </a:ln>
        </p:spPr>
        <p:txBody>
          <a:bodyPr vertOverflow="overflow" vert="horz" wrap="none" rtlCol="0" anchor="t" anchorCtr="0">
            <a:noAutofit/>
          </a:bodyPr>
          <a:lstStyle/>
          <a:p>
            <a:pPr algn="l"/>
            <a:r>
              <a:rPr lang="en-US" sz="1200">
                <a:solidFill>
                  <a:srgbClr val="404040"/>
                </a:solidFill>
                <a:latin typeface="Calibri"/>
                <a:cs typeface="Calibri"/>
              </a:rPr>
              <a:t>Systematic review of 219 papers — confirms no study combines all three silos</a:t>
            </a:r>
          </a:p>
        </p:txBody>
      </p:sp>
    </p:spTree>
    <p:extLst>
      <p:ext uri="{BB962C8B-B14F-4D97-AF65-F5344CB8AC3E}">
        <p14:creationId xmlns:p14="http://schemas.microsoft.com/office/powerpoint/2010/main" val="576303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1F4">
            <a:alpha val="100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3CD2FE-6348-0845-8207-9CF6EE56EDF8}"/>
              </a:ext>
            </a:extLst>
          </p:cNvPr>
          <p:cNvSpPr/>
          <p:nvPr/>
        </p:nvSpPr>
        <p:spPr>
          <a:xfrm>
            <a:off x="0" y="0"/>
            <a:ext cx="9144000" cy="960119"/>
          </a:xfrm>
          <a:prstGeom prst="rect">
            <a:avLst/>
          </a:prstGeom>
          <a:solidFill>
            <a:srgbClr val="0D1B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88313745-4C45-2148-8504-D9592DD24A3A}"/>
              </a:ext>
            </a:extLst>
          </p:cNvPr>
          <p:cNvSpPr/>
          <p:nvPr/>
        </p:nvSpPr>
        <p:spPr>
          <a:xfrm>
            <a:off x="0" y="960119"/>
            <a:ext cx="9144000" cy="64008"/>
          </a:xfrm>
          <a:prstGeom prst="rect">
            <a:avLst/>
          </a:prstGeom>
          <a:solidFill>
            <a:srgbClr val="E8A0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10602964-FC08-294B-9E18-A2CDCE92CC72}"/>
              </a:ext>
            </a:extLst>
          </p:cNvPr>
          <p:cNvSpPr txBox="1"/>
          <p:nvPr/>
        </p:nvSpPr>
        <p:spPr>
          <a:xfrm>
            <a:off x="365760" y="218450"/>
            <a:ext cx="8412480" cy="523220"/>
          </a:xfrm>
          <a:prstGeom prst="rect">
            <a:avLst/>
          </a:prstGeom>
          <a:noFill/>
        </p:spPr>
        <p:txBody>
          <a:bodyPr vertOverflow="overflow" vert="horz" wrap="square" rtlCol="0" anchor="ctr" anchorCtr="0">
            <a:spAutoFit/>
          </a:bodyPr>
          <a:lstStyle/>
          <a:p>
            <a:pPr algn="l"/>
            <a:r>
              <a:rPr lang="en-US" sz="2800" b="1">
                <a:solidFill>
                  <a:srgbClr val="FFFFFF"/>
                </a:solidFill>
                <a:latin typeface="Calibri"/>
                <a:cs typeface="Calibri"/>
              </a:rPr>
              <a:t>Objective</a:t>
            </a:r>
          </a:p>
        </p:txBody>
      </p:sp>
      <p:sp>
        <p:nvSpPr>
          <p:cNvPr id="5" name="Rectangle 4">
            <a:extLst>
              <a:ext uri="{FF2B5EF4-FFF2-40B4-BE49-F238E27FC236}">
                <a16:creationId xmlns:a16="http://schemas.microsoft.com/office/drawing/2014/main" id="{190388FD-B900-4047-A118-A7CA0C33D2C6}"/>
              </a:ext>
            </a:extLst>
          </p:cNvPr>
          <p:cNvSpPr/>
          <p:nvPr/>
        </p:nvSpPr>
        <p:spPr>
          <a:xfrm>
            <a:off x="368300" y="1168400"/>
            <a:ext cx="8407400" cy="1117600"/>
          </a:xfrm>
          <a:prstGeom prst="rect">
            <a:avLst/>
          </a:prstGeom>
          <a:solidFill>
            <a:srgbClr val="1B3A5C"/>
          </a:solidFill>
          <a:ln w="12700" cap="flat" cmpd="sng" algn="ctr">
            <a:solidFill>
              <a:srgbClr val="E8A02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C5BB1AA2-C500-F04A-9DBF-7FC60656A1CC}"/>
              </a:ext>
            </a:extLst>
          </p:cNvPr>
          <p:cNvSpPr txBox="1"/>
          <p:nvPr/>
        </p:nvSpPr>
        <p:spPr>
          <a:xfrm>
            <a:off x="508000" y="1270000"/>
            <a:ext cx="2540000" cy="228600"/>
          </a:xfrm>
          <a:prstGeom prst="rect">
            <a:avLst/>
          </a:prstGeom>
          <a:noFill/>
        </p:spPr>
        <p:txBody>
          <a:bodyPr vertOverflow="overflow" vert="horz" wrap="square" rtlCol="0" anchor="t">
            <a:spAutoFit/>
          </a:bodyPr>
          <a:lstStyle/>
          <a:p>
            <a:pPr algn="l"/>
            <a:r>
              <a:rPr lang="en-US" sz="1200" b="1">
                <a:solidFill>
                  <a:srgbClr val="E8A020"/>
                </a:solidFill>
                <a:latin typeface="Calibri"/>
                <a:cs typeface="Calibri"/>
              </a:rPr>
              <a:t>Research Question:</a:t>
            </a:r>
          </a:p>
        </p:txBody>
      </p:sp>
      <p:sp>
        <p:nvSpPr>
          <p:cNvPr id="7" name="TextBox 6">
            <a:extLst>
              <a:ext uri="{FF2B5EF4-FFF2-40B4-BE49-F238E27FC236}">
                <a16:creationId xmlns:a16="http://schemas.microsoft.com/office/drawing/2014/main" id="{27B31ED7-1EC1-724A-974A-7681947C55E5}"/>
              </a:ext>
            </a:extLst>
          </p:cNvPr>
          <p:cNvSpPr txBox="1"/>
          <p:nvPr/>
        </p:nvSpPr>
        <p:spPr>
          <a:xfrm>
            <a:off x="508000" y="1524000"/>
            <a:ext cx="8140700" cy="734945"/>
          </a:xfrm>
          <a:prstGeom prst="rect">
            <a:avLst/>
          </a:prstGeom>
          <a:noFill/>
        </p:spPr>
        <p:txBody>
          <a:bodyPr vertOverflow="overflow" vert="horz" wrap="square" rtlCol="0" anchor="t">
            <a:spAutoFit/>
          </a:bodyPr>
          <a:lstStyle/>
          <a:p>
            <a:pPr marL="0" indent="0" algn="l">
              <a:lnSpc>
                <a:spcPct val="120000"/>
              </a:lnSpc>
              <a:buNone/>
            </a:pPr>
            <a:r>
              <a:rPr lang="en-US" sz="1800" b="1" i="1">
                <a:solidFill>
                  <a:srgbClr val="FFFFFF"/>
                </a:solidFill>
                <a:latin typeface="Calibri"/>
                <a:cs typeface="Calibri"/>
              </a:rPr>
              <a:t>Does line movement contain predictive information beyond what game stats already capture?</a:t>
            </a:r>
          </a:p>
        </p:txBody>
      </p:sp>
      <p:sp>
        <p:nvSpPr>
          <p:cNvPr id="8" name="Rectangle 7">
            <a:extLst>
              <a:ext uri="{FF2B5EF4-FFF2-40B4-BE49-F238E27FC236}">
                <a16:creationId xmlns:a16="http://schemas.microsoft.com/office/drawing/2014/main" id="{FA013E92-ACDC-6B44-B6D1-B3A2305C2444}"/>
              </a:ext>
            </a:extLst>
          </p:cNvPr>
          <p:cNvSpPr/>
          <p:nvPr/>
        </p:nvSpPr>
        <p:spPr>
          <a:xfrm>
            <a:off x="368300" y="2540000"/>
            <a:ext cx="8407400" cy="381000"/>
          </a:xfrm>
          <a:prstGeom prst="rect">
            <a:avLst/>
          </a:prstGeom>
          <a:solidFill>
            <a:srgbClr val="FFFFFF"/>
          </a:solidFill>
          <a:ln w="9525" cap="flat" cmpd="sng" algn="ctr">
            <a:solidFill>
              <a:srgbClr val="C9D2D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B06EB83D-2B49-CF4C-8B77-8FC4540711D0}"/>
              </a:ext>
            </a:extLst>
          </p:cNvPr>
          <p:cNvSpPr txBox="1"/>
          <p:nvPr/>
        </p:nvSpPr>
        <p:spPr>
          <a:xfrm>
            <a:off x="508000" y="2603500"/>
            <a:ext cx="1016000" cy="279400"/>
          </a:xfrm>
          <a:prstGeom prst="rect">
            <a:avLst/>
          </a:prstGeom>
          <a:noFill/>
        </p:spPr>
        <p:txBody>
          <a:bodyPr vertOverflow="overflow" vert="horz" wrap="square" rtlCol="0" anchor="t">
            <a:spAutoFit/>
          </a:bodyPr>
          <a:lstStyle/>
          <a:p>
            <a:pPr marL="0" indent="0" algn="l">
              <a:buNone/>
            </a:pPr>
            <a:r>
              <a:rPr lang="en-US" sz="1200" b="1">
                <a:solidFill>
                  <a:srgbClr val="2196A6"/>
                </a:solidFill>
                <a:latin typeface="Calibri"/>
                <a:cs typeface="Calibri"/>
              </a:rPr>
              <a:t>Formally:</a:t>
            </a:r>
          </a:p>
        </p:txBody>
      </p:sp>
      <p:sp>
        <p:nvSpPr>
          <p:cNvPr id="10" name="TextBox 9">
            <a:extLst>
              <a:ext uri="{FF2B5EF4-FFF2-40B4-BE49-F238E27FC236}">
                <a16:creationId xmlns:a16="http://schemas.microsoft.com/office/drawing/2014/main" id="{EF7FC5A9-EC0B-4940-81C2-64B81104BA9F}"/>
              </a:ext>
            </a:extLst>
          </p:cNvPr>
          <p:cNvSpPr txBox="1"/>
          <p:nvPr/>
        </p:nvSpPr>
        <p:spPr>
          <a:xfrm>
            <a:off x="1149965" y="2615790"/>
            <a:ext cx="7492180" cy="285545"/>
          </a:xfrm>
          <a:prstGeom prst="rect">
            <a:avLst/>
          </a:prstGeom>
          <a:noFill/>
        </p:spPr>
        <p:txBody>
          <a:bodyPr vertOverflow="overflow" vert="horz" wrap="square" rtlCol="0" anchor="t">
            <a:spAutoFit/>
          </a:bodyPr>
          <a:lstStyle/>
          <a:p>
            <a:pPr marL="0" indent="0" algn="l">
              <a:buNone/>
            </a:pPr>
            <a:r>
              <a:rPr lang="en-US" sz="1200" i="1">
                <a:solidFill>
                  <a:srgbClr val="0D1B2A"/>
                </a:solidFill>
                <a:latin typeface="Calibri"/>
                <a:cs typeface="Calibri"/>
              </a:rPr>
              <a:t>Is line movement conditionally independent of ATS outcome given game fundamentals?</a:t>
            </a:r>
          </a:p>
        </p:txBody>
      </p:sp>
      <p:sp>
        <p:nvSpPr>
          <p:cNvPr id="13" name="Right Arrow 12">
            <a:extLst>
              <a:ext uri="{FF2B5EF4-FFF2-40B4-BE49-F238E27FC236}">
                <a16:creationId xmlns:a16="http://schemas.microsoft.com/office/drawing/2014/main" id="{1590F5FD-A813-3743-B572-147D44C0B240}"/>
              </a:ext>
            </a:extLst>
          </p:cNvPr>
          <p:cNvSpPr/>
          <p:nvPr/>
        </p:nvSpPr>
        <p:spPr>
          <a:xfrm rot="10800000">
            <a:off x="-12700000" y="-12700000"/>
            <a:ext cx="12700" cy="12700"/>
          </a:xfrm>
          <a:prstGeom prst="rightArrow">
            <a:avLst/>
          </a:prstGeom>
          <a:solidFill>
            <a:srgbClr val="8BA0B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ight Arrow 13">
            <a:extLst>
              <a:ext uri="{FF2B5EF4-FFF2-40B4-BE49-F238E27FC236}">
                <a16:creationId xmlns:a16="http://schemas.microsoft.com/office/drawing/2014/main" id="{0C7AF8BA-1EBC-B042-BB44-8F173D2572C1}"/>
              </a:ext>
            </a:extLst>
          </p:cNvPr>
          <p:cNvSpPr/>
          <p:nvPr/>
        </p:nvSpPr>
        <p:spPr>
          <a:xfrm>
            <a:off x="-12700000" y="-12700000"/>
            <a:ext cx="12700" cy="12700"/>
          </a:xfrm>
          <a:prstGeom prst="rightArrow">
            <a:avLst/>
          </a:prstGeom>
          <a:solidFill>
            <a:srgbClr val="8BA0B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A9B6714D-AA77-BD45-8CDA-C7673CF6DEFD}"/>
              </a:ext>
            </a:extLst>
          </p:cNvPr>
          <p:cNvSpPr txBox="1"/>
          <p:nvPr/>
        </p:nvSpPr>
        <p:spPr>
          <a:xfrm>
            <a:off x="368300" y="4546600"/>
            <a:ext cx="8407400" cy="246221"/>
          </a:xfrm>
          <a:prstGeom prst="rect">
            <a:avLst/>
          </a:prstGeom>
          <a:noFill/>
        </p:spPr>
        <p:txBody>
          <a:bodyPr vertOverflow="overflow" vert="horz" wrap="square" rtlCol="0" anchor="t">
            <a:spAutoFit/>
          </a:bodyPr>
          <a:lstStyle/>
          <a:p>
            <a:pPr algn="l"/>
            <a:r>
              <a:rPr lang="en-US" sz="1000" i="1">
                <a:solidFill>
                  <a:srgbClr val="8BA0B5"/>
                </a:solidFill>
                <a:latin typeface="Calibri"/>
                <a:cs typeface="Calibri"/>
              </a:rPr>
              <a:t>Either result advances the literature on market efficiency in NFL betting.</a:t>
            </a:r>
          </a:p>
        </p:txBody>
      </p:sp>
      <p:sp>
        <p:nvSpPr>
          <p:cNvPr id="200" name="Branch BG"/>
          <p:cNvSpPr/>
          <p:nvPr/>
        </p:nvSpPr>
        <p:spPr>
          <a:xfrm>
            <a:off x="368300" y="3124200"/>
            <a:ext cx="4089400" cy="1270000"/>
          </a:xfrm>
          <a:prstGeom prst="roundRect">
            <a:avLst>
              <a:gd name="adj" fmla="val 8000"/>
            </a:avLst>
          </a:prstGeom>
          <a:solidFill>
            <a:srgbClr val="FFFFFF"/>
          </a:solidFill>
          <a:ln w="12700">
            <a:solidFill>
              <a:srgbClr val="2196A6"/>
            </a:solidFill>
          </a:ln>
        </p:spPr>
        <p:txBody>
          <a:bodyPr wrap="square" anchor="t"/>
          <a:lstStyle/>
          <a:p>
            <a:endParaRPr lang="en-US"/>
          </a:p>
        </p:txBody>
      </p:sp>
      <p:sp>
        <p:nvSpPr>
          <p:cNvPr id="201" name="Branch Header BG"/>
          <p:cNvSpPr/>
          <p:nvPr/>
        </p:nvSpPr>
        <p:spPr>
          <a:xfrm>
            <a:off x="368300" y="3124200"/>
            <a:ext cx="4089400" cy="355600"/>
          </a:xfrm>
          <a:prstGeom prst="roundRect">
            <a:avLst>
              <a:gd name="adj" fmla="val 8000"/>
            </a:avLst>
          </a:prstGeom>
          <a:solidFill>
            <a:srgbClr val="2196A6"/>
          </a:solidFill>
          <a:ln>
            <a:noFill/>
          </a:ln>
        </p:spPr>
        <p:txBody>
          <a:bodyPr wrap="square" anchor="ctr"/>
          <a:lstStyle/>
          <a:p>
            <a:endParaRPr lang="en-US"/>
          </a:p>
        </p:txBody>
      </p:sp>
      <p:sp>
        <p:nvSpPr>
          <p:cNvPr id="202" name="Branch Title"/>
          <p:cNvSpPr txBox="1"/>
          <p:nvPr/>
        </p:nvSpPr>
        <p:spPr>
          <a:xfrm>
            <a:off x="444500" y="3187700"/>
            <a:ext cx="3937000" cy="228600"/>
          </a:xfrm>
          <a:prstGeom prst="rect">
            <a:avLst/>
          </a:prstGeom>
          <a:noFill/>
        </p:spPr>
        <p:txBody>
          <a:bodyPr wrap="square" lIns="0" tIns="0" rIns="0" bIns="0" anchor="t">
            <a:spAutoFit/>
          </a:bodyPr>
          <a:lstStyle/>
          <a:p>
            <a:pPr algn="ctr"/>
            <a:r>
              <a:rPr lang="en-US" sz="1100" b="1">
                <a:solidFill>
                  <a:srgbClr val="FFFFFF"/>
                </a:solidFill>
                <a:latin typeface="Calibri"/>
              </a:rPr>
              <a:t>Line movement adds info</a:t>
            </a:r>
          </a:p>
        </p:txBody>
      </p:sp>
      <p:sp>
        <p:nvSpPr>
          <p:cNvPr id="203" name="Branch Body"/>
          <p:cNvSpPr txBox="1"/>
          <p:nvPr/>
        </p:nvSpPr>
        <p:spPr>
          <a:xfrm>
            <a:off x="469900" y="3581400"/>
            <a:ext cx="3886200" cy="711200"/>
          </a:xfrm>
          <a:prstGeom prst="rect">
            <a:avLst/>
          </a:prstGeom>
          <a:noFill/>
        </p:spPr>
        <p:txBody>
          <a:bodyPr wrap="square" lIns="0" tIns="0" rIns="0" bIns="0" anchor="t"/>
          <a:lstStyle/>
          <a:p>
            <a:pPr marL="0" indent="0" algn="l">
              <a:lnSpc>
                <a:spcPct val="120000"/>
              </a:lnSpc>
              <a:buNone/>
            </a:pPr>
            <a:r>
              <a:rPr lang="en-US" sz="1300">
                <a:solidFill>
                  <a:srgbClr val="0D1B2A"/>
                </a:solidFill>
                <a:latin typeface="Calibri"/>
              </a:rPr>
              <a:t>Markets contain signal beyond fundamentals — challenges efficient-market view.</a:t>
            </a:r>
          </a:p>
        </p:txBody>
      </p:sp>
      <p:sp>
        <p:nvSpPr>
          <p:cNvPr id="204" name="Branch BG"/>
          <p:cNvSpPr/>
          <p:nvPr/>
        </p:nvSpPr>
        <p:spPr>
          <a:xfrm>
            <a:off x="4686300" y="3124200"/>
            <a:ext cx="4089400" cy="1270000"/>
          </a:xfrm>
          <a:prstGeom prst="roundRect">
            <a:avLst>
              <a:gd name="adj" fmla="val 8000"/>
            </a:avLst>
          </a:prstGeom>
          <a:solidFill>
            <a:srgbClr val="FFFFFF"/>
          </a:solidFill>
          <a:ln w="12700">
            <a:solidFill>
              <a:srgbClr val="1B3A5C"/>
            </a:solidFill>
          </a:ln>
        </p:spPr>
        <p:txBody>
          <a:bodyPr wrap="square" anchor="t"/>
          <a:lstStyle/>
          <a:p>
            <a:endParaRPr lang="en-US"/>
          </a:p>
        </p:txBody>
      </p:sp>
      <p:sp>
        <p:nvSpPr>
          <p:cNvPr id="205" name="Branch Header BG"/>
          <p:cNvSpPr/>
          <p:nvPr/>
        </p:nvSpPr>
        <p:spPr>
          <a:xfrm>
            <a:off x="4686300" y="3124200"/>
            <a:ext cx="4089400" cy="355600"/>
          </a:xfrm>
          <a:prstGeom prst="roundRect">
            <a:avLst>
              <a:gd name="adj" fmla="val 8000"/>
            </a:avLst>
          </a:prstGeom>
          <a:solidFill>
            <a:srgbClr val="1B3A5C"/>
          </a:solidFill>
          <a:ln>
            <a:noFill/>
          </a:ln>
        </p:spPr>
        <p:txBody>
          <a:bodyPr wrap="square" anchor="ctr"/>
          <a:lstStyle/>
          <a:p>
            <a:endParaRPr lang="en-US"/>
          </a:p>
        </p:txBody>
      </p:sp>
      <p:sp>
        <p:nvSpPr>
          <p:cNvPr id="206" name="Branch Title"/>
          <p:cNvSpPr txBox="1"/>
          <p:nvPr/>
        </p:nvSpPr>
        <p:spPr>
          <a:xfrm>
            <a:off x="4762500" y="3187700"/>
            <a:ext cx="3937000" cy="228600"/>
          </a:xfrm>
          <a:prstGeom prst="rect">
            <a:avLst/>
          </a:prstGeom>
          <a:noFill/>
        </p:spPr>
        <p:txBody>
          <a:bodyPr wrap="square" lIns="0" tIns="0" rIns="0" bIns="0" anchor="t">
            <a:spAutoFit/>
          </a:bodyPr>
          <a:lstStyle/>
          <a:p>
            <a:pPr algn="ctr"/>
            <a:r>
              <a:rPr lang="en-US" sz="1100" b="1">
                <a:solidFill>
                  <a:srgbClr val="FFFFFF"/>
                </a:solidFill>
                <a:latin typeface="Calibri"/>
              </a:rPr>
              <a:t>Markets are efficient</a:t>
            </a:r>
          </a:p>
        </p:txBody>
      </p:sp>
      <p:sp>
        <p:nvSpPr>
          <p:cNvPr id="207" name="Branch Body"/>
          <p:cNvSpPr txBox="1"/>
          <p:nvPr/>
        </p:nvSpPr>
        <p:spPr>
          <a:xfrm>
            <a:off x="4787900" y="3581400"/>
            <a:ext cx="3886200" cy="711200"/>
          </a:xfrm>
          <a:prstGeom prst="rect">
            <a:avLst/>
          </a:prstGeom>
          <a:noFill/>
        </p:spPr>
        <p:txBody>
          <a:bodyPr wrap="square" lIns="0" tIns="0" rIns="0" bIns="0" anchor="t"/>
          <a:lstStyle/>
          <a:p>
            <a:pPr marL="0" indent="0" algn="l">
              <a:lnSpc>
                <a:spcPct val="120000"/>
              </a:lnSpc>
              <a:buNone/>
            </a:pPr>
            <a:r>
              <a:rPr lang="en-US" sz="1300">
                <a:solidFill>
                  <a:srgbClr val="0D1B2A"/>
                </a:solidFill>
                <a:latin typeface="Calibri"/>
              </a:rPr>
              <a:t>Closing line absorbs all available info — confirmation is itself a publishable finding.</a:t>
            </a:r>
          </a:p>
        </p:txBody>
      </p:sp>
    </p:spTree>
    <p:extLst>
      <p:ext uri="{BB962C8B-B14F-4D97-AF65-F5344CB8AC3E}">
        <p14:creationId xmlns:p14="http://schemas.microsoft.com/office/powerpoint/2010/main" val="2443959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cxnSp>
        <p:nvCxnSpPr>
          <p:cNvPr id="61" name="Straight Arrow Connector 60">
            <a:extLst>
              <a:ext uri="{FF2B5EF4-FFF2-40B4-BE49-F238E27FC236}">
                <a16:creationId xmlns:a16="http://schemas.microsoft.com/office/drawing/2014/main" id="{C671BD1B-0476-3348-9464-E1DC1F191E53}"/>
              </a:ext>
            </a:extLst>
          </p:cNvPr>
          <p:cNvCxnSpPr/>
          <p:nvPr/>
        </p:nvCxnSpPr>
        <p:spPr>
          <a:xfrm>
            <a:off x="6845300" y="1625600"/>
            <a:ext cx="63500" cy="2616200"/>
          </a:xfrm>
          <a:prstGeom prst="straightConnector1">
            <a:avLst/>
          </a:prstGeom>
          <a:ln w="19050" cap="flat" cmpd="sng" algn="ctr">
            <a:solidFill>
              <a:srgbClr val="E8A020"/>
            </a:solidFill>
            <a:prstDash val="dash"/>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365760" y="137160"/>
            <a:ext cx="8412480" cy="685800"/>
          </a:xfrm>
          <a:prstGeom prst="rect">
            <a:avLst/>
          </a:prstGeom>
          <a:noFill/>
          <a:ln/>
        </p:spPr>
        <p:txBody>
          <a:bodyPr wrap="square" lIns="91440" tIns="45720" rIns="91440" bIns="45720" rtlCol="0" anchor="ctr"/>
          <a:lstStyle/>
          <a:p>
            <a:r>
              <a:rPr lang="en-US" sz="2800" b="1">
                <a:solidFill>
                  <a:srgbClr val="FFFFFF"/>
                </a:solidFill>
                <a:latin typeface="Calibri"/>
                <a:ea typeface="Calibri"/>
                <a:cs typeface="Calibri"/>
              </a:rPr>
              <a:t>Methodology – Problem Formulation</a:t>
            </a:r>
          </a:p>
        </p:txBody>
      </p:sp>
      <p:sp>
        <p:nvSpPr>
          <p:cNvPr id="5" name="Shape 3"/>
          <p:cNvSpPr/>
          <p:nvPr/>
        </p:nvSpPr>
        <p:spPr>
          <a:xfrm>
            <a:off x="274320" y="1270000"/>
            <a:ext cx="54864" cy="594360"/>
          </a:xfrm>
          <a:prstGeom prst="rect">
            <a:avLst/>
          </a:prstGeom>
          <a:solidFill>
            <a:srgbClr val="E8A020"/>
          </a:solidFill>
          <a:ln w="12700">
            <a:solidFill>
              <a:srgbClr val="E8A020"/>
            </a:solidFill>
            <a:prstDash val="solid"/>
          </a:ln>
        </p:spPr>
        <p:txBody>
          <a:bodyPr/>
          <a:lstStyle/>
          <a:p>
            <a:endParaRPr lang="en-US"/>
          </a:p>
        </p:txBody>
      </p:sp>
      <p:sp>
        <p:nvSpPr>
          <p:cNvPr id="6" name="Text 4"/>
          <p:cNvSpPr/>
          <p:nvPr/>
        </p:nvSpPr>
        <p:spPr>
          <a:xfrm>
            <a:off x="438912" y="1282700"/>
            <a:ext cx="4160520" cy="256032"/>
          </a:xfrm>
          <a:prstGeom prst="rect">
            <a:avLst/>
          </a:prstGeom>
          <a:noFill/>
          <a:ln/>
        </p:spPr>
        <p:txBody>
          <a:bodyPr wrap="square" lIns="0" tIns="0" rIns="0" bIns="0" rtlCol="0" anchor="ctr"/>
          <a:lstStyle/>
          <a:p>
            <a:pPr marL="0" indent="0">
              <a:buNone/>
            </a:pPr>
            <a:r>
              <a:rPr lang="en-US" sz="1300" b="1">
                <a:solidFill>
                  <a:srgbClr val="0D1B2A"/>
                </a:solidFill>
                <a:latin typeface="Calibri" pitchFamily="34" charset="0"/>
                <a:ea typeface="Calibri" pitchFamily="34" charset="-122"/>
                <a:cs typeface="Calibri" pitchFamily="34" charset="-120"/>
              </a:rPr>
              <a:t>Bayesian Network (BN)</a:t>
            </a:r>
            <a:endParaRPr lang="en-US" sz="1300"/>
          </a:p>
        </p:txBody>
      </p:sp>
      <p:sp>
        <p:nvSpPr>
          <p:cNvPr id="7" name="Text 5"/>
          <p:cNvSpPr/>
          <p:nvPr/>
        </p:nvSpPr>
        <p:spPr>
          <a:xfrm>
            <a:off x="438912" y="1549400"/>
            <a:ext cx="4160520" cy="320040"/>
          </a:xfrm>
          <a:prstGeom prst="rect">
            <a:avLst/>
          </a:prstGeom>
          <a:noFill/>
          <a:ln/>
        </p:spPr>
        <p:txBody>
          <a:bodyPr wrap="square" lIns="0" tIns="0" rIns="0" bIns="0" rtlCol="0" anchor="ctr"/>
          <a:lstStyle/>
          <a:p>
            <a:r>
              <a:rPr lang="en-US" sz="1150">
                <a:solidFill>
                  <a:srgbClr val="4A5568"/>
                </a:solidFill>
                <a:latin typeface="Calibri"/>
                <a:ea typeface="Calibri"/>
                <a:cs typeface="Calibri"/>
              </a:rPr>
              <a:t>DAG encodes domain assumptions:</a:t>
            </a:r>
            <a:endParaRPr lang="en-US" sz="1150">
              <a:solidFill>
                <a:srgbClr val="000000"/>
              </a:solidFill>
              <a:latin typeface="Calibri"/>
              <a:ea typeface="Calibri"/>
              <a:cs typeface="Calibri"/>
            </a:endParaRPr>
          </a:p>
          <a:p>
            <a:pPr marL="0" indent="0">
              <a:buNone/>
            </a:pPr>
            <a:r>
              <a:rPr lang="en-US" sz="1150">
                <a:solidFill>
                  <a:srgbClr val="4A5568"/>
                </a:solidFill>
                <a:latin typeface="Calibri"/>
                <a:ea typeface="Calibri"/>
                <a:cs typeface="Calibri"/>
              </a:rPr>
              <a:t>historical stats → opening line → market reaction → outcome</a:t>
            </a:r>
            <a:endParaRPr lang="en-US" sz="1150">
              <a:latin typeface="Calibri"/>
              <a:ea typeface="Calibri"/>
              <a:cs typeface="Calibri"/>
            </a:endParaRPr>
          </a:p>
        </p:txBody>
      </p:sp>
      <p:sp>
        <p:nvSpPr>
          <p:cNvPr id="8" name="Shape 6"/>
          <p:cNvSpPr/>
          <p:nvPr/>
        </p:nvSpPr>
        <p:spPr>
          <a:xfrm>
            <a:off x="274320" y="2222500"/>
            <a:ext cx="54864" cy="594360"/>
          </a:xfrm>
          <a:prstGeom prst="rect">
            <a:avLst/>
          </a:prstGeom>
          <a:solidFill>
            <a:srgbClr val="E8A020"/>
          </a:solidFill>
          <a:ln w="12700">
            <a:solidFill>
              <a:srgbClr val="E8A020"/>
            </a:solidFill>
            <a:prstDash val="solid"/>
          </a:ln>
        </p:spPr>
        <p:txBody>
          <a:bodyPr/>
          <a:lstStyle/>
          <a:p>
            <a:endParaRPr lang="en-US"/>
          </a:p>
        </p:txBody>
      </p:sp>
      <p:sp>
        <p:nvSpPr>
          <p:cNvPr id="9" name="Text 7"/>
          <p:cNvSpPr/>
          <p:nvPr/>
        </p:nvSpPr>
        <p:spPr>
          <a:xfrm>
            <a:off x="438912" y="2235200"/>
            <a:ext cx="4160520" cy="256032"/>
          </a:xfrm>
          <a:prstGeom prst="rect">
            <a:avLst/>
          </a:prstGeom>
          <a:noFill/>
          <a:ln/>
        </p:spPr>
        <p:txBody>
          <a:bodyPr wrap="square" lIns="0" tIns="0" rIns="0" bIns="0" rtlCol="0" anchor="ctr"/>
          <a:lstStyle/>
          <a:p>
            <a:pPr marL="0" indent="0">
              <a:buNone/>
            </a:pPr>
            <a:r>
              <a:rPr lang="en-US" sz="1300" b="1">
                <a:solidFill>
                  <a:srgbClr val="0D1B2A"/>
                </a:solidFill>
                <a:latin typeface="Calibri" pitchFamily="34" charset="0"/>
                <a:ea typeface="Calibri" pitchFamily="34" charset="-122"/>
                <a:cs typeface="Calibri" pitchFamily="34" charset="-120"/>
              </a:rPr>
              <a:t>Baseline: Naive Bayes</a:t>
            </a:r>
            <a:endParaRPr lang="en-US" sz="1300"/>
          </a:p>
        </p:txBody>
      </p:sp>
      <p:sp>
        <p:nvSpPr>
          <p:cNvPr id="10" name="Text 8"/>
          <p:cNvSpPr/>
          <p:nvPr/>
        </p:nvSpPr>
        <p:spPr>
          <a:xfrm>
            <a:off x="438912" y="2501900"/>
            <a:ext cx="4160520" cy="320040"/>
          </a:xfrm>
          <a:prstGeom prst="rect">
            <a:avLst/>
          </a:prstGeom>
          <a:noFill/>
          <a:ln/>
        </p:spPr>
        <p:txBody>
          <a:bodyPr wrap="square" lIns="0" tIns="0" rIns="0" bIns="0" rtlCol="0" anchor="ctr"/>
          <a:lstStyle/>
          <a:p>
            <a:pPr marL="0" indent="0">
              <a:buNone/>
            </a:pPr>
            <a:r>
              <a:rPr lang="en-US" sz="1150">
                <a:solidFill>
                  <a:srgbClr val="4A5568"/>
                </a:solidFill>
                <a:latin typeface="Calibri" pitchFamily="34" charset="0"/>
                <a:ea typeface="Calibri" pitchFamily="34" charset="-122"/>
                <a:cs typeface="Calibri" pitchFamily="34" charset="-120"/>
              </a:rPr>
              <a:t>Assumes all features independent. If BN can't beat NB, conditional dependencies add no value → closing lines are efficient</a:t>
            </a:r>
            <a:endParaRPr lang="en-US" sz="1150"/>
          </a:p>
        </p:txBody>
      </p:sp>
      <p:sp>
        <p:nvSpPr>
          <p:cNvPr id="11" name="Shape 9"/>
          <p:cNvSpPr/>
          <p:nvPr/>
        </p:nvSpPr>
        <p:spPr>
          <a:xfrm>
            <a:off x="274320" y="3175000"/>
            <a:ext cx="54864" cy="594360"/>
          </a:xfrm>
          <a:prstGeom prst="rect">
            <a:avLst/>
          </a:prstGeom>
          <a:solidFill>
            <a:srgbClr val="E8A020"/>
          </a:solidFill>
          <a:ln w="12700">
            <a:solidFill>
              <a:srgbClr val="E8A020"/>
            </a:solidFill>
            <a:prstDash val="solid"/>
          </a:ln>
        </p:spPr>
        <p:txBody>
          <a:bodyPr/>
          <a:lstStyle/>
          <a:p>
            <a:endParaRPr lang="en-US"/>
          </a:p>
        </p:txBody>
      </p:sp>
      <p:sp>
        <p:nvSpPr>
          <p:cNvPr id="12" name="Text 10"/>
          <p:cNvSpPr/>
          <p:nvPr/>
        </p:nvSpPr>
        <p:spPr>
          <a:xfrm>
            <a:off x="438912" y="3187700"/>
            <a:ext cx="4160520" cy="256032"/>
          </a:xfrm>
          <a:prstGeom prst="rect">
            <a:avLst/>
          </a:prstGeom>
          <a:noFill/>
          <a:ln/>
        </p:spPr>
        <p:txBody>
          <a:bodyPr wrap="square" lIns="0" tIns="0" rIns="0" bIns="0" rtlCol="0" anchor="ctr"/>
          <a:lstStyle/>
          <a:p>
            <a:pPr marL="0" indent="0">
              <a:buNone/>
            </a:pPr>
            <a:r>
              <a:rPr lang="en-US" sz="1300" b="1">
                <a:solidFill>
                  <a:srgbClr val="0D1B2A"/>
                </a:solidFill>
                <a:latin typeface="Calibri" pitchFamily="34" charset="0"/>
                <a:ea typeface="Calibri" pitchFamily="34" charset="-122"/>
                <a:cs typeface="Calibri" pitchFamily="34" charset="-120"/>
              </a:rPr>
              <a:t>Structure Learning</a:t>
            </a:r>
            <a:endParaRPr lang="en-US" sz="1300"/>
          </a:p>
        </p:txBody>
      </p:sp>
      <p:sp>
        <p:nvSpPr>
          <p:cNvPr id="13" name="Text 11"/>
          <p:cNvSpPr/>
          <p:nvPr/>
        </p:nvSpPr>
        <p:spPr>
          <a:xfrm>
            <a:off x="438912" y="3454400"/>
            <a:ext cx="4160520" cy="320040"/>
          </a:xfrm>
          <a:prstGeom prst="rect">
            <a:avLst/>
          </a:prstGeom>
          <a:noFill/>
          <a:ln/>
        </p:spPr>
        <p:txBody>
          <a:bodyPr wrap="square" lIns="0" tIns="0" rIns="0" bIns="0" rtlCol="0" anchor="ctr"/>
          <a:lstStyle/>
          <a:p>
            <a:pPr marL="0" indent="0">
              <a:buNone/>
            </a:pPr>
            <a:r>
              <a:rPr lang="en-US" sz="1150">
                <a:solidFill>
                  <a:srgbClr val="4A5568"/>
                </a:solidFill>
                <a:latin typeface="Calibri" pitchFamily="34" charset="0"/>
                <a:ea typeface="Calibri" pitchFamily="34" charset="-122"/>
                <a:cs typeface="Calibri" pitchFamily="34" charset="-120"/>
              </a:rPr>
              <a:t>Hill Climbing to learn dependency structure from data</a:t>
            </a:r>
            <a:endParaRPr lang="en-US" sz="1150"/>
          </a:p>
        </p:txBody>
      </p:sp>
      <p:sp>
        <p:nvSpPr>
          <p:cNvPr id="14" name="Shape 12"/>
          <p:cNvSpPr/>
          <p:nvPr/>
        </p:nvSpPr>
        <p:spPr>
          <a:xfrm>
            <a:off x="274320" y="4127500"/>
            <a:ext cx="54864" cy="594360"/>
          </a:xfrm>
          <a:prstGeom prst="rect">
            <a:avLst/>
          </a:prstGeom>
          <a:solidFill>
            <a:srgbClr val="E8A020"/>
          </a:solidFill>
          <a:ln w="12700">
            <a:solidFill>
              <a:srgbClr val="E8A020"/>
            </a:solidFill>
            <a:prstDash val="solid"/>
          </a:ln>
        </p:spPr>
        <p:txBody>
          <a:bodyPr/>
          <a:lstStyle/>
          <a:p>
            <a:endParaRPr lang="en-US"/>
          </a:p>
        </p:txBody>
      </p:sp>
      <p:sp>
        <p:nvSpPr>
          <p:cNvPr id="15" name="Text 13"/>
          <p:cNvSpPr/>
          <p:nvPr/>
        </p:nvSpPr>
        <p:spPr>
          <a:xfrm>
            <a:off x="438912" y="4140200"/>
            <a:ext cx="4160520" cy="256032"/>
          </a:xfrm>
          <a:prstGeom prst="rect">
            <a:avLst/>
          </a:prstGeom>
          <a:noFill/>
          <a:ln/>
        </p:spPr>
        <p:txBody>
          <a:bodyPr wrap="square" lIns="0" tIns="0" rIns="0" bIns="0" rtlCol="0" anchor="ctr"/>
          <a:lstStyle/>
          <a:p>
            <a:pPr marL="0" indent="0">
              <a:buNone/>
            </a:pPr>
            <a:r>
              <a:rPr lang="en-US" sz="1300" b="1">
                <a:solidFill>
                  <a:srgbClr val="0D1B2A"/>
                </a:solidFill>
                <a:latin typeface="Calibri" pitchFamily="34" charset="0"/>
                <a:ea typeface="Calibri" pitchFamily="34" charset="-122"/>
                <a:cs typeface="Calibri" pitchFamily="34" charset="-120"/>
              </a:rPr>
              <a:t>Three Test Modes</a:t>
            </a:r>
            <a:endParaRPr lang="en-US" sz="1300"/>
          </a:p>
        </p:txBody>
      </p:sp>
      <p:sp>
        <p:nvSpPr>
          <p:cNvPr id="16" name="Text 14"/>
          <p:cNvSpPr/>
          <p:nvPr/>
        </p:nvSpPr>
        <p:spPr>
          <a:xfrm>
            <a:off x="438912" y="4406900"/>
            <a:ext cx="4160520" cy="320040"/>
          </a:xfrm>
          <a:prstGeom prst="rect">
            <a:avLst/>
          </a:prstGeom>
          <a:noFill/>
          <a:ln/>
        </p:spPr>
        <p:txBody>
          <a:bodyPr wrap="square" lIns="0" tIns="0" rIns="0" bIns="0" rtlCol="0" anchor="ctr"/>
          <a:lstStyle/>
          <a:p>
            <a:pPr marL="0" indent="0">
              <a:buNone/>
            </a:pPr>
            <a:r>
              <a:rPr lang="en-US" sz="1150">
                <a:solidFill>
                  <a:srgbClr val="4A5568"/>
                </a:solidFill>
                <a:latin typeface="Calibri" pitchFamily="34" charset="0"/>
                <a:ea typeface="Calibri" pitchFamily="34" charset="-122"/>
                <a:cs typeface="Calibri" pitchFamily="34" charset="-120"/>
              </a:rPr>
              <a:t>Stats-only  ·  Market-only  ·  Combined — to isolate independent signal from each source</a:t>
            </a:r>
            <a:endParaRPr lang="en-US" sz="1150"/>
          </a:p>
        </p:txBody>
      </p:sp>
      <p:sp>
        <p:nvSpPr>
          <p:cNvPr id="45" name="Rounded Rectangle 44">
            <a:extLst>
              <a:ext uri="{FF2B5EF4-FFF2-40B4-BE49-F238E27FC236}">
                <a16:creationId xmlns:a16="http://schemas.microsoft.com/office/drawing/2014/main" id="{829C8058-1B89-3F40-98AF-28C681117CB9}"/>
              </a:ext>
            </a:extLst>
          </p:cNvPr>
          <p:cNvSpPr/>
          <p:nvPr/>
        </p:nvSpPr>
        <p:spPr>
          <a:xfrm>
            <a:off x="4775200" y="1117600"/>
            <a:ext cx="990600" cy="508000"/>
          </a:xfrm>
          <a:prstGeom prst="rect">
            <a:avLst/>
          </a:prstGeom>
          <a:solidFill>
            <a:srgbClr val="FFFFFF"/>
          </a:solidFill>
          <a:ln w="12700" cap="flat" cmpd="sng" algn="ctr">
            <a:solidFill>
              <a:srgbClr val="0D1B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0D1B2A"/>
                </a:solidFill>
                <a:latin typeface="Calibri"/>
                <a:cs typeface="Calibri"/>
              </a:rPr>
              <a:t>Offensive
efficiency</a:t>
            </a:r>
          </a:p>
        </p:txBody>
      </p:sp>
      <p:sp>
        <p:nvSpPr>
          <p:cNvPr id="46" name="Rounded Rectangle 45">
            <a:extLst>
              <a:ext uri="{FF2B5EF4-FFF2-40B4-BE49-F238E27FC236}">
                <a16:creationId xmlns:a16="http://schemas.microsoft.com/office/drawing/2014/main" id="{D009CD1C-2932-6E49-86D6-C504DDDC7CE2}"/>
              </a:ext>
            </a:extLst>
          </p:cNvPr>
          <p:cNvSpPr/>
          <p:nvPr/>
        </p:nvSpPr>
        <p:spPr>
          <a:xfrm>
            <a:off x="6413500" y="1117600"/>
            <a:ext cx="990600" cy="508000"/>
          </a:xfrm>
          <a:prstGeom prst="rect">
            <a:avLst/>
          </a:prstGeom>
          <a:solidFill>
            <a:srgbClr val="FFFFFF"/>
          </a:solidFill>
          <a:ln w="12700" cap="flat" cmpd="sng" algn="ctr">
            <a:solidFill>
              <a:srgbClr val="0D1B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0D1B2A"/>
                </a:solidFill>
                <a:latin typeface="Calibri"/>
                <a:cs typeface="Calibri"/>
              </a:rPr>
              <a:t>Turnover
margin</a:t>
            </a:r>
          </a:p>
        </p:txBody>
      </p:sp>
      <p:sp>
        <p:nvSpPr>
          <p:cNvPr id="47" name="Rounded Rectangle 46">
            <a:extLst>
              <a:ext uri="{FF2B5EF4-FFF2-40B4-BE49-F238E27FC236}">
                <a16:creationId xmlns:a16="http://schemas.microsoft.com/office/drawing/2014/main" id="{246A63ED-5F13-DC4C-8873-8B4EE8BE89C5}"/>
              </a:ext>
            </a:extLst>
          </p:cNvPr>
          <p:cNvSpPr/>
          <p:nvPr/>
        </p:nvSpPr>
        <p:spPr>
          <a:xfrm>
            <a:off x="8051800" y="1117600"/>
            <a:ext cx="990600" cy="508000"/>
          </a:xfrm>
          <a:prstGeom prst="rect">
            <a:avLst/>
          </a:prstGeom>
          <a:solidFill>
            <a:srgbClr val="FFFFFF"/>
          </a:solidFill>
          <a:ln w="12700" cap="flat" cmpd="sng" algn="ctr">
            <a:solidFill>
              <a:srgbClr val="0D1B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0D1B2A"/>
                </a:solidFill>
                <a:latin typeface="Calibri"/>
                <a:cs typeface="Calibri"/>
              </a:rPr>
              <a:t>Defensive
efficiency</a:t>
            </a:r>
          </a:p>
        </p:txBody>
      </p:sp>
      <p:sp>
        <p:nvSpPr>
          <p:cNvPr id="48" name="Rounded Rectangle 47">
            <a:extLst>
              <a:ext uri="{FF2B5EF4-FFF2-40B4-BE49-F238E27FC236}">
                <a16:creationId xmlns:a16="http://schemas.microsoft.com/office/drawing/2014/main" id="{3038F6A4-2D86-2447-9B6E-D3B9983BD6BC}"/>
              </a:ext>
            </a:extLst>
          </p:cNvPr>
          <p:cNvSpPr/>
          <p:nvPr/>
        </p:nvSpPr>
        <p:spPr>
          <a:xfrm>
            <a:off x="6413500" y="2159000"/>
            <a:ext cx="990600" cy="508000"/>
          </a:xfrm>
          <a:prstGeom prst="rect">
            <a:avLst/>
          </a:prstGeom>
          <a:solidFill>
            <a:srgbClr val="1B3A5C"/>
          </a:solidFill>
          <a:ln w="19050" cap="flat" cmpd="sng" algn="ctr">
            <a:solidFill>
              <a:srgbClr val="E8A02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latin typeface="Calibri"/>
                <a:cs typeface="Calibri"/>
              </a:rPr>
              <a:t>Opening line</a:t>
            </a:r>
          </a:p>
        </p:txBody>
      </p:sp>
      <p:sp>
        <p:nvSpPr>
          <p:cNvPr id="49" name="Rounded Rectangle 48">
            <a:extLst>
              <a:ext uri="{FF2B5EF4-FFF2-40B4-BE49-F238E27FC236}">
                <a16:creationId xmlns:a16="http://schemas.microsoft.com/office/drawing/2014/main" id="{A81652CD-E1FA-D345-A85F-78C613E5B4A4}"/>
              </a:ext>
            </a:extLst>
          </p:cNvPr>
          <p:cNvSpPr/>
          <p:nvPr/>
        </p:nvSpPr>
        <p:spPr>
          <a:xfrm>
            <a:off x="5054600" y="3200400"/>
            <a:ext cx="990600" cy="508000"/>
          </a:xfrm>
          <a:prstGeom prst="rect">
            <a:avLst/>
          </a:prstGeom>
          <a:solidFill>
            <a:srgbClr val="2196A6"/>
          </a:solidFill>
          <a:ln w="12700" cap="flat" cmpd="sng" algn="ctr">
            <a:solidFill>
              <a:srgbClr val="0D1B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latin typeface="Calibri"/>
                <a:cs typeface="Calibri"/>
              </a:rPr>
              <a:t>Line movement</a:t>
            </a:r>
          </a:p>
        </p:txBody>
      </p:sp>
      <p:sp>
        <p:nvSpPr>
          <p:cNvPr id="50" name="Rounded Rectangle 49">
            <a:extLst>
              <a:ext uri="{FF2B5EF4-FFF2-40B4-BE49-F238E27FC236}">
                <a16:creationId xmlns:a16="http://schemas.microsoft.com/office/drawing/2014/main" id="{AF2BCC4A-AF49-4745-93DE-B39F89B80254}"/>
              </a:ext>
            </a:extLst>
          </p:cNvPr>
          <p:cNvSpPr/>
          <p:nvPr/>
        </p:nvSpPr>
        <p:spPr>
          <a:xfrm>
            <a:off x="7772400" y="3200400"/>
            <a:ext cx="990600" cy="508000"/>
          </a:xfrm>
          <a:prstGeom prst="rect">
            <a:avLst/>
          </a:prstGeom>
          <a:solidFill>
            <a:srgbClr val="1B3A5C"/>
          </a:solidFill>
          <a:ln w="12700" cap="flat" cmpd="sng" algn="ctr">
            <a:solidFill>
              <a:srgbClr val="0D1B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latin typeface="Calibri"/>
                <a:cs typeface="Calibri"/>
              </a:rPr>
              <a:t>Closing line</a:t>
            </a:r>
          </a:p>
        </p:txBody>
      </p:sp>
      <p:sp>
        <p:nvSpPr>
          <p:cNvPr id="51" name="Rounded Rectangle 50">
            <a:extLst>
              <a:ext uri="{FF2B5EF4-FFF2-40B4-BE49-F238E27FC236}">
                <a16:creationId xmlns:a16="http://schemas.microsoft.com/office/drawing/2014/main" id="{1056DBD0-743B-D245-9D0A-F81CFDC785E6}"/>
              </a:ext>
            </a:extLst>
          </p:cNvPr>
          <p:cNvSpPr/>
          <p:nvPr/>
        </p:nvSpPr>
        <p:spPr>
          <a:xfrm>
            <a:off x="6413500" y="4241800"/>
            <a:ext cx="990600" cy="508000"/>
          </a:xfrm>
          <a:prstGeom prst="rect">
            <a:avLst/>
          </a:prstGeom>
          <a:solidFill>
            <a:srgbClr val="0D1B2A"/>
          </a:solidFill>
          <a:ln w="19050" cap="flat" cmpd="sng" algn="ctr">
            <a:solidFill>
              <a:srgbClr val="E8A02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000" b="1">
                <a:solidFill>
                  <a:srgbClr val="FFFFFF"/>
                </a:solidFill>
                <a:latin typeface="Calibri"/>
                <a:cs typeface="Calibri"/>
              </a:rPr>
              <a:t>Game outcome</a:t>
            </a:r>
          </a:p>
        </p:txBody>
      </p:sp>
      <p:cxnSp>
        <p:nvCxnSpPr>
          <p:cNvPr id="53" name="Straight Arrow Connector 52">
            <a:extLst>
              <a:ext uri="{FF2B5EF4-FFF2-40B4-BE49-F238E27FC236}">
                <a16:creationId xmlns:a16="http://schemas.microsoft.com/office/drawing/2014/main" id="{D7360F6E-324D-CC44-9A61-C9230D52DBBB}"/>
              </a:ext>
            </a:extLst>
          </p:cNvPr>
          <p:cNvCxnSpPr/>
          <p:nvPr/>
        </p:nvCxnSpPr>
        <p:spPr>
          <a:xfrm>
            <a:off x="5270500" y="1625600"/>
            <a:ext cx="1511300" cy="533400"/>
          </a:xfrm>
          <a:prstGeom prst="straightConnector1">
            <a:avLst/>
          </a:prstGeom>
          <a:ln w="19050" cap="flat" cmpd="sng" algn="ctr">
            <a:solidFill>
              <a:srgbClr val="0D1B2A"/>
            </a:solidFill>
            <a:prstDash val="solid"/>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E6636BC5-54EF-F541-B4E2-9C1B451F5BEC}"/>
              </a:ext>
            </a:extLst>
          </p:cNvPr>
          <p:cNvCxnSpPr/>
          <p:nvPr/>
        </p:nvCxnSpPr>
        <p:spPr>
          <a:xfrm>
            <a:off x="6908800" y="1625600"/>
            <a:ext cx="12700" cy="533400"/>
          </a:xfrm>
          <a:prstGeom prst="straightConnector1">
            <a:avLst/>
          </a:prstGeom>
          <a:ln w="19050" cap="flat" cmpd="sng" algn="ctr">
            <a:solidFill>
              <a:srgbClr val="0D1B2A"/>
            </a:solidFill>
            <a:prstDash val="solid"/>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186CECD-E826-4F40-8FF5-792BFFF94480}"/>
              </a:ext>
            </a:extLst>
          </p:cNvPr>
          <p:cNvCxnSpPr/>
          <p:nvPr/>
        </p:nvCxnSpPr>
        <p:spPr>
          <a:xfrm flipH="1">
            <a:off x="7035800" y="1625600"/>
            <a:ext cx="1511300" cy="533400"/>
          </a:xfrm>
          <a:prstGeom prst="straightConnector1">
            <a:avLst/>
          </a:prstGeom>
          <a:ln w="19050" cap="flat" cmpd="sng" algn="ctr">
            <a:solidFill>
              <a:srgbClr val="0D1B2A"/>
            </a:solidFill>
            <a:prstDash val="solid"/>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1A0559E6-8BAC-664B-B231-6C97994296F3}"/>
              </a:ext>
            </a:extLst>
          </p:cNvPr>
          <p:cNvCxnSpPr/>
          <p:nvPr/>
        </p:nvCxnSpPr>
        <p:spPr>
          <a:xfrm flipH="1">
            <a:off x="5549900" y="2667000"/>
            <a:ext cx="1231900" cy="533400"/>
          </a:xfrm>
          <a:prstGeom prst="straightConnector1">
            <a:avLst/>
          </a:prstGeom>
          <a:ln w="19050" cap="flat" cmpd="sng" algn="ctr">
            <a:solidFill>
              <a:srgbClr val="0D1B2A"/>
            </a:solidFill>
            <a:prstDash val="solid"/>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6BF20A36-D0AF-8340-A69A-F8C5202D3AA0}"/>
              </a:ext>
            </a:extLst>
          </p:cNvPr>
          <p:cNvCxnSpPr/>
          <p:nvPr/>
        </p:nvCxnSpPr>
        <p:spPr>
          <a:xfrm>
            <a:off x="7035800" y="2667000"/>
            <a:ext cx="1231900" cy="533400"/>
          </a:xfrm>
          <a:prstGeom prst="straightConnector1">
            <a:avLst/>
          </a:prstGeom>
          <a:ln w="19050" cap="flat" cmpd="sng" algn="ctr">
            <a:solidFill>
              <a:srgbClr val="0D1B2A"/>
            </a:solidFill>
            <a:prstDash val="solid"/>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753037E-956B-674B-A2F2-6032E2795EBD}"/>
              </a:ext>
            </a:extLst>
          </p:cNvPr>
          <p:cNvCxnSpPr/>
          <p:nvPr/>
        </p:nvCxnSpPr>
        <p:spPr>
          <a:xfrm>
            <a:off x="6045200" y="3454400"/>
            <a:ext cx="1727200" cy="12700"/>
          </a:xfrm>
          <a:prstGeom prst="straightConnector1">
            <a:avLst/>
          </a:prstGeom>
          <a:ln w="19050" cap="flat" cmpd="sng" algn="ctr">
            <a:solidFill>
              <a:srgbClr val="0D1B2A"/>
            </a:solidFill>
            <a:prstDash val="solid"/>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90B6C9D5-57AD-BD49-831A-0A21EBD97C8E}"/>
              </a:ext>
            </a:extLst>
          </p:cNvPr>
          <p:cNvCxnSpPr/>
          <p:nvPr/>
        </p:nvCxnSpPr>
        <p:spPr>
          <a:xfrm flipH="1">
            <a:off x="7035800" y="3708400"/>
            <a:ext cx="1231900" cy="533400"/>
          </a:xfrm>
          <a:prstGeom prst="straightConnector1">
            <a:avLst/>
          </a:prstGeom>
          <a:ln w="19050" cap="flat" cmpd="sng" algn="ctr">
            <a:solidFill>
              <a:srgbClr val="0D1B2A"/>
            </a:solidFill>
            <a:prstDash val="solid"/>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F403132A-46CC-D94B-8951-905A31275888}"/>
              </a:ext>
            </a:extLst>
          </p:cNvPr>
          <p:cNvCxnSpPr/>
          <p:nvPr/>
        </p:nvCxnSpPr>
        <p:spPr>
          <a:xfrm>
            <a:off x="5334000" y="1625600"/>
            <a:ext cx="1384300" cy="2616200"/>
          </a:xfrm>
          <a:prstGeom prst="straightConnector1">
            <a:avLst/>
          </a:prstGeom>
          <a:ln w="19050" cap="flat" cmpd="sng" algn="ctr">
            <a:solidFill>
              <a:srgbClr val="E8A020"/>
            </a:solidFill>
            <a:prstDash val="dash"/>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E325ABCC-E90E-8D42-B1A1-A1C71BF1613D}"/>
              </a:ext>
            </a:extLst>
          </p:cNvPr>
          <p:cNvCxnSpPr/>
          <p:nvPr/>
        </p:nvCxnSpPr>
        <p:spPr>
          <a:xfrm flipH="1">
            <a:off x="7099300" y="1625600"/>
            <a:ext cx="1384300" cy="2616200"/>
          </a:xfrm>
          <a:prstGeom prst="straightConnector1">
            <a:avLst/>
          </a:prstGeom>
          <a:ln w="19050" cap="flat" cmpd="sng" algn="ctr">
            <a:solidFill>
              <a:srgbClr val="E8A020"/>
            </a:solidFill>
            <a:prstDash val="dash"/>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C6771E7C-4070-104C-AE8D-350D721B242D}"/>
              </a:ext>
            </a:extLst>
          </p:cNvPr>
          <p:cNvCxnSpPr/>
          <p:nvPr/>
        </p:nvCxnSpPr>
        <p:spPr>
          <a:xfrm>
            <a:off x="6972300" y="2667000"/>
            <a:ext cx="12700" cy="1574800"/>
          </a:xfrm>
          <a:prstGeom prst="straightConnector1">
            <a:avLst/>
          </a:prstGeom>
          <a:ln w="19050" cap="flat" cmpd="sng" algn="ctr">
            <a:solidFill>
              <a:srgbClr val="E8A020"/>
            </a:solidFill>
            <a:prstDash val="dash"/>
            <a:miter lim="800000"/>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C2C18E5A-7995-5D41-BA28-F7E3E1C5D183}"/>
              </a:ext>
            </a:extLst>
          </p:cNvPr>
          <p:cNvCxnSpPr/>
          <p:nvPr/>
        </p:nvCxnSpPr>
        <p:spPr>
          <a:xfrm>
            <a:off x="5549900" y="3708400"/>
            <a:ext cx="1231900" cy="533400"/>
          </a:xfrm>
          <a:prstGeom prst="straightConnector1">
            <a:avLst/>
          </a:prstGeom>
          <a:ln w="12700" cap="flat" cmpd="sng" algn="ctr">
            <a:solidFill>
              <a:srgbClr val="C00000"/>
            </a:solidFill>
            <a:prstDash val="dash"/>
            <a:miter lim="800000"/>
            <a:headEnd type="none"/>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3726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FAD373-E6DB-C148-A58B-70857A6F5E0B}"/>
              </a:ext>
            </a:extLst>
          </p:cNvPr>
          <p:cNvSpPr/>
          <p:nvPr/>
        </p:nvSpPr>
        <p:spPr>
          <a:xfrm>
            <a:off x="254000" y="1168400"/>
            <a:ext cx="8636000" cy="762000"/>
          </a:xfrm>
          <a:prstGeom prst="rect">
            <a:avLst/>
          </a:prstGeom>
          <a:solidFill>
            <a:srgbClr val="1B3A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365760" y="137160"/>
            <a:ext cx="8412480" cy="685800"/>
          </a:xfrm>
          <a:prstGeom prst="rect">
            <a:avLst/>
          </a:prstGeom>
          <a:noFill/>
          <a:ln/>
        </p:spPr>
        <p:txBody>
          <a:bodyPr wrap="square" lIns="91440" tIns="45720" rIns="91440" bIns="45720" rtlCol="0" anchor="ctr"/>
          <a:lstStyle/>
          <a:p>
            <a:pPr marL="0" indent="0">
              <a:buNone/>
            </a:pPr>
            <a:r>
              <a:rPr lang="en-US" sz="2800" b="1">
                <a:solidFill>
                  <a:srgbClr val="FFFFFF"/>
                </a:solidFill>
                <a:latin typeface="Calibri"/>
                <a:ea typeface="Calibri"/>
                <a:cs typeface="Calibri"/>
              </a:rPr>
              <a:t>Methodology - Evaluation Techniques</a:t>
            </a:r>
            <a:endParaRPr lang="en-US" sz="2800"/>
          </a:p>
        </p:txBody>
      </p:sp>
      <p:sp>
        <p:nvSpPr>
          <p:cNvPr id="6" name="Text 4"/>
          <p:cNvSpPr/>
          <p:nvPr/>
        </p:nvSpPr>
        <p:spPr>
          <a:xfrm>
            <a:off x="508000" y="1295400"/>
            <a:ext cx="8128000" cy="254000"/>
          </a:xfrm>
          <a:prstGeom prst="rect">
            <a:avLst/>
          </a:prstGeom>
          <a:noFill/>
          <a:ln/>
        </p:spPr>
        <p:txBody>
          <a:bodyPr wrap="square" rtlCol="0" anchor="ctr"/>
          <a:lstStyle/>
          <a:p>
            <a:pPr marL="0" indent="0">
              <a:buNone/>
            </a:pPr>
            <a:r>
              <a:rPr lang="en-US" sz="1500" b="1">
                <a:solidFill>
                  <a:srgbClr val="FFFFFF"/>
                </a:solidFill>
                <a:latin typeface="Calibri"/>
              </a:rPr>
              <a:t>Classification Task — </a:t>
            </a:r>
            <a:r>
              <a:rPr lang="en-US" sz="1500">
                <a:solidFill>
                  <a:srgbClr val="FFFFFF"/>
                </a:solidFill>
                <a:latin typeface="Calibri"/>
              </a:rPr>
              <a:t>3-class: </a:t>
            </a:r>
            <a:r>
              <a:rPr lang="en-US" sz="1500" b="1">
                <a:solidFill>
                  <a:srgbClr val="E0A93D"/>
                </a:solidFill>
                <a:latin typeface="Calibri"/>
              </a:rPr>
              <a:t>Cover / Loss / Push</a:t>
            </a:r>
          </a:p>
        </p:txBody>
      </p:sp>
      <p:sp>
        <p:nvSpPr>
          <p:cNvPr id="7" name="Text 5"/>
          <p:cNvSpPr/>
          <p:nvPr/>
        </p:nvSpPr>
        <p:spPr>
          <a:xfrm>
            <a:off x="508000" y="1574800"/>
            <a:ext cx="8128000" cy="254000"/>
          </a:xfrm>
          <a:prstGeom prst="rect">
            <a:avLst/>
          </a:prstGeom>
          <a:noFill/>
          <a:ln/>
        </p:spPr>
        <p:txBody>
          <a:bodyPr wrap="square" rtlCol="0" anchor="ctr"/>
          <a:lstStyle/>
          <a:p>
            <a:pPr marL="0" indent="0">
              <a:buNone/>
            </a:pPr>
            <a:r>
              <a:rPr lang="en-US" sz="1300">
                <a:solidFill>
                  <a:srgbClr val="C9D4E0"/>
                </a:solidFill>
                <a:latin typeface="Calibri"/>
              </a:rPr>
              <a:t>Gaussian Naive Bayes variant for continuous features</a:t>
            </a:r>
          </a:p>
        </p:txBody>
      </p:sp>
      <p:sp>
        <p:nvSpPr>
          <p:cNvPr id="8" name="Shape 6"/>
          <p:cNvSpPr/>
          <p:nvPr/>
        </p:nvSpPr>
        <p:spPr>
          <a:xfrm>
            <a:off x="254000" y="2133600"/>
            <a:ext cx="2044700" cy="1651000"/>
          </a:xfrm>
          <a:prstGeom prst="rect">
            <a:avLst/>
          </a:prstGeom>
          <a:solidFill>
            <a:srgbClr val="FFFFFF"/>
          </a:solidFill>
          <a:ln w="6350">
            <a:solidFill>
              <a:srgbClr val="D6D6D6"/>
            </a:solidFill>
            <a:prstDash val="solid"/>
          </a:ln>
          <a:effectLst>
            <a:outerShdw blurRad="101600" dist="38100" dir="8100000" algn="bl" rotWithShape="0">
              <a:srgbClr val="000000">
                <a:alpha val="18000"/>
              </a:srgbClr>
            </a:outerShdw>
          </a:effectLst>
        </p:spPr>
        <p:txBody>
          <a:bodyPr/>
          <a:lstStyle/>
          <a:p>
            <a:endParaRPr lang="en-US"/>
          </a:p>
        </p:txBody>
      </p:sp>
      <p:sp>
        <p:nvSpPr>
          <p:cNvPr id="9" name="Text 7"/>
          <p:cNvSpPr/>
          <p:nvPr/>
        </p:nvSpPr>
        <p:spPr>
          <a:xfrm>
            <a:off x="406400" y="2311400"/>
            <a:ext cx="1739900" cy="381000"/>
          </a:xfrm>
          <a:prstGeom prst="rect">
            <a:avLst/>
          </a:prstGeom>
          <a:noFill/>
          <a:ln/>
        </p:spPr>
        <p:txBody>
          <a:bodyPr wrap="square" lIns="0" tIns="0" rIns="0" bIns="0" rtlCol="0" anchor="ctr"/>
          <a:lstStyle/>
          <a:p>
            <a:pPr marL="0" indent="0" algn="ctr">
              <a:buNone/>
            </a:pPr>
            <a:r>
              <a:rPr lang="en-US" sz="1600" b="1">
                <a:solidFill>
                  <a:srgbClr val="1B3A5C"/>
                </a:solidFill>
                <a:latin typeface="Calibri"/>
              </a:rPr>
              <a:t>Accuracy</a:t>
            </a:r>
          </a:p>
        </p:txBody>
      </p:sp>
      <p:sp>
        <p:nvSpPr>
          <p:cNvPr id="10" name="Text 8"/>
          <p:cNvSpPr/>
          <p:nvPr/>
        </p:nvSpPr>
        <p:spPr>
          <a:xfrm>
            <a:off x="406400" y="2768600"/>
            <a:ext cx="1739900" cy="889000"/>
          </a:xfrm>
          <a:prstGeom prst="rect">
            <a:avLst/>
          </a:prstGeom>
          <a:noFill/>
          <a:ln/>
        </p:spPr>
        <p:txBody>
          <a:bodyPr wrap="square" lIns="0" tIns="0" rIns="0" bIns="0" rtlCol="0" anchor="ctr"/>
          <a:lstStyle/>
          <a:p>
            <a:pPr marL="0" indent="0" algn="ctr">
              <a:lnSpc>
                <a:spcPct val="120000"/>
              </a:lnSpc>
              <a:buNone/>
            </a:pPr>
            <a:r>
              <a:rPr lang="en-US" sz="1200">
                <a:solidFill>
                  <a:srgbClr val="404040"/>
                </a:solidFill>
                <a:latin typeface="Calibri"/>
              </a:rPr>
              <a:t>Baseline predictive performance</a:t>
            </a:r>
          </a:p>
        </p:txBody>
      </p:sp>
      <p:sp>
        <p:nvSpPr>
          <p:cNvPr id="11" name="Shape 9"/>
          <p:cNvSpPr/>
          <p:nvPr/>
        </p:nvSpPr>
        <p:spPr>
          <a:xfrm>
            <a:off x="2451100" y="2133600"/>
            <a:ext cx="2044700" cy="1651000"/>
          </a:xfrm>
          <a:prstGeom prst="rect">
            <a:avLst/>
          </a:prstGeom>
          <a:solidFill>
            <a:srgbClr val="FFFFFF"/>
          </a:solidFill>
          <a:ln w="6350">
            <a:solidFill>
              <a:srgbClr val="D6D6D6"/>
            </a:solidFill>
            <a:prstDash val="solid"/>
          </a:ln>
          <a:effectLst>
            <a:outerShdw blurRad="101600" dist="38100" dir="8100000" algn="bl" rotWithShape="0">
              <a:srgbClr val="000000">
                <a:alpha val="18000"/>
              </a:srgbClr>
            </a:outerShdw>
          </a:effectLst>
        </p:spPr>
        <p:txBody>
          <a:bodyPr/>
          <a:lstStyle/>
          <a:p>
            <a:endParaRPr lang="en-US"/>
          </a:p>
        </p:txBody>
      </p:sp>
      <p:sp>
        <p:nvSpPr>
          <p:cNvPr id="12" name="Text 10"/>
          <p:cNvSpPr/>
          <p:nvPr/>
        </p:nvSpPr>
        <p:spPr>
          <a:xfrm>
            <a:off x="2603500" y="2311400"/>
            <a:ext cx="1739900" cy="381000"/>
          </a:xfrm>
          <a:prstGeom prst="rect">
            <a:avLst/>
          </a:prstGeom>
          <a:noFill/>
          <a:ln/>
        </p:spPr>
        <p:txBody>
          <a:bodyPr wrap="square" lIns="0" tIns="0" rIns="0" bIns="0" rtlCol="0" anchor="ctr"/>
          <a:lstStyle/>
          <a:p>
            <a:pPr marL="0" indent="0" algn="ctr">
              <a:buNone/>
            </a:pPr>
            <a:r>
              <a:rPr lang="en-US" sz="1600" b="1">
                <a:solidFill>
                  <a:srgbClr val="1B3A5C"/>
                </a:solidFill>
                <a:latin typeface="Calibri"/>
              </a:rPr>
              <a:t>Log Loss</a:t>
            </a:r>
          </a:p>
        </p:txBody>
      </p:sp>
      <p:sp>
        <p:nvSpPr>
          <p:cNvPr id="13" name="Text 11"/>
          <p:cNvSpPr/>
          <p:nvPr/>
        </p:nvSpPr>
        <p:spPr>
          <a:xfrm>
            <a:off x="2603500" y="2768600"/>
            <a:ext cx="1739900" cy="889000"/>
          </a:xfrm>
          <a:prstGeom prst="rect">
            <a:avLst/>
          </a:prstGeom>
          <a:noFill/>
          <a:ln/>
        </p:spPr>
        <p:txBody>
          <a:bodyPr wrap="square" lIns="0" tIns="0" rIns="0" bIns="0" rtlCol="0" anchor="ctr"/>
          <a:lstStyle/>
          <a:p>
            <a:pPr marL="0" indent="0" algn="ctr">
              <a:lnSpc>
                <a:spcPct val="120000"/>
              </a:lnSpc>
              <a:buNone/>
            </a:pPr>
            <a:r>
              <a:rPr lang="en-US" sz="1200">
                <a:solidFill>
                  <a:srgbClr val="404040"/>
                </a:solidFill>
                <a:latin typeface="Calibri"/>
              </a:rPr>
              <a:t>Probabilistic calibration quality</a:t>
            </a:r>
          </a:p>
        </p:txBody>
      </p:sp>
      <p:sp>
        <p:nvSpPr>
          <p:cNvPr id="14" name="Shape 12"/>
          <p:cNvSpPr/>
          <p:nvPr/>
        </p:nvSpPr>
        <p:spPr>
          <a:xfrm>
            <a:off x="4648200" y="2133600"/>
            <a:ext cx="2044700" cy="1651000"/>
          </a:xfrm>
          <a:prstGeom prst="rect">
            <a:avLst/>
          </a:prstGeom>
          <a:solidFill>
            <a:srgbClr val="FFFFFF"/>
          </a:solidFill>
          <a:ln w="6350">
            <a:solidFill>
              <a:srgbClr val="D6D6D6"/>
            </a:solidFill>
            <a:prstDash val="solid"/>
          </a:ln>
          <a:effectLst>
            <a:outerShdw blurRad="101600" dist="38100" dir="8100000" algn="bl" rotWithShape="0">
              <a:srgbClr val="000000">
                <a:alpha val="18000"/>
              </a:srgbClr>
            </a:outerShdw>
          </a:effectLst>
        </p:spPr>
        <p:txBody>
          <a:bodyPr/>
          <a:lstStyle/>
          <a:p>
            <a:endParaRPr lang="en-US"/>
          </a:p>
        </p:txBody>
      </p:sp>
      <p:sp>
        <p:nvSpPr>
          <p:cNvPr id="15" name="Text 13"/>
          <p:cNvSpPr/>
          <p:nvPr/>
        </p:nvSpPr>
        <p:spPr>
          <a:xfrm>
            <a:off x="4800600" y="2311400"/>
            <a:ext cx="1739900" cy="381000"/>
          </a:xfrm>
          <a:prstGeom prst="rect">
            <a:avLst/>
          </a:prstGeom>
          <a:noFill/>
          <a:ln/>
        </p:spPr>
        <p:txBody>
          <a:bodyPr wrap="square" lIns="0" tIns="0" rIns="0" bIns="0" rtlCol="0" anchor="ctr"/>
          <a:lstStyle/>
          <a:p>
            <a:pPr marL="0" indent="0" algn="ctr">
              <a:buNone/>
            </a:pPr>
            <a:r>
              <a:rPr lang="en-US" sz="1600" b="1">
                <a:solidFill>
                  <a:srgbClr val="1B3A5C"/>
                </a:solidFill>
                <a:latin typeface="Calibri"/>
              </a:rPr>
              <a:t>Brier Score</a:t>
            </a:r>
          </a:p>
        </p:txBody>
      </p:sp>
      <p:sp>
        <p:nvSpPr>
          <p:cNvPr id="16" name="Text 14"/>
          <p:cNvSpPr/>
          <p:nvPr/>
        </p:nvSpPr>
        <p:spPr>
          <a:xfrm>
            <a:off x="4800600" y="2768600"/>
            <a:ext cx="1739900" cy="889000"/>
          </a:xfrm>
          <a:prstGeom prst="rect">
            <a:avLst/>
          </a:prstGeom>
          <a:noFill/>
          <a:ln/>
        </p:spPr>
        <p:txBody>
          <a:bodyPr wrap="square" lIns="0" tIns="0" rIns="0" bIns="0" rtlCol="0" anchor="ctr"/>
          <a:lstStyle/>
          <a:p>
            <a:pPr marL="0" indent="0" algn="ctr">
              <a:lnSpc>
                <a:spcPct val="120000"/>
              </a:lnSpc>
              <a:buNone/>
            </a:pPr>
            <a:r>
              <a:rPr lang="en-US" sz="1200">
                <a:solidFill>
                  <a:srgbClr val="404040"/>
                </a:solidFill>
                <a:latin typeface="Calibri"/>
              </a:rPr>
              <a:t>Mean squared error of probabilities</a:t>
            </a:r>
          </a:p>
        </p:txBody>
      </p:sp>
      <p:sp>
        <p:nvSpPr>
          <p:cNvPr id="17" name="Shape 15"/>
          <p:cNvSpPr/>
          <p:nvPr/>
        </p:nvSpPr>
        <p:spPr>
          <a:xfrm>
            <a:off x="6845300" y="2133600"/>
            <a:ext cx="2044700" cy="1651000"/>
          </a:xfrm>
          <a:prstGeom prst="rect">
            <a:avLst/>
          </a:prstGeom>
          <a:solidFill>
            <a:srgbClr val="FFFFFF"/>
          </a:solidFill>
          <a:ln w="6350">
            <a:solidFill>
              <a:srgbClr val="D6D6D6"/>
            </a:solidFill>
            <a:prstDash val="solid"/>
          </a:ln>
          <a:effectLst>
            <a:outerShdw blurRad="101600" dist="38100" dir="8100000" algn="bl" rotWithShape="0">
              <a:srgbClr val="000000">
                <a:alpha val="18000"/>
              </a:srgbClr>
            </a:outerShdw>
          </a:effectLst>
        </p:spPr>
        <p:txBody>
          <a:bodyPr/>
          <a:lstStyle/>
          <a:p>
            <a:endParaRPr lang="en-US"/>
          </a:p>
        </p:txBody>
      </p:sp>
      <p:sp>
        <p:nvSpPr>
          <p:cNvPr id="18" name="Text 16"/>
          <p:cNvSpPr/>
          <p:nvPr/>
        </p:nvSpPr>
        <p:spPr>
          <a:xfrm>
            <a:off x="6997700" y="2311400"/>
            <a:ext cx="1739900" cy="381000"/>
          </a:xfrm>
          <a:prstGeom prst="rect">
            <a:avLst/>
          </a:prstGeom>
          <a:noFill/>
          <a:ln/>
        </p:spPr>
        <p:txBody>
          <a:bodyPr wrap="square" lIns="0" tIns="0" rIns="0" bIns="0" rtlCol="0" anchor="ctr"/>
          <a:lstStyle/>
          <a:p>
            <a:pPr marL="0" indent="0" algn="ctr">
              <a:buNone/>
            </a:pPr>
            <a:r>
              <a:rPr lang="en-US" sz="1600" b="1">
                <a:solidFill>
                  <a:srgbClr val="1B3A5C"/>
                </a:solidFill>
                <a:latin typeface="Calibri"/>
              </a:rPr>
              <a:t>AUC-ROC</a:t>
            </a:r>
          </a:p>
        </p:txBody>
      </p:sp>
      <p:sp>
        <p:nvSpPr>
          <p:cNvPr id="19" name="Text 17"/>
          <p:cNvSpPr/>
          <p:nvPr/>
        </p:nvSpPr>
        <p:spPr>
          <a:xfrm>
            <a:off x="6997700" y="2768600"/>
            <a:ext cx="1739900" cy="889000"/>
          </a:xfrm>
          <a:prstGeom prst="rect">
            <a:avLst/>
          </a:prstGeom>
          <a:noFill/>
          <a:ln/>
        </p:spPr>
        <p:txBody>
          <a:bodyPr wrap="square" lIns="0" tIns="0" rIns="0" bIns="0" rtlCol="0" anchor="ctr"/>
          <a:lstStyle/>
          <a:p>
            <a:pPr marL="0" indent="0" algn="ctr">
              <a:lnSpc>
                <a:spcPct val="120000"/>
              </a:lnSpc>
              <a:buNone/>
            </a:pPr>
            <a:r>
              <a:rPr lang="en-US" sz="1200">
                <a:solidFill>
                  <a:srgbClr val="404040"/>
                </a:solidFill>
                <a:latin typeface="Calibri"/>
              </a:rPr>
              <a:t>One-vs-rest for binary comparison</a:t>
            </a:r>
          </a:p>
        </p:txBody>
      </p:sp>
      <p:sp>
        <p:nvSpPr>
          <p:cNvPr id="20" name="Shape 18"/>
          <p:cNvSpPr/>
          <p:nvPr/>
        </p:nvSpPr>
        <p:spPr>
          <a:xfrm>
            <a:off x="254000" y="3962400"/>
            <a:ext cx="8636000" cy="1016000"/>
          </a:xfrm>
          <a:prstGeom prst="rect">
            <a:avLst/>
          </a:prstGeom>
          <a:solidFill>
            <a:srgbClr val="1B3A5C"/>
          </a:solidFill>
          <a:ln w="12700">
            <a:noFill/>
            <a:prstDash val="solid"/>
          </a:ln>
        </p:spPr>
        <p:txBody>
          <a:bodyPr/>
          <a:lstStyle/>
          <a:p>
            <a:endParaRPr lang="en-US"/>
          </a:p>
        </p:txBody>
      </p:sp>
      <p:sp>
        <p:nvSpPr>
          <p:cNvPr id="21" name="Text 19"/>
          <p:cNvSpPr/>
          <p:nvPr/>
        </p:nvSpPr>
        <p:spPr>
          <a:xfrm>
            <a:off x="457200" y="4140200"/>
            <a:ext cx="8229600" cy="355600"/>
          </a:xfrm>
          <a:prstGeom prst="rect">
            <a:avLst/>
          </a:prstGeom>
          <a:noFill/>
          <a:ln/>
        </p:spPr>
        <p:txBody>
          <a:bodyPr wrap="square" rtlCol="0" anchor="ctr"/>
          <a:lstStyle/>
          <a:p>
            <a:pPr marL="0" indent="0" algn="ctr">
              <a:buNone/>
            </a:pPr>
            <a:r>
              <a:rPr lang="en-US" sz="1600" b="1">
                <a:solidFill>
                  <a:srgbClr val="E0A93D"/>
                </a:solidFill>
                <a:latin typeface="Calibri"/>
              </a:rPr>
              <a:t>Ablation: </a:t>
            </a:r>
            <a:r>
              <a:rPr lang="en-US" sz="1600" b="1">
                <a:solidFill>
                  <a:srgbClr val="FFFFFF"/>
                </a:solidFill>
                <a:latin typeface="Calibri"/>
              </a:rPr>
              <a:t>Stats-only · Market-only · Combined</a:t>
            </a:r>
          </a:p>
        </p:txBody>
      </p:sp>
      <p:sp>
        <p:nvSpPr>
          <p:cNvPr id="22" name="Text 20"/>
          <p:cNvSpPr/>
          <p:nvPr/>
        </p:nvSpPr>
        <p:spPr>
          <a:xfrm>
            <a:off x="457200" y="4546600"/>
            <a:ext cx="8229600" cy="304800"/>
          </a:xfrm>
          <a:prstGeom prst="rect">
            <a:avLst/>
          </a:prstGeom>
          <a:noFill/>
          <a:ln/>
        </p:spPr>
        <p:txBody>
          <a:bodyPr wrap="square" rtlCol="0" anchor="ctr"/>
          <a:lstStyle/>
          <a:p>
            <a:pPr marL="0" indent="0" algn="ctr">
              <a:buNone/>
            </a:pPr>
            <a:r>
              <a:rPr lang="en-US" sz="1300">
                <a:solidFill>
                  <a:srgbClr val="FFFFFF"/>
                </a:solidFill>
                <a:latin typeface="Calibri"/>
              </a:rPr>
              <a:t>Isolates whether each source adds independent signal</a:t>
            </a:r>
          </a:p>
        </p:txBody>
      </p:sp>
      <p:sp>
        <p:nvSpPr>
          <p:cNvPr id="23" name="Rectangle 22">
            <a:extLst>
              <a:ext uri="{FF2B5EF4-FFF2-40B4-BE49-F238E27FC236}">
                <a16:creationId xmlns:a16="http://schemas.microsoft.com/office/drawing/2014/main" id="{321DA082-07F3-E84B-9CEC-90B62EDCC7BF}"/>
              </a:ext>
            </a:extLst>
          </p:cNvPr>
          <p:cNvSpPr/>
          <p:nvPr/>
        </p:nvSpPr>
        <p:spPr>
          <a:xfrm>
            <a:off x="254000" y="1168400"/>
            <a:ext cx="50800" cy="762000"/>
          </a:xfrm>
          <a:prstGeom prst="rect">
            <a:avLst/>
          </a:prstGeom>
          <a:solidFill>
            <a:srgbClr val="E0A9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C2D1AE18-9CCF-0A42-BE30-18E84A36B6FF}"/>
              </a:ext>
            </a:extLst>
          </p:cNvPr>
          <p:cNvSpPr/>
          <p:nvPr/>
        </p:nvSpPr>
        <p:spPr>
          <a:xfrm>
            <a:off x="254000" y="2133600"/>
            <a:ext cx="2044700" cy="63500"/>
          </a:xfrm>
          <a:prstGeom prst="rect">
            <a:avLst/>
          </a:prstGeom>
          <a:solidFill>
            <a:srgbClr val="E0A9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24">
            <a:extLst>
              <a:ext uri="{FF2B5EF4-FFF2-40B4-BE49-F238E27FC236}">
                <a16:creationId xmlns:a16="http://schemas.microsoft.com/office/drawing/2014/main" id="{8DDE0C4D-E166-AC4E-A7CD-F9E1CB243B78}"/>
              </a:ext>
            </a:extLst>
          </p:cNvPr>
          <p:cNvSpPr/>
          <p:nvPr/>
        </p:nvSpPr>
        <p:spPr>
          <a:xfrm>
            <a:off x="2451100" y="2133600"/>
            <a:ext cx="2044700" cy="63500"/>
          </a:xfrm>
          <a:prstGeom prst="rect">
            <a:avLst/>
          </a:prstGeom>
          <a:solidFill>
            <a:srgbClr val="E0A9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391354C9-1C21-0142-B795-885CE80D0736}"/>
              </a:ext>
            </a:extLst>
          </p:cNvPr>
          <p:cNvSpPr/>
          <p:nvPr/>
        </p:nvSpPr>
        <p:spPr>
          <a:xfrm>
            <a:off x="4648200" y="2133600"/>
            <a:ext cx="2044700" cy="63500"/>
          </a:xfrm>
          <a:prstGeom prst="rect">
            <a:avLst/>
          </a:prstGeom>
          <a:solidFill>
            <a:srgbClr val="E0A9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2CE0EA4E-F2D0-414B-BE12-321B1C1E4971}"/>
              </a:ext>
            </a:extLst>
          </p:cNvPr>
          <p:cNvSpPr/>
          <p:nvPr/>
        </p:nvSpPr>
        <p:spPr>
          <a:xfrm>
            <a:off x="6845300" y="2133600"/>
            <a:ext cx="2044700" cy="63500"/>
          </a:xfrm>
          <a:prstGeom prst="rect">
            <a:avLst/>
          </a:prstGeom>
          <a:solidFill>
            <a:srgbClr val="E0A9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378191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365760" y="137160"/>
            <a:ext cx="8412480" cy="685800"/>
          </a:xfrm>
          <a:prstGeom prst="rect">
            <a:avLst/>
          </a:prstGeom>
          <a:noFill/>
          <a:ln/>
        </p:spPr>
        <p:txBody>
          <a:bodyPr wrap="square" rtlCol="0" anchor="ctr"/>
          <a:lstStyle/>
          <a:p>
            <a:pPr marL="0" indent="0">
              <a:buNone/>
            </a:pPr>
            <a:r>
              <a:rPr lang="en-US" sz="2800" b="1">
                <a:solidFill>
                  <a:srgbClr val="FFFFFF"/>
                </a:solidFill>
                <a:latin typeface="Calibri" pitchFamily="34" charset="0"/>
                <a:ea typeface="Calibri" pitchFamily="34" charset="-122"/>
                <a:cs typeface="Calibri" pitchFamily="34" charset="-120"/>
              </a:rPr>
              <a:t>Dataset</a:t>
            </a:r>
            <a:endParaRPr lang="en-US" sz="2800"/>
          </a:p>
        </p:txBody>
      </p:sp>
      <p:sp>
        <p:nvSpPr>
          <p:cNvPr id="5" name="Shape 3"/>
          <p:cNvSpPr/>
          <p:nvPr/>
        </p:nvSpPr>
        <p:spPr>
          <a:xfrm>
            <a:off x="274320" y="1143000"/>
            <a:ext cx="1965960" cy="960120"/>
          </a:xfrm>
          <a:prstGeom prst="rect">
            <a:avLst/>
          </a:prstGeom>
          <a:solidFill>
            <a:srgbClr val="1B3A5C"/>
          </a:solidFill>
          <a:ln w="12700">
            <a:solidFill>
              <a:srgbClr val="E8A020"/>
            </a:solidFill>
            <a:prstDash val="solid"/>
          </a:ln>
          <a:effectLst>
            <a:outerShdw blurRad="101600" dist="38100" dir="8100000" algn="bl" rotWithShape="0">
              <a:srgbClr val="000000">
                <a:alpha val="18000"/>
              </a:srgbClr>
            </a:outerShdw>
          </a:effectLst>
        </p:spPr>
        <p:txBody>
          <a:bodyPr/>
          <a:lstStyle/>
          <a:p>
            <a:endParaRPr lang="en-US"/>
          </a:p>
        </p:txBody>
      </p:sp>
      <p:sp>
        <p:nvSpPr>
          <p:cNvPr id="6" name="Text 4"/>
          <p:cNvSpPr/>
          <p:nvPr/>
        </p:nvSpPr>
        <p:spPr>
          <a:xfrm>
            <a:off x="274320" y="1170432"/>
            <a:ext cx="1965960" cy="548640"/>
          </a:xfrm>
          <a:prstGeom prst="rect">
            <a:avLst/>
          </a:prstGeom>
          <a:noFill/>
          <a:ln/>
        </p:spPr>
        <p:txBody>
          <a:bodyPr wrap="square" rtlCol="0" anchor="ctr"/>
          <a:lstStyle/>
          <a:p>
            <a:pPr marL="0" indent="0" algn="ctr">
              <a:buNone/>
            </a:pPr>
            <a:r>
              <a:rPr lang="en-US" sz="3000" b="1">
                <a:solidFill>
                  <a:srgbClr val="E8A020"/>
                </a:solidFill>
                <a:latin typeface="Calibri" pitchFamily="34" charset="0"/>
                <a:ea typeface="Calibri" pitchFamily="34" charset="-122"/>
                <a:cs typeface="Calibri" pitchFamily="34" charset="-120"/>
              </a:rPr>
              <a:t>3,990</a:t>
            </a:r>
            <a:endParaRPr lang="en-US" sz="3000"/>
          </a:p>
        </p:txBody>
      </p:sp>
      <p:sp>
        <p:nvSpPr>
          <p:cNvPr id="7" name="Text 5"/>
          <p:cNvSpPr/>
          <p:nvPr/>
        </p:nvSpPr>
        <p:spPr>
          <a:xfrm>
            <a:off x="274320" y="1691640"/>
            <a:ext cx="1965960" cy="320040"/>
          </a:xfrm>
          <a:prstGeom prst="rect">
            <a:avLst/>
          </a:prstGeom>
          <a:noFill/>
          <a:ln/>
        </p:spPr>
        <p:txBody>
          <a:bodyPr wrap="square"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NFL Games</a:t>
            </a:r>
            <a:endParaRPr lang="en-US" sz="1100"/>
          </a:p>
        </p:txBody>
      </p:sp>
      <p:sp>
        <p:nvSpPr>
          <p:cNvPr id="8" name="Shape 6"/>
          <p:cNvSpPr/>
          <p:nvPr/>
        </p:nvSpPr>
        <p:spPr>
          <a:xfrm>
            <a:off x="2441448" y="1143000"/>
            <a:ext cx="1965960" cy="960120"/>
          </a:xfrm>
          <a:prstGeom prst="rect">
            <a:avLst/>
          </a:prstGeom>
          <a:solidFill>
            <a:srgbClr val="1B3A5C"/>
          </a:solidFill>
          <a:ln w="12700">
            <a:solidFill>
              <a:srgbClr val="E8A020"/>
            </a:solidFill>
            <a:prstDash val="solid"/>
          </a:ln>
          <a:effectLst>
            <a:outerShdw blurRad="101600" dist="38100" dir="8100000" algn="bl" rotWithShape="0">
              <a:srgbClr val="000000">
                <a:alpha val="18000"/>
              </a:srgbClr>
            </a:outerShdw>
          </a:effectLst>
        </p:spPr>
        <p:txBody>
          <a:bodyPr/>
          <a:lstStyle/>
          <a:p>
            <a:endParaRPr lang="en-US"/>
          </a:p>
        </p:txBody>
      </p:sp>
      <p:sp>
        <p:nvSpPr>
          <p:cNvPr id="9" name="Text 7"/>
          <p:cNvSpPr/>
          <p:nvPr/>
        </p:nvSpPr>
        <p:spPr>
          <a:xfrm>
            <a:off x="2441448" y="1170432"/>
            <a:ext cx="1965960" cy="548640"/>
          </a:xfrm>
          <a:prstGeom prst="rect">
            <a:avLst/>
          </a:prstGeom>
          <a:noFill/>
          <a:ln/>
        </p:spPr>
        <p:txBody>
          <a:bodyPr wrap="square" rtlCol="0" anchor="ctr"/>
          <a:lstStyle/>
          <a:p>
            <a:pPr algn="ctr"/>
            <a:r>
              <a:rPr lang="en-US" sz="3000" b="1">
                <a:solidFill>
                  <a:srgbClr val="E8A020"/>
                </a:solidFill>
                <a:latin typeface="Calibri" pitchFamily="34" charset="0"/>
                <a:ea typeface="Calibri" pitchFamily="34" charset="-122"/>
                <a:cs typeface="Calibri" pitchFamily="34" charset="-120"/>
              </a:rPr>
              <a:t>15</a:t>
            </a:r>
            <a:endParaRPr lang="en-US" sz="3000">
              <a:solidFill>
                <a:srgbClr val="FFFFFF"/>
              </a:solidFill>
              <a:latin typeface="Calibri" pitchFamily="34" charset="0"/>
              <a:ea typeface="Calibri" pitchFamily="34" charset="-122"/>
              <a:cs typeface="Calibri" pitchFamily="34" charset="-120"/>
            </a:endParaRPr>
          </a:p>
        </p:txBody>
      </p:sp>
      <p:sp>
        <p:nvSpPr>
          <p:cNvPr id="10" name="Text 8"/>
          <p:cNvSpPr/>
          <p:nvPr/>
        </p:nvSpPr>
        <p:spPr>
          <a:xfrm>
            <a:off x="2441448" y="1691640"/>
            <a:ext cx="1965960" cy="320040"/>
          </a:xfrm>
          <a:prstGeom prst="rect">
            <a:avLst/>
          </a:prstGeom>
          <a:noFill/>
          <a:ln/>
        </p:spPr>
        <p:txBody>
          <a:bodyPr wrap="square" rtlCol="0" anchor="ctr"/>
          <a:lstStyle/>
          <a:p>
            <a:pPr algn="ctr"/>
            <a:r>
              <a:rPr lang="en-US" sz="1100">
                <a:solidFill>
                  <a:srgbClr val="FFFFFF"/>
                </a:solidFill>
                <a:latin typeface="Calibri" pitchFamily="34" charset="0"/>
                <a:ea typeface="Calibri" pitchFamily="34" charset="-122"/>
                <a:cs typeface="Calibri" pitchFamily="34" charset="-120"/>
              </a:rPr>
              <a:t>Seasons</a:t>
            </a:r>
          </a:p>
          <a:p>
            <a:pPr algn="ctr"/>
            <a:r>
              <a:rPr lang="en-US" sz="1100">
                <a:solidFill>
                  <a:srgbClr val="FFFFFF"/>
                </a:solidFill>
                <a:latin typeface="Calibri" pitchFamily="34" charset="0"/>
                <a:cs typeface="Calibri" pitchFamily="34" charset="-120"/>
              </a:rPr>
              <a:t>2007-2022</a:t>
            </a:r>
          </a:p>
        </p:txBody>
      </p:sp>
      <p:sp>
        <p:nvSpPr>
          <p:cNvPr id="11" name="Shape 9"/>
          <p:cNvSpPr/>
          <p:nvPr/>
        </p:nvSpPr>
        <p:spPr>
          <a:xfrm>
            <a:off x="4608576" y="1143000"/>
            <a:ext cx="1965960" cy="960120"/>
          </a:xfrm>
          <a:prstGeom prst="rect">
            <a:avLst/>
          </a:prstGeom>
          <a:solidFill>
            <a:srgbClr val="1B3A5C"/>
          </a:solidFill>
          <a:ln w="12700">
            <a:solidFill>
              <a:srgbClr val="E8A020"/>
            </a:solidFill>
            <a:prstDash val="solid"/>
          </a:ln>
          <a:effectLst>
            <a:outerShdw blurRad="101600" dist="38100" dir="8100000" algn="bl" rotWithShape="0">
              <a:srgbClr val="000000">
                <a:alpha val="18000"/>
              </a:srgbClr>
            </a:outerShdw>
          </a:effectLst>
        </p:spPr>
        <p:txBody>
          <a:bodyPr/>
          <a:lstStyle/>
          <a:p>
            <a:endParaRPr lang="en-US"/>
          </a:p>
        </p:txBody>
      </p:sp>
      <p:sp>
        <p:nvSpPr>
          <p:cNvPr id="12" name="Text 10"/>
          <p:cNvSpPr/>
          <p:nvPr/>
        </p:nvSpPr>
        <p:spPr>
          <a:xfrm>
            <a:off x="4608576" y="1170432"/>
            <a:ext cx="1965960" cy="548640"/>
          </a:xfrm>
          <a:prstGeom prst="rect">
            <a:avLst/>
          </a:prstGeom>
          <a:noFill/>
          <a:ln/>
        </p:spPr>
        <p:txBody>
          <a:bodyPr wrap="square" rtlCol="0" anchor="ctr"/>
          <a:lstStyle/>
          <a:p>
            <a:pPr marL="0" indent="0" algn="ctr">
              <a:buNone/>
            </a:pPr>
            <a:r>
              <a:rPr lang="en-US" sz="3000" b="1">
                <a:solidFill>
                  <a:srgbClr val="E8A020"/>
                </a:solidFill>
                <a:latin typeface="Calibri" pitchFamily="34" charset="0"/>
                <a:ea typeface="Calibri" pitchFamily="34" charset="-122"/>
                <a:cs typeface="Calibri" pitchFamily="34" charset="-120"/>
              </a:rPr>
              <a:t>6</a:t>
            </a:r>
            <a:endParaRPr lang="en-US" sz="3000"/>
          </a:p>
        </p:txBody>
      </p:sp>
      <p:sp>
        <p:nvSpPr>
          <p:cNvPr id="13" name="Text 11"/>
          <p:cNvSpPr/>
          <p:nvPr/>
        </p:nvSpPr>
        <p:spPr>
          <a:xfrm>
            <a:off x="4608576" y="1691640"/>
            <a:ext cx="1965960" cy="320040"/>
          </a:xfrm>
          <a:prstGeom prst="rect">
            <a:avLst/>
          </a:prstGeom>
          <a:noFill/>
          <a:ln/>
        </p:spPr>
        <p:txBody>
          <a:bodyPr wrap="square"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Market Data Points / Game</a:t>
            </a:r>
            <a:endParaRPr lang="en-US" sz="1100"/>
          </a:p>
        </p:txBody>
      </p:sp>
      <p:sp>
        <p:nvSpPr>
          <p:cNvPr id="14" name="Shape 12"/>
          <p:cNvSpPr/>
          <p:nvPr/>
        </p:nvSpPr>
        <p:spPr>
          <a:xfrm>
            <a:off x="6775704" y="1143000"/>
            <a:ext cx="1965960" cy="960120"/>
          </a:xfrm>
          <a:prstGeom prst="rect">
            <a:avLst/>
          </a:prstGeom>
          <a:solidFill>
            <a:srgbClr val="1B3A5C"/>
          </a:solidFill>
          <a:ln w="12700">
            <a:solidFill>
              <a:srgbClr val="E8A020"/>
            </a:solidFill>
            <a:prstDash val="solid"/>
          </a:ln>
          <a:effectLst>
            <a:outerShdw blurRad="101600" dist="38100" dir="8100000" algn="bl" rotWithShape="0">
              <a:srgbClr val="000000">
                <a:alpha val="18000"/>
              </a:srgbClr>
            </a:outerShdw>
          </a:effectLst>
        </p:spPr>
        <p:txBody>
          <a:bodyPr/>
          <a:lstStyle/>
          <a:p>
            <a:endParaRPr lang="en-US"/>
          </a:p>
        </p:txBody>
      </p:sp>
      <p:sp>
        <p:nvSpPr>
          <p:cNvPr id="15" name="Text 13"/>
          <p:cNvSpPr/>
          <p:nvPr/>
        </p:nvSpPr>
        <p:spPr>
          <a:xfrm>
            <a:off x="6775704" y="1170432"/>
            <a:ext cx="1965960" cy="548640"/>
          </a:xfrm>
          <a:prstGeom prst="rect">
            <a:avLst/>
          </a:prstGeom>
          <a:noFill/>
          <a:ln/>
        </p:spPr>
        <p:txBody>
          <a:bodyPr wrap="square" rtlCol="0" anchor="ctr"/>
          <a:lstStyle/>
          <a:p>
            <a:pPr marL="0" indent="0" algn="ctr">
              <a:buNone/>
            </a:pPr>
            <a:r>
              <a:rPr lang="en-US" sz="3000" b="1">
                <a:solidFill>
                  <a:srgbClr val="E8A020"/>
                </a:solidFill>
                <a:latin typeface="Calibri" pitchFamily="34" charset="0"/>
                <a:ea typeface="Calibri" pitchFamily="34" charset="-122"/>
                <a:cs typeface="Calibri" pitchFamily="34" charset="-120"/>
              </a:rPr>
              <a:t>2</a:t>
            </a:r>
            <a:endParaRPr lang="en-US" sz="3000"/>
          </a:p>
        </p:txBody>
      </p:sp>
      <p:sp>
        <p:nvSpPr>
          <p:cNvPr id="16" name="Text 14"/>
          <p:cNvSpPr/>
          <p:nvPr/>
        </p:nvSpPr>
        <p:spPr>
          <a:xfrm>
            <a:off x="6775704" y="1691640"/>
            <a:ext cx="1965960" cy="320040"/>
          </a:xfrm>
          <a:prstGeom prst="rect">
            <a:avLst/>
          </a:prstGeom>
          <a:noFill/>
          <a:ln/>
        </p:spPr>
        <p:txBody>
          <a:bodyPr wrap="square"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Data Sources</a:t>
            </a:r>
            <a:endParaRPr lang="en-US" sz="1100"/>
          </a:p>
        </p:txBody>
      </p:sp>
      <p:sp>
        <p:nvSpPr>
          <p:cNvPr id="17" name="Text 15"/>
          <p:cNvSpPr/>
          <p:nvPr/>
        </p:nvSpPr>
        <p:spPr>
          <a:xfrm>
            <a:off x="274320" y="2286000"/>
            <a:ext cx="4114800" cy="274320"/>
          </a:xfrm>
          <a:prstGeom prst="rect">
            <a:avLst/>
          </a:prstGeom>
          <a:noFill/>
          <a:ln/>
        </p:spPr>
        <p:txBody>
          <a:bodyPr wrap="square" rtlCol="0" anchor="ctr"/>
          <a:lstStyle/>
          <a:p>
            <a:pPr marL="0" indent="0">
              <a:buNone/>
            </a:pPr>
            <a:r>
              <a:rPr lang="en-US" sz="1300" b="1">
                <a:solidFill>
                  <a:srgbClr val="2196A6"/>
                </a:solidFill>
                <a:latin typeface="Calibri" pitchFamily="34" charset="0"/>
                <a:ea typeface="Calibri" pitchFamily="34" charset="-122"/>
                <a:cs typeface="Calibri" pitchFamily="34" charset="-120"/>
              </a:rPr>
              <a:t>Game Stats Sample (nflverse)</a:t>
            </a:r>
            <a:endParaRPr lang="en-US" sz="1300"/>
          </a:p>
        </p:txBody>
      </p:sp>
      <p:graphicFrame>
        <p:nvGraphicFramePr>
          <p:cNvPr id="18" name="Table 0"/>
          <p:cNvGraphicFramePr>
            <a:graphicFrameLocks noGrp="1"/>
          </p:cNvGraphicFramePr>
          <p:nvPr/>
        </p:nvGraphicFramePr>
        <p:xfrm>
          <a:off x="365760" y="2606040"/>
          <a:ext cx="3937000" cy="1280160"/>
        </p:xfrm>
        <a:graphic>
          <a:graphicData uri="http://schemas.openxmlformats.org/drawingml/2006/table">
            <a:tbl>
              <a:tblPr/>
              <a:tblGrid>
                <a:gridCol w="566569">
                  <a:extLst>
                    <a:ext uri="{9D8B030D-6E8A-4147-A177-3AD203B41FA5}">
                      <a16:colId xmlns:a16="http://schemas.microsoft.com/office/drawing/2014/main" val="20000"/>
                    </a:ext>
                  </a:extLst>
                </a:gridCol>
                <a:gridCol w="394447">
                  <a:extLst>
                    <a:ext uri="{9D8B030D-6E8A-4147-A177-3AD203B41FA5}">
                      <a16:colId xmlns:a16="http://schemas.microsoft.com/office/drawing/2014/main" val="20001"/>
                    </a:ext>
                  </a:extLst>
                </a:gridCol>
                <a:gridCol w="502024">
                  <a:extLst>
                    <a:ext uri="{9D8B030D-6E8A-4147-A177-3AD203B41FA5}">
                      <a16:colId xmlns:a16="http://schemas.microsoft.com/office/drawing/2014/main" val="20002"/>
                    </a:ext>
                  </a:extLst>
                </a:gridCol>
                <a:gridCol w="492760">
                  <a:extLst>
                    <a:ext uri="{9D8B030D-6E8A-4147-A177-3AD203B41FA5}">
                      <a16:colId xmlns:a16="http://schemas.microsoft.com/office/drawing/2014/main" val="20003"/>
                    </a:ext>
                  </a:extLst>
                </a:gridCol>
                <a:gridCol w="6350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711200">
                  <a:extLst>
                    <a:ext uri="{9D8B030D-6E8A-4147-A177-3AD203B41FA5}">
                      <a16:colId xmlns:a16="http://schemas.microsoft.com/office/drawing/2014/main" val="20006"/>
                    </a:ext>
                  </a:extLst>
                </a:gridCol>
              </a:tblGrid>
              <a:tr h="256032">
                <a:tc>
                  <a:txBody>
                    <a:bodyPr/>
                    <a:lstStyle/>
                    <a:p>
                      <a:pPr marL="0" indent="0">
                        <a:buNone/>
                      </a:pPr>
                      <a:r>
                        <a:rPr lang="en-US" sz="1000" b="1">
                          <a:solidFill>
                            <a:srgbClr val="FFFFFF"/>
                          </a:solidFill>
                          <a:latin typeface="Calibri" pitchFamily="34" charset="0"/>
                          <a:ea typeface="Calibri" pitchFamily="34" charset="-122"/>
                          <a:cs typeface="Calibri" pitchFamily="34" charset="-120"/>
                        </a:rPr>
                        <a:t>Season</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a:solidFill>
                            <a:srgbClr val="FFFFFF"/>
                          </a:solidFill>
                          <a:latin typeface="Calibri" pitchFamily="34" charset="0"/>
                          <a:ea typeface="Calibri" pitchFamily="34" charset="-122"/>
                          <a:cs typeface="Calibri" pitchFamily="34" charset="-120"/>
                        </a:rPr>
                        <a:t>Wk</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a:solidFill>
                            <a:srgbClr val="FFFFFF"/>
                          </a:solidFill>
                          <a:latin typeface="Calibri" pitchFamily="34" charset="0"/>
                          <a:ea typeface="Calibri" pitchFamily="34" charset="-122"/>
                          <a:cs typeface="Calibri" pitchFamily="34" charset="-120"/>
                        </a:rPr>
                        <a:t>Home</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a:solidFill>
                            <a:srgbClr val="FFFFFF"/>
                          </a:solidFill>
                          <a:latin typeface="Calibri" pitchFamily="34" charset="0"/>
                          <a:ea typeface="Calibri" pitchFamily="34" charset="-122"/>
                          <a:cs typeface="Calibri" pitchFamily="34" charset="-120"/>
                        </a:rPr>
                        <a:t>Away</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a:solidFill>
                            <a:srgbClr val="FFFFFF"/>
                          </a:solidFill>
                          <a:latin typeface="Calibri" pitchFamily="34" charset="0"/>
                          <a:ea typeface="Calibri" pitchFamily="34" charset="-122"/>
                          <a:cs typeface="Calibri" pitchFamily="34" charset="-120"/>
                        </a:rPr>
                        <a:t>H Score</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a:solidFill>
                            <a:srgbClr val="FFFFFF"/>
                          </a:solidFill>
                          <a:latin typeface="Calibri" pitchFamily="34" charset="0"/>
                          <a:ea typeface="Calibri" pitchFamily="34" charset="-122"/>
                          <a:cs typeface="Calibri" pitchFamily="34" charset="-120"/>
                        </a:rPr>
                        <a:t>A Score</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a:solidFill>
                            <a:srgbClr val="FFFFFF"/>
                          </a:solidFill>
                          <a:latin typeface="Calibri" pitchFamily="34" charset="0"/>
                          <a:ea typeface="Calibri" pitchFamily="34" charset="-122"/>
                          <a:cs typeface="Calibri" pitchFamily="34" charset="-120"/>
                        </a:rPr>
                        <a:t>EPA/play</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256032">
                <a:tc>
                  <a:txBody>
                    <a:bodyPr/>
                    <a:lstStyle/>
                    <a:p>
                      <a:pPr marL="0" indent="0">
                        <a:buNone/>
                      </a:pPr>
                      <a:r>
                        <a:rPr lang="en-US" sz="1000">
                          <a:solidFill>
                            <a:srgbClr val="000000"/>
                          </a:solidFill>
                          <a:latin typeface="Calibri" pitchFamily="34" charset="0"/>
                          <a:ea typeface="Calibri" pitchFamily="34" charset="-122"/>
                          <a:cs typeface="Calibri" pitchFamily="34" charset="-120"/>
                        </a:rPr>
                        <a:t>2007</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1</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IND</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NO</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41</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10</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0.055</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000">
                          <a:solidFill>
                            <a:srgbClr val="000000"/>
                          </a:solidFill>
                          <a:latin typeface="Calibri" pitchFamily="34" charset="0"/>
                          <a:ea typeface="Calibri" pitchFamily="34" charset="-122"/>
                          <a:cs typeface="Calibri" pitchFamily="34" charset="-120"/>
                        </a:rPr>
                        <a:t>2007</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1</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BUF</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DEN</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14</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15</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-0.074</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000">
                          <a:solidFill>
                            <a:srgbClr val="000000"/>
                          </a:solidFill>
                          <a:latin typeface="Calibri" pitchFamily="34" charset="0"/>
                          <a:ea typeface="Calibri" pitchFamily="34" charset="-122"/>
                          <a:cs typeface="Calibri" pitchFamily="34" charset="-120"/>
                        </a:rPr>
                        <a:t>2007</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1</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CLE</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PIT</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7</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34</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-0.331</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1000">
                          <a:solidFill>
                            <a:srgbClr val="000000"/>
                          </a:solidFill>
                          <a:latin typeface="Calibri" pitchFamily="34" charset="0"/>
                          <a:ea typeface="Calibri" pitchFamily="34" charset="-122"/>
                          <a:cs typeface="Calibri" pitchFamily="34" charset="-120"/>
                        </a:rPr>
                        <a:t>2007</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1</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GB</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PHI</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16</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13</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-0.082</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9" name="Text 16"/>
          <p:cNvSpPr/>
          <p:nvPr/>
        </p:nvSpPr>
        <p:spPr>
          <a:xfrm>
            <a:off x="4754880" y="2286000"/>
            <a:ext cx="4114800" cy="274320"/>
          </a:xfrm>
          <a:prstGeom prst="rect">
            <a:avLst/>
          </a:prstGeom>
          <a:noFill/>
          <a:ln/>
        </p:spPr>
        <p:txBody>
          <a:bodyPr wrap="square" lIns="91440" tIns="45720" rIns="91440" bIns="45720" rtlCol="0" anchor="ctr"/>
          <a:lstStyle/>
          <a:p>
            <a:r>
              <a:rPr lang="en-US" sz="1300" b="1">
                <a:solidFill>
                  <a:srgbClr val="2196A6"/>
                </a:solidFill>
                <a:latin typeface="Calibri"/>
                <a:ea typeface="Calibri"/>
                <a:cs typeface="Calibri"/>
              </a:rPr>
              <a:t>Market Data Sample (Sportsbook Review)</a:t>
            </a:r>
            <a:endParaRPr lang="en-US" sz="1300">
              <a:latin typeface="Calibri"/>
              <a:ea typeface="Calibri"/>
              <a:cs typeface="Calibri"/>
            </a:endParaRPr>
          </a:p>
        </p:txBody>
      </p:sp>
      <p:graphicFrame>
        <p:nvGraphicFramePr>
          <p:cNvPr id="20" name="Table 1"/>
          <p:cNvGraphicFramePr>
            <a:graphicFrameLocks noGrp="1"/>
          </p:cNvGraphicFramePr>
          <p:nvPr/>
        </p:nvGraphicFramePr>
        <p:xfrm>
          <a:off x="4754880" y="2606040"/>
          <a:ext cx="4165600" cy="1280160"/>
        </p:xfrm>
        <a:graphic>
          <a:graphicData uri="http://schemas.openxmlformats.org/drawingml/2006/table">
            <a:tbl>
              <a:tblPr/>
              <a:tblGrid>
                <a:gridCol w="635000">
                  <a:extLst>
                    <a:ext uri="{9D8B030D-6E8A-4147-A177-3AD203B41FA5}">
                      <a16:colId xmlns:a16="http://schemas.microsoft.com/office/drawing/2014/main" val="20000"/>
                    </a:ext>
                  </a:extLst>
                </a:gridCol>
                <a:gridCol w="975061">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04539">
                  <a:extLst>
                    <a:ext uri="{9D8B030D-6E8A-4147-A177-3AD203B41FA5}">
                      <a16:colId xmlns:a16="http://schemas.microsoft.com/office/drawing/2014/main" val="20003"/>
                    </a:ext>
                  </a:extLst>
                </a:gridCol>
                <a:gridCol w="736600">
                  <a:extLst>
                    <a:ext uri="{9D8B030D-6E8A-4147-A177-3AD203B41FA5}">
                      <a16:colId xmlns:a16="http://schemas.microsoft.com/office/drawing/2014/main" val="20004"/>
                    </a:ext>
                  </a:extLst>
                </a:gridCol>
              </a:tblGrid>
              <a:tr h="256032">
                <a:tc>
                  <a:txBody>
                    <a:bodyPr/>
                    <a:lstStyle/>
                    <a:p>
                      <a:pPr marL="0" indent="0">
                        <a:buNone/>
                      </a:pPr>
                      <a:r>
                        <a:rPr lang="en-US" sz="1000" b="1">
                          <a:solidFill>
                            <a:srgbClr val="FFFFFF"/>
                          </a:solidFill>
                          <a:latin typeface="Calibri" pitchFamily="34" charset="0"/>
                          <a:ea typeface="Calibri" pitchFamily="34" charset="-122"/>
                          <a:cs typeface="Calibri" pitchFamily="34" charset="-120"/>
                        </a:rPr>
                        <a:t>Season</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a:solidFill>
                            <a:srgbClr val="FFFFFF"/>
                          </a:solidFill>
                          <a:latin typeface="Calibri" pitchFamily="34" charset="0"/>
                          <a:ea typeface="Calibri" pitchFamily="34" charset="-122"/>
                          <a:cs typeface="Calibri" pitchFamily="34" charset="-120"/>
                        </a:rPr>
                        <a:t>Home</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a:solidFill>
                            <a:srgbClr val="FFFFFF"/>
                          </a:solidFill>
                          <a:latin typeface="Calibri" pitchFamily="34" charset="0"/>
                          <a:ea typeface="Calibri" pitchFamily="34" charset="-122"/>
                          <a:cs typeface="Calibri" pitchFamily="34" charset="-120"/>
                        </a:rPr>
                        <a:t>Open Spread</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a:solidFill>
                            <a:srgbClr val="FFFFFF"/>
                          </a:solidFill>
                          <a:latin typeface="Calibri" pitchFamily="34" charset="0"/>
                          <a:ea typeface="Calibri" pitchFamily="34" charset="-122"/>
                          <a:cs typeface="Calibri" pitchFamily="34" charset="-120"/>
                        </a:rPr>
                        <a:t>Close Spread</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tc>
                  <a:txBody>
                    <a:bodyPr/>
                    <a:lstStyle/>
                    <a:p>
                      <a:pPr marL="0" indent="0">
                        <a:buNone/>
                      </a:pPr>
                      <a:r>
                        <a:rPr lang="en-US" sz="1000" b="1">
                          <a:solidFill>
                            <a:srgbClr val="FFFFFF"/>
                          </a:solidFill>
                          <a:latin typeface="Calibri" pitchFamily="34" charset="0"/>
                          <a:ea typeface="Calibri" pitchFamily="34" charset="-122"/>
                          <a:cs typeface="Calibri" pitchFamily="34" charset="-120"/>
                        </a:rPr>
                        <a:t>ML Home</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256032">
                <a:tc>
                  <a:txBody>
                    <a:bodyPr/>
                    <a:lstStyle/>
                    <a:p>
                      <a:pPr marL="0" indent="0">
                        <a:buNone/>
                      </a:pPr>
                      <a:r>
                        <a:rPr lang="en-US" sz="1000">
                          <a:solidFill>
                            <a:srgbClr val="000000"/>
                          </a:solidFill>
                          <a:latin typeface="Calibri" pitchFamily="34" charset="0"/>
                          <a:ea typeface="Calibri" pitchFamily="34" charset="-122"/>
                          <a:cs typeface="Calibri" pitchFamily="34" charset="-120"/>
                        </a:rPr>
                        <a:t>2007-08</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Indianapolis</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5.5</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5.5</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-240</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000">
                          <a:solidFill>
                            <a:srgbClr val="000000"/>
                          </a:solidFill>
                          <a:latin typeface="Calibri" pitchFamily="34" charset="0"/>
                          <a:ea typeface="Calibri" pitchFamily="34" charset="-122"/>
                          <a:cs typeface="Calibri" pitchFamily="34" charset="-120"/>
                        </a:rPr>
                        <a:t>2007-08</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Houston</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38.5</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3.0</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-200</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1000">
                          <a:solidFill>
                            <a:srgbClr val="000000"/>
                          </a:solidFill>
                          <a:latin typeface="Calibri" pitchFamily="34" charset="0"/>
                          <a:ea typeface="Calibri" pitchFamily="34" charset="-122"/>
                          <a:cs typeface="Calibri" pitchFamily="34" charset="-120"/>
                        </a:rPr>
                        <a:t>2007-08</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Buffalo</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3.0</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3.0</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150</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buNone/>
                      </a:pPr>
                      <a:r>
                        <a:rPr lang="en-US" sz="1000">
                          <a:solidFill>
                            <a:srgbClr val="000000"/>
                          </a:solidFill>
                          <a:latin typeface="Calibri" pitchFamily="34" charset="0"/>
                          <a:ea typeface="Calibri" pitchFamily="34" charset="-122"/>
                          <a:cs typeface="Calibri" pitchFamily="34" charset="-120"/>
                        </a:rPr>
                        <a:t>2007-08</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Cleveland</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4.5</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5.0</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00">
                          <a:solidFill>
                            <a:srgbClr val="000000"/>
                          </a:solidFill>
                          <a:latin typeface="Calibri" pitchFamily="34" charset="0"/>
                          <a:ea typeface="Calibri" pitchFamily="34" charset="-122"/>
                          <a:cs typeface="Calibri" pitchFamily="34" charset="-120"/>
                        </a:rPr>
                        <a:t>195</a:t>
                      </a:r>
                      <a:endParaRPr lang="en-US" sz="100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1" name="Shape 17"/>
          <p:cNvSpPr/>
          <p:nvPr/>
        </p:nvSpPr>
        <p:spPr>
          <a:xfrm>
            <a:off x="274320" y="4148512"/>
            <a:ext cx="8595360" cy="548640"/>
          </a:xfrm>
          <a:prstGeom prst="rect">
            <a:avLst/>
          </a:prstGeom>
          <a:solidFill>
            <a:srgbClr val="EBF4FA"/>
          </a:solidFill>
          <a:ln w="12700">
            <a:solidFill>
              <a:srgbClr val="2196A6"/>
            </a:solidFill>
            <a:prstDash val="solid"/>
          </a:ln>
        </p:spPr>
        <p:txBody>
          <a:bodyPr/>
          <a:lstStyle/>
          <a:p>
            <a:endParaRPr lang="en-US"/>
          </a:p>
        </p:txBody>
      </p:sp>
      <p:sp>
        <p:nvSpPr>
          <p:cNvPr id="22" name="Text 18"/>
          <p:cNvSpPr/>
          <p:nvPr/>
        </p:nvSpPr>
        <p:spPr>
          <a:xfrm>
            <a:off x="411480" y="4230808"/>
            <a:ext cx="8321040" cy="365760"/>
          </a:xfrm>
          <a:prstGeom prst="rect">
            <a:avLst/>
          </a:prstGeom>
          <a:noFill/>
          <a:ln/>
        </p:spPr>
        <p:txBody>
          <a:bodyPr wrap="square" rtlCol="0" anchor="ctr"/>
          <a:lstStyle/>
          <a:p>
            <a:pPr marL="0" indent="0">
              <a:buNone/>
            </a:pPr>
            <a:r>
              <a:rPr lang="en-US" sz="1200">
                <a:solidFill>
                  <a:srgbClr val="1B3A5C"/>
                </a:solidFill>
                <a:latin typeface="Calibri" pitchFamily="34" charset="0"/>
                <a:ea typeface="Calibri" pitchFamily="34" charset="-122"/>
                <a:cs typeface="Calibri" pitchFamily="34" charset="-120"/>
              </a:rPr>
              <a:t>Datasets joined by season + matchup (home &amp; away teams)  ·  6 market data points per game including opening and closing spreads</a:t>
            </a:r>
            <a:endParaRPr lang="en-US" sz="1200"/>
          </a:p>
        </p:txBody>
      </p:sp>
    </p:spTree>
    <p:extLst>
      <p:ext uri="{BB962C8B-B14F-4D97-AF65-F5344CB8AC3E}">
        <p14:creationId xmlns:p14="http://schemas.microsoft.com/office/powerpoint/2010/main" val="347151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1F4">
            <a:alpha val="100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B406A1-30C9-354D-A28D-E035912E372E}"/>
              </a:ext>
            </a:extLst>
          </p:cNvPr>
          <p:cNvSpPr/>
          <p:nvPr/>
        </p:nvSpPr>
        <p:spPr>
          <a:xfrm>
            <a:off x="0" y="0"/>
            <a:ext cx="9144000" cy="960119"/>
          </a:xfrm>
          <a:prstGeom prst="rect">
            <a:avLst/>
          </a:prstGeom>
          <a:solidFill>
            <a:srgbClr val="0D1B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5DC80ADD-8BC3-4940-B945-17F51E58E2A3}"/>
              </a:ext>
            </a:extLst>
          </p:cNvPr>
          <p:cNvSpPr/>
          <p:nvPr/>
        </p:nvSpPr>
        <p:spPr>
          <a:xfrm>
            <a:off x="0" y="960119"/>
            <a:ext cx="9144000" cy="64008"/>
          </a:xfrm>
          <a:prstGeom prst="rect">
            <a:avLst/>
          </a:prstGeom>
          <a:solidFill>
            <a:srgbClr val="E8A0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6DB40B81-D94C-C442-A99E-AAE08ABDCC82}"/>
              </a:ext>
            </a:extLst>
          </p:cNvPr>
          <p:cNvSpPr txBox="1"/>
          <p:nvPr/>
        </p:nvSpPr>
        <p:spPr>
          <a:xfrm>
            <a:off x="365760" y="137160"/>
            <a:ext cx="8412480" cy="685800"/>
          </a:xfrm>
          <a:prstGeom prst="rect">
            <a:avLst/>
          </a:prstGeom>
          <a:noFill/>
        </p:spPr>
        <p:txBody>
          <a:bodyPr vertOverflow="overflow" vert="horz" wrap="square" rtlCol="0" anchor="ctr" anchorCtr="0">
            <a:spAutoFit/>
          </a:bodyPr>
          <a:lstStyle/>
          <a:p>
            <a:pPr algn="l"/>
            <a:r>
              <a:rPr lang="en-US" sz="2800" b="1">
                <a:solidFill>
                  <a:srgbClr val="FFFFFF"/>
                </a:solidFill>
                <a:latin typeface="Calibri"/>
                <a:cs typeface="Calibri"/>
              </a:rPr>
              <a:t>Expected Challenges</a:t>
            </a:r>
          </a:p>
        </p:txBody>
      </p:sp>
      <p:sp>
        <p:nvSpPr>
          <p:cNvPr id="5" name="TextBox 4">
            <a:extLst>
              <a:ext uri="{FF2B5EF4-FFF2-40B4-BE49-F238E27FC236}">
                <a16:creationId xmlns:a16="http://schemas.microsoft.com/office/drawing/2014/main" id="{DE759B5F-7E0F-3849-8B83-2CADA7A136C7}"/>
              </a:ext>
            </a:extLst>
          </p:cNvPr>
          <p:cNvSpPr txBox="1"/>
          <p:nvPr/>
        </p:nvSpPr>
        <p:spPr>
          <a:xfrm>
            <a:off x="365760" y="1168400"/>
            <a:ext cx="8412480" cy="292388"/>
          </a:xfrm>
          <a:prstGeom prst="rect">
            <a:avLst/>
          </a:prstGeom>
          <a:noFill/>
        </p:spPr>
        <p:txBody>
          <a:bodyPr vertOverflow="overflow" vert="horz" wrap="square" lIns="91440" tIns="45720" rIns="91440" bIns="45720" rtlCol="0" anchor="t">
            <a:spAutoFit/>
          </a:bodyPr>
          <a:lstStyle/>
          <a:p>
            <a:r>
              <a:rPr lang="en-US" sz="1300" i="1">
                <a:solidFill>
                  <a:srgbClr val="1B3A5C"/>
                </a:solidFill>
                <a:latin typeface="Calibri"/>
                <a:cs typeface="Calibri"/>
              </a:rPr>
              <a:t>Four anticipated risks and our mitigation strategy for each</a:t>
            </a:r>
          </a:p>
        </p:txBody>
      </p:sp>
      <p:sp>
        <p:nvSpPr>
          <p:cNvPr id="10" name="Rectangle 9">
            <a:extLst>
              <a:ext uri="{FF2B5EF4-FFF2-40B4-BE49-F238E27FC236}">
                <a16:creationId xmlns:a16="http://schemas.microsoft.com/office/drawing/2014/main" id="{B677CB2C-17DE-EF44-8B2A-FDB801DC5AB6}"/>
              </a:ext>
            </a:extLst>
          </p:cNvPr>
          <p:cNvSpPr/>
          <p:nvPr/>
        </p:nvSpPr>
        <p:spPr>
          <a:xfrm>
            <a:off x="254000" y="1571594"/>
            <a:ext cx="4229100" cy="1574800"/>
          </a:xfrm>
          <a:prstGeom prst="rect">
            <a:avLst/>
          </a:prstGeom>
          <a:solidFill>
            <a:srgbClr val="FFFFFF"/>
          </a:solidFill>
          <a:ln w="9525" cap="flat" cmpd="sng" algn="ctr">
            <a:solidFill>
              <a:srgbClr val="C9D2D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Oval 10">
            <a:extLst>
              <a:ext uri="{FF2B5EF4-FFF2-40B4-BE49-F238E27FC236}">
                <a16:creationId xmlns:a16="http://schemas.microsoft.com/office/drawing/2014/main" id="{F7725E5C-A53C-7341-87B8-FAD7902988CB}"/>
              </a:ext>
            </a:extLst>
          </p:cNvPr>
          <p:cNvSpPr/>
          <p:nvPr/>
        </p:nvSpPr>
        <p:spPr>
          <a:xfrm>
            <a:off x="406400" y="1723994"/>
            <a:ext cx="381000" cy="381000"/>
          </a:xfrm>
          <a:prstGeom prst="ellipse">
            <a:avLst/>
          </a:prstGeom>
          <a:solidFill>
            <a:srgbClr val="2196A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lIns="91440" tIns="45720" rIns="91440" bIns="45720" rtlCol="0" anchor="ctr" anchorCtr="0">
            <a:noAutofit/>
          </a:bodyPr>
          <a:lstStyle/>
          <a:p>
            <a:pPr algn="l"/>
            <a:r>
              <a:rPr lang="en-US" sz="1400" b="1">
                <a:solidFill>
                  <a:srgbClr val="FFFFFF"/>
                </a:solidFill>
                <a:latin typeface="Calibri"/>
                <a:ea typeface="Calibri"/>
                <a:cs typeface="Calibri"/>
              </a:rPr>
              <a:t>1</a:t>
            </a:r>
          </a:p>
        </p:txBody>
      </p:sp>
      <p:sp>
        <p:nvSpPr>
          <p:cNvPr id="12" name="TextBox 11">
            <a:extLst>
              <a:ext uri="{FF2B5EF4-FFF2-40B4-BE49-F238E27FC236}">
                <a16:creationId xmlns:a16="http://schemas.microsoft.com/office/drawing/2014/main" id="{44123FB3-D08B-1F44-A3EB-A822D7E2BAD2}"/>
              </a:ext>
            </a:extLst>
          </p:cNvPr>
          <p:cNvSpPr txBox="1"/>
          <p:nvPr/>
        </p:nvSpPr>
        <p:spPr>
          <a:xfrm>
            <a:off x="889000" y="1714439"/>
            <a:ext cx="3263900" cy="400110"/>
          </a:xfrm>
          <a:prstGeom prst="rect">
            <a:avLst/>
          </a:prstGeom>
          <a:noFill/>
        </p:spPr>
        <p:txBody>
          <a:bodyPr vertOverflow="overflow" vert="horz" wrap="square" rtlCol="0" anchor="ctr" anchorCtr="0">
            <a:spAutoFit/>
          </a:bodyPr>
          <a:lstStyle/>
          <a:p>
            <a:pPr algn="l"/>
            <a:r>
              <a:rPr lang="en-US" sz="2000" b="1">
                <a:solidFill>
                  <a:srgbClr val="0D1B2A"/>
                </a:solidFill>
                <a:latin typeface="Calibri"/>
                <a:cs typeface="Calibri"/>
              </a:rPr>
              <a:t>Leakage enforcement</a:t>
            </a:r>
          </a:p>
        </p:txBody>
      </p:sp>
      <p:sp>
        <p:nvSpPr>
          <p:cNvPr id="13" name="TextBox 12">
            <a:extLst>
              <a:ext uri="{FF2B5EF4-FFF2-40B4-BE49-F238E27FC236}">
                <a16:creationId xmlns:a16="http://schemas.microsoft.com/office/drawing/2014/main" id="{FC5785C7-63EB-1742-91EA-4C387ED65397}"/>
              </a:ext>
            </a:extLst>
          </p:cNvPr>
          <p:cNvSpPr txBox="1"/>
          <p:nvPr/>
        </p:nvSpPr>
        <p:spPr>
          <a:xfrm>
            <a:off x="406400" y="2206594"/>
            <a:ext cx="3924300" cy="553998"/>
          </a:xfrm>
          <a:prstGeom prst="rect">
            <a:avLst/>
          </a:prstGeom>
          <a:noFill/>
        </p:spPr>
        <p:txBody>
          <a:bodyPr vertOverflow="overflow" vert="horz" wrap="square" rtlCol="0" anchor="t">
            <a:spAutoFit/>
          </a:bodyPr>
          <a:lstStyle/>
          <a:p>
            <a:pPr algn="l"/>
            <a:r>
              <a:rPr lang="en-US" sz="1500">
                <a:solidFill>
                  <a:srgbClr val="1B3A5C"/>
                </a:solidFill>
                <a:latin typeface="Calibri"/>
                <a:cs typeface="Calibri"/>
              </a:rPr>
              <a:t>Rolling window must use only games strictly prior to game G; week 1 has no prior data.</a:t>
            </a:r>
          </a:p>
        </p:txBody>
      </p:sp>
      <p:sp>
        <p:nvSpPr>
          <p:cNvPr id="14" name="Rectangle 13">
            <a:extLst>
              <a:ext uri="{FF2B5EF4-FFF2-40B4-BE49-F238E27FC236}">
                <a16:creationId xmlns:a16="http://schemas.microsoft.com/office/drawing/2014/main" id="{2791D66D-703C-0E4C-8F96-C2CF8CE3A7C2}"/>
              </a:ext>
            </a:extLst>
          </p:cNvPr>
          <p:cNvSpPr/>
          <p:nvPr/>
        </p:nvSpPr>
        <p:spPr>
          <a:xfrm>
            <a:off x="4660900" y="1571594"/>
            <a:ext cx="4229100" cy="1574800"/>
          </a:xfrm>
          <a:prstGeom prst="rect">
            <a:avLst/>
          </a:prstGeom>
          <a:solidFill>
            <a:srgbClr val="FFFFFF"/>
          </a:solidFill>
          <a:ln w="9525" cap="flat" cmpd="sng" algn="ctr">
            <a:solidFill>
              <a:srgbClr val="C9D2D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Oval 14">
            <a:extLst>
              <a:ext uri="{FF2B5EF4-FFF2-40B4-BE49-F238E27FC236}">
                <a16:creationId xmlns:a16="http://schemas.microsoft.com/office/drawing/2014/main" id="{0817A1F7-BB68-C74A-9E22-40C17E5C346B}"/>
              </a:ext>
            </a:extLst>
          </p:cNvPr>
          <p:cNvSpPr/>
          <p:nvPr/>
        </p:nvSpPr>
        <p:spPr>
          <a:xfrm>
            <a:off x="4813300" y="1723994"/>
            <a:ext cx="381000" cy="381000"/>
          </a:xfrm>
          <a:prstGeom prst="ellipse">
            <a:avLst/>
          </a:prstGeom>
          <a:solidFill>
            <a:srgbClr val="2196A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lIns="91440" tIns="45720" rIns="91440" bIns="45720" rtlCol="0" anchor="ctr" anchorCtr="0">
            <a:noAutofit/>
          </a:bodyPr>
          <a:lstStyle/>
          <a:p>
            <a:pPr algn="l"/>
            <a:r>
              <a:rPr lang="en-US" sz="1400" b="1">
                <a:solidFill>
                  <a:srgbClr val="FFFFFF"/>
                </a:solidFill>
                <a:latin typeface="Calibri"/>
                <a:cs typeface="Calibri"/>
              </a:rPr>
              <a:t>2</a:t>
            </a:r>
            <a:endParaRPr lang="en-US" sz="1400" b="1">
              <a:solidFill>
                <a:srgbClr val="FFFFFF"/>
              </a:solidFill>
              <a:latin typeface="Calibri"/>
              <a:ea typeface="Calibri"/>
              <a:cs typeface="Calibri"/>
            </a:endParaRPr>
          </a:p>
        </p:txBody>
      </p:sp>
      <p:sp>
        <p:nvSpPr>
          <p:cNvPr id="16" name="TextBox 15">
            <a:extLst>
              <a:ext uri="{FF2B5EF4-FFF2-40B4-BE49-F238E27FC236}">
                <a16:creationId xmlns:a16="http://schemas.microsoft.com/office/drawing/2014/main" id="{13EF7EE2-C77E-C946-AC4A-2551FE57E549}"/>
              </a:ext>
            </a:extLst>
          </p:cNvPr>
          <p:cNvSpPr txBox="1"/>
          <p:nvPr/>
        </p:nvSpPr>
        <p:spPr>
          <a:xfrm>
            <a:off x="5295900" y="1714439"/>
            <a:ext cx="3517900" cy="400110"/>
          </a:xfrm>
          <a:prstGeom prst="rect">
            <a:avLst/>
          </a:prstGeom>
          <a:noFill/>
        </p:spPr>
        <p:txBody>
          <a:bodyPr vertOverflow="overflow" vert="horz" wrap="square" rtlCol="0" anchor="ctr" anchorCtr="0">
            <a:spAutoFit/>
          </a:bodyPr>
          <a:lstStyle/>
          <a:p>
            <a:pPr algn="l"/>
            <a:r>
              <a:rPr lang="en-US" sz="2000" b="1">
                <a:solidFill>
                  <a:srgbClr val="0D1B2A"/>
                </a:solidFill>
                <a:latin typeface="Calibri"/>
                <a:cs typeface="Calibri"/>
              </a:rPr>
              <a:t>BN structure sensitivity</a:t>
            </a:r>
          </a:p>
        </p:txBody>
      </p:sp>
      <p:sp>
        <p:nvSpPr>
          <p:cNvPr id="17" name="TextBox 16">
            <a:extLst>
              <a:ext uri="{FF2B5EF4-FFF2-40B4-BE49-F238E27FC236}">
                <a16:creationId xmlns:a16="http://schemas.microsoft.com/office/drawing/2014/main" id="{85C5B2A6-DF9A-4D48-9EE4-6DAD038896D6}"/>
              </a:ext>
            </a:extLst>
          </p:cNvPr>
          <p:cNvSpPr txBox="1"/>
          <p:nvPr/>
        </p:nvSpPr>
        <p:spPr>
          <a:xfrm>
            <a:off x="4813300" y="2206594"/>
            <a:ext cx="3924300" cy="784830"/>
          </a:xfrm>
          <a:prstGeom prst="rect">
            <a:avLst/>
          </a:prstGeom>
          <a:noFill/>
        </p:spPr>
        <p:txBody>
          <a:bodyPr vertOverflow="overflow" vert="horz" wrap="square" rtlCol="0" anchor="t">
            <a:spAutoFit/>
          </a:bodyPr>
          <a:lstStyle/>
          <a:p>
            <a:pPr algn="l"/>
            <a:r>
              <a:rPr lang="en-US" sz="1500">
                <a:solidFill>
                  <a:srgbClr val="1B3A5C"/>
                </a:solidFill>
                <a:latin typeface="Calibri"/>
                <a:cs typeface="Calibri"/>
              </a:rPr>
              <a:t>Hill Climbing can stick in local optima; mitigated by initializing from a domain-informed DAG and running multiple restarts.</a:t>
            </a:r>
          </a:p>
        </p:txBody>
      </p:sp>
      <p:sp>
        <p:nvSpPr>
          <p:cNvPr id="18" name="Rectangle 17">
            <a:extLst>
              <a:ext uri="{FF2B5EF4-FFF2-40B4-BE49-F238E27FC236}">
                <a16:creationId xmlns:a16="http://schemas.microsoft.com/office/drawing/2014/main" id="{4B982333-3FD2-B548-BD66-5A0375813C3F}"/>
              </a:ext>
            </a:extLst>
          </p:cNvPr>
          <p:cNvSpPr/>
          <p:nvPr/>
        </p:nvSpPr>
        <p:spPr>
          <a:xfrm>
            <a:off x="254000" y="3263900"/>
            <a:ext cx="4229100" cy="1574800"/>
          </a:xfrm>
          <a:prstGeom prst="rect">
            <a:avLst/>
          </a:prstGeom>
          <a:solidFill>
            <a:srgbClr val="FFFFFF"/>
          </a:solidFill>
          <a:ln w="9525" cap="flat" cmpd="sng" algn="ctr">
            <a:solidFill>
              <a:srgbClr val="C9D2D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Oval 18">
            <a:extLst>
              <a:ext uri="{FF2B5EF4-FFF2-40B4-BE49-F238E27FC236}">
                <a16:creationId xmlns:a16="http://schemas.microsoft.com/office/drawing/2014/main" id="{DB764673-2E1F-F043-9254-CA997E6A51F5}"/>
              </a:ext>
            </a:extLst>
          </p:cNvPr>
          <p:cNvSpPr/>
          <p:nvPr/>
        </p:nvSpPr>
        <p:spPr>
          <a:xfrm>
            <a:off x="406400" y="3416300"/>
            <a:ext cx="381000" cy="381000"/>
          </a:xfrm>
          <a:prstGeom prst="ellipse">
            <a:avLst/>
          </a:prstGeom>
          <a:solidFill>
            <a:srgbClr val="2196A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lIns="91440" tIns="45720" rIns="91440" bIns="45720" rtlCol="0" anchor="ctr" anchorCtr="0">
            <a:noAutofit/>
          </a:bodyPr>
          <a:lstStyle/>
          <a:p>
            <a:pPr algn="l"/>
            <a:r>
              <a:rPr lang="en-US" sz="1400" b="1">
                <a:solidFill>
                  <a:srgbClr val="FFFFFF"/>
                </a:solidFill>
                <a:latin typeface="Calibri"/>
                <a:ea typeface="Calibri"/>
                <a:cs typeface="Calibri"/>
              </a:rPr>
              <a:t>3</a:t>
            </a:r>
          </a:p>
        </p:txBody>
      </p:sp>
      <p:sp>
        <p:nvSpPr>
          <p:cNvPr id="20" name="TextBox 19">
            <a:extLst>
              <a:ext uri="{FF2B5EF4-FFF2-40B4-BE49-F238E27FC236}">
                <a16:creationId xmlns:a16="http://schemas.microsoft.com/office/drawing/2014/main" id="{9784ABDE-D8A4-714F-A89D-32F54387C019}"/>
              </a:ext>
            </a:extLst>
          </p:cNvPr>
          <p:cNvSpPr txBox="1"/>
          <p:nvPr/>
        </p:nvSpPr>
        <p:spPr>
          <a:xfrm>
            <a:off x="889000" y="3406745"/>
            <a:ext cx="3263900" cy="400110"/>
          </a:xfrm>
          <a:prstGeom prst="rect">
            <a:avLst/>
          </a:prstGeom>
          <a:noFill/>
        </p:spPr>
        <p:txBody>
          <a:bodyPr vertOverflow="overflow" vert="horz" wrap="square" rtlCol="0" anchor="ctr" anchorCtr="0">
            <a:spAutoFit/>
          </a:bodyPr>
          <a:lstStyle/>
          <a:p>
            <a:pPr algn="l"/>
            <a:r>
              <a:rPr lang="en-US" sz="2000" b="1">
                <a:solidFill>
                  <a:srgbClr val="0D1B2A"/>
                </a:solidFill>
                <a:latin typeface="Calibri"/>
                <a:cs typeface="Calibri"/>
              </a:rPr>
              <a:t>Class imbalance</a:t>
            </a:r>
          </a:p>
        </p:txBody>
      </p:sp>
      <p:sp>
        <p:nvSpPr>
          <p:cNvPr id="21" name="TextBox 20">
            <a:extLst>
              <a:ext uri="{FF2B5EF4-FFF2-40B4-BE49-F238E27FC236}">
                <a16:creationId xmlns:a16="http://schemas.microsoft.com/office/drawing/2014/main" id="{E7759A40-5EDD-5544-8EEB-19EDBBB06A2D}"/>
              </a:ext>
            </a:extLst>
          </p:cNvPr>
          <p:cNvSpPr txBox="1"/>
          <p:nvPr/>
        </p:nvSpPr>
        <p:spPr>
          <a:xfrm>
            <a:off x="406400" y="3898900"/>
            <a:ext cx="3924300" cy="553998"/>
          </a:xfrm>
          <a:prstGeom prst="rect">
            <a:avLst/>
          </a:prstGeom>
          <a:noFill/>
        </p:spPr>
        <p:txBody>
          <a:bodyPr vertOverflow="overflow" vert="horz" wrap="square" rtlCol="0" anchor="t">
            <a:spAutoFit/>
          </a:bodyPr>
          <a:lstStyle/>
          <a:p>
            <a:pPr algn="l"/>
            <a:r>
              <a:rPr lang="en-US" sz="1500">
                <a:solidFill>
                  <a:srgbClr val="1B3A5C"/>
                </a:solidFill>
                <a:latin typeface="Calibri"/>
                <a:cs typeface="Calibri"/>
              </a:rPr>
              <a:t>Push (ATS tie) is a rare event; standard accuracy can mislead — use balanced metrics.</a:t>
            </a:r>
          </a:p>
        </p:txBody>
      </p:sp>
      <p:sp>
        <p:nvSpPr>
          <p:cNvPr id="22" name="Rectangle 21">
            <a:extLst>
              <a:ext uri="{FF2B5EF4-FFF2-40B4-BE49-F238E27FC236}">
                <a16:creationId xmlns:a16="http://schemas.microsoft.com/office/drawing/2014/main" id="{4BA24175-3A69-D646-B0FE-694329FA099C}"/>
              </a:ext>
            </a:extLst>
          </p:cNvPr>
          <p:cNvSpPr/>
          <p:nvPr/>
        </p:nvSpPr>
        <p:spPr>
          <a:xfrm>
            <a:off x="4660900" y="3263900"/>
            <a:ext cx="4229100" cy="1574800"/>
          </a:xfrm>
          <a:prstGeom prst="rect">
            <a:avLst/>
          </a:prstGeom>
          <a:solidFill>
            <a:srgbClr val="FFFFFF"/>
          </a:solidFill>
          <a:ln w="9525" cap="flat" cmpd="sng" algn="ctr">
            <a:solidFill>
              <a:srgbClr val="C9D2D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Oval 22">
            <a:extLst>
              <a:ext uri="{FF2B5EF4-FFF2-40B4-BE49-F238E27FC236}">
                <a16:creationId xmlns:a16="http://schemas.microsoft.com/office/drawing/2014/main" id="{C496E214-E228-AF41-83E1-4B8B06CEB35C}"/>
              </a:ext>
            </a:extLst>
          </p:cNvPr>
          <p:cNvSpPr/>
          <p:nvPr/>
        </p:nvSpPr>
        <p:spPr>
          <a:xfrm>
            <a:off x="4813300" y="3416300"/>
            <a:ext cx="381000" cy="381000"/>
          </a:xfrm>
          <a:prstGeom prst="ellipse">
            <a:avLst/>
          </a:prstGeom>
          <a:solidFill>
            <a:srgbClr val="2196A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lIns="91440" tIns="45720" rIns="91440" bIns="45720" rtlCol="0" anchor="ctr" anchorCtr="0">
            <a:noAutofit/>
          </a:bodyPr>
          <a:lstStyle/>
          <a:p>
            <a:pPr algn="l"/>
            <a:r>
              <a:rPr lang="en-US" sz="1400" b="1">
                <a:solidFill>
                  <a:srgbClr val="FFFFFF"/>
                </a:solidFill>
                <a:latin typeface="Calibri"/>
                <a:ea typeface="Calibri"/>
                <a:cs typeface="Calibri"/>
              </a:rPr>
              <a:t>4</a:t>
            </a:r>
          </a:p>
        </p:txBody>
      </p:sp>
      <p:sp>
        <p:nvSpPr>
          <p:cNvPr id="24" name="TextBox 23">
            <a:extLst>
              <a:ext uri="{FF2B5EF4-FFF2-40B4-BE49-F238E27FC236}">
                <a16:creationId xmlns:a16="http://schemas.microsoft.com/office/drawing/2014/main" id="{D7C03919-51FF-5C44-B292-298CFBD622D2}"/>
              </a:ext>
            </a:extLst>
          </p:cNvPr>
          <p:cNvSpPr txBox="1"/>
          <p:nvPr/>
        </p:nvSpPr>
        <p:spPr>
          <a:xfrm>
            <a:off x="5295900" y="3406745"/>
            <a:ext cx="3517900" cy="400110"/>
          </a:xfrm>
          <a:prstGeom prst="rect">
            <a:avLst/>
          </a:prstGeom>
          <a:noFill/>
        </p:spPr>
        <p:txBody>
          <a:bodyPr vertOverflow="overflow" vert="horz" wrap="square" rtlCol="0" anchor="ctr" anchorCtr="0">
            <a:spAutoFit/>
          </a:bodyPr>
          <a:lstStyle/>
          <a:p>
            <a:pPr algn="l"/>
            <a:r>
              <a:rPr lang="en-US" sz="2000" b="1">
                <a:solidFill>
                  <a:srgbClr val="0D1B2A"/>
                </a:solidFill>
                <a:latin typeface="Calibri"/>
                <a:cs typeface="Calibri"/>
              </a:rPr>
              <a:t>Continuous features</a:t>
            </a:r>
          </a:p>
        </p:txBody>
      </p:sp>
      <p:sp>
        <p:nvSpPr>
          <p:cNvPr id="25" name="TextBox 24">
            <a:extLst>
              <a:ext uri="{FF2B5EF4-FFF2-40B4-BE49-F238E27FC236}">
                <a16:creationId xmlns:a16="http://schemas.microsoft.com/office/drawing/2014/main" id="{D13564B4-90D4-F54F-95C5-73613AD309E1}"/>
              </a:ext>
            </a:extLst>
          </p:cNvPr>
          <p:cNvSpPr txBox="1"/>
          <p:nvPr/>
        </p:nvSpPr>
        <p:spPr>
          <a:xfrm>
            <a:off x="4813300" y="3898900"/>
            <a:ext cx="3924300" cy="553998"/>
          </a:xfrm>
          <a:prstGeom prst="rect">
            <a:avLst/>
          </a:prstGeom>
          <a:noFill/>
        </p:spPr>
        <p:txBody>
          <a:bodyPr vertOverflow="overflow" vert="horz" wrap="square" rtlCol="0" anchor="t">
            <a:spAutoFit/>
          </a:bodyPr>
          <a:lstStyle/>
          <a:p>
            <a:pPr algn="l"/>
            <a:r>
              <a:rPr lang="en-US" sz="1500">
                <a:solidFill>
                  <a:srgbClr val="1B3A5C"/>
                </a:solidFill>
                <a:latin typeface="Calibri"/>
                <a:cs typeface="Calibri"/>
              </a:rPr>
              <a:t>Standard BNs require discretization; Gaussian NB handles this natively, full BN needs care.</a:t>
            </a:r>
          </a:p>
        </p:txBody>
      </p:sp>
    </p:spTree>
    <p:extLst>
      <p:ext uri="{BB962C8B-B14F-4D97-AF65-F5344CB8AC3E}">
        <p14:creationId xmlns:p14="http://schemas.microsoft.com/office/powerpoint/2010/main" val="2144407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A020"/>
          </a:solidFill>
          <a:ln w="12700">
            <a:solidFill>
              <a:srgbClr val="E8A020"/>
            </a:solidFill>
            <a:prstDash val="solid"/>
          </a:ln>
        </p:spPr>
        <p:txBody>
          <a:bodyPr/>
          <a:lstStyle/>
          <a:p>
            <a:endParaRPr lang="en-US"/>
          </a:p>
        </p:txBody>
      </p:sp>
      <p:sp>
        <p:nvSpPr>
          <p:cNvPr id="3" name="Text 1"/>
          <p:cNvSpPr/>
          <p:nvPr/>
        </p:nvSpPr>
        <p:spPr>
          <a:xfrm>
            <a:off x="411480" y="411480"/>
            <a:ext cx="8412480" cy="502920"/>
          </a:xfrm>
          <a:prstGeom prst="rect">
            <a:avLst/>
          </a:prstGeom>
          <a:noFill/>
          <a:ln/>
        </p:spPr>
        <p:txBody>
          <a:bodyPr wrap="square" lIns="91440" tIns="45720" rIns="91440" bIns="45720" rtlCol="0" anchor="ctr"/>
          <a:lstStyle/>
          <a:p>
            <a:r>
              <a:rPr lang="en-US" sz="3200" b="1">
                <a:solidFill>
                  <a:srgbClr val="FFFFFF"/>
                </a:solidFill>
                <a:latin typeface="Calibri"/>
                <a:ea typeface="Calibri"/>
                <a:cs typeface="Calibri"/>
              </a:rPr>
              <a:t>Questions &amp; Discussion</a:t>
            </a:r>
            <a:endParaRPr lang="en-US"/>
          </a:p>
        </p:txBody>
      </p:sp>
      <p:sp>
        <p:nvSpPr>
          <p:cNvPr id="4" name="Shape 2"/>
          <p:cNvSpPr/>
          <p:nvPr/>
        </p:nvSpPr>
        <p:spPr>
          <a:xfrm>
            <a:off x="411480" y="960120"/>
            <a:ext cx="8412480" cy="45720"/>
          </a:xfrm>
          <a:prstGeom prst="rect">
            <a:avLst/>
          </a:prstGeom>
          <a:solidFill>
            <a:srgbClr val="E8A020"/>
          </a:solidFill>
          <a:ln w="12700">
            <a:solidFill>
              <a:srgbClr val="E8A020"/>
            </a:solidFill>
            <a:prstDash val="solid"/>
          </a:ln>
        </p:spPr>
        <p:txBody>
          <a:bodyPr/>
          <a:lstStyle/>
          <a:p>
            <a:endParaRPr lang="en-US"/>
          </a:p>
        </p:txBody>
      </p:sp>
      <p:sp>
        <p:nvSpPr>
          <p:cNvPr id="17" name="Shape 15"/>
          <p:cNvSpPr/>
          <p:nvPr/>
        </p:nvSpPr>
        <p:spPr>
          <a:xfrm>
            <a:off x="411480" y="4754880"/>
            <a:ext cx="8412480" cy="36576"/>
          </a:xfrm>
          <a:prstGeom prst="rect">
            <a:avLst/>
          </a:prstGeom>
          <a:solidFill>
            <a:srgbClr val="2196A6"/>
          </a:solidFill>
          <a:ln w="12700">
            <a:solidFill>
              <a:srgbClr val="2196A6"/>
            </a:solidFill>
            <a:prstDash val="solid"/>
          </a:ln>
        </p:spPr>
        <p:txBody>
          <a:bodyPr/>
          <a:lstStyle/>
          <a:p>
            <a:endParaRPr lang="en-US"/>
          </a:p>
        </p:txBody>
      </p:sp>
      <p:sp>
        <p:nvSpPr>
          <p:cNvPr id="18" name="Text 16"/>
          <p:cNvSpPr/>
          <p:nvPr/>
        </p:nvSpPr>
        <p:spPr>
          <a:xfrm>
            <a:off x="411480" y="4818888"/>
            <a:ext cx="8412480" cy="256032"/>
          </a:xfrm>
          <a:prstGeom prst="rect">
            <a:avLst/>
          </a:prstGeom>
          <a:noFill/>
          <a:ln/>
        </p:spPr>
        <p:txBody>
          <a:bodyPr wrap="square" rtlCol="0" anchor="ctr"/>
          <a:lstStyle/>
          <a:p>
            <a:pPr marL="0" indent="0" algn="ctr">
              <a:buNone/>
            </a:pPr>
            <a:r>
              <a:rPr lang="en-US" sz="1100">
                <a:solidFill>
                  <a:srgbClr val="8BA0B5"/>
                </a:solidFill>
                <a:latin typeface="Calibri" pitchFamily="34" charset="0"/>
                <a:ea typeface="Calibri" pitchFamily="34" charset="-122"/>
                <a:cs typeface="Calibri" pitchFamily="34" charset="-120"/>
              </a:rPr>
              <a:t>Leland Weeks  ·  Johnny Belichev  ·  Ishant Somal  ·  CS 610  ·  May 2026</a:t>
            </a:r>
            <a:endParaRPr lang="en-US" sz="1100"/>
          </a:p>
        </p:txBody>
      </p:sp>
    </p:spTree>
    <p:extLst>
      <p:ext uri="{BB962C8B-B14F-4D97-AF65-F5344CB8AC3E}">
        <p14:creationId xmlns:p14="http://schemas.microsoft.com/office/powerpoint/2010/main" val="2217572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1F4">
            <a:alpha val="100000"/>
          </a:srgbClr>
        </a:solidFill>
        <a:effectLst/>
      </p:bgPr>
    </p:bg>
    <p:spTree>
      <p:nvGrpSpPr>
        <p:cNvPr id="1" name="">
          <a:extLst>
            <a:ext uri="{FF2B5EF4-FFF2-40B4-BE49-F238E27FC236}">
              <a16:creationId xmlns:a16="http://schemas.microsoft.com/office/drawing/2014/main" id="{CC163D53-1FC1-8EB1-84D3-C7763ED36A8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679DDB0-B1EA-A43A-8DDC-7B6C98F2E30F}"/>
              </a:ext>
            </a:extLst>
          </p:cNvPr>
          <p:cNvSpPr/>
          <p:nvPr/>
        </p:nvSpPr>
        <p:spPr>
          <a:xfrm>
            <a:off x="0" y="0"/>
            <a:ext cx="9144000" cy="960119"/>
          </a:xfrm>
          <a:prstGeom prst="rect">
            <a:avLst/>
          </a:prstGeom>
          <a:solidFill>
            <a:srgbClr val="0D1B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Rectangle 2">
            <a:extLst>
              <a:ext uri="{FF2B5EF4-FFF2-40B4-BE49-F238E27FC236}">
                <a16:creationId xmlns:a16="http://schemas.microsoft.com/office/drawing/2014/main" id="{618CB4C8-ACD8-AA50-E167-FFA486208879}"/>
              </a:ext>
            </a:extLst>
          </p:cNvPr>
          <p:cNvSpPr/>
          <p:nvPr/>
        </p:nvSpPr>
        <p:spPr>
          <a:xfrm>
            <a:off x="0" y="960119"/>
            <a:ext cx="9144000" cy="64008"/>
          </a:xfrm>
          <a:prstGeom prst="rect">
            <a:avLst/>
          </a:prstGeom>
          <a:solidFill>
            <a:srgbClr val="E8A02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DC17BC3F-3CBC-A76E-72F4-45FEA1D85262}"/>
              </a:ext>
            </a:extLst>
          </p:cNvPr>
          <p:cNvSpPr txBox="1"/>
          <p:nvPr/>
        </p:nvSpPr>
        <p:spPr>
          <a:xfrm>
            <a:off x="365760" y="218450"/>
            <a:ext cx="8412480" cy="523220"/>
          </a:xfrm>
          <a:prstGeom prst="rect">
            <a:avLst/>
          </a:prstGeom>
          <a:noFill/>
        </p:spPr>
        <p:txBody>
          <a:bodyPr vertOverflow="overflow" vert="horz" wrap="square" lIns="91440" tIns="45720" rIns="91440" bIns="45720" rtlCol="0" anchor="ctr" anchorCtr="0">
            <a:spAutoFit/>
          </a:bodyPr>
          <a:lstStyle/>
          <a:p>
            <a:pPr algn="l"/>
            <a:r>
              <a:rPr lang="en-US" sz="2800" b="1">
                <a:solidFill>
                  <a:srgbClr val="FFFFFF"/>
                </a:solidFill>
                <a:latin typeface="Calibri"/>
                <a:cs typeface="Calibri"/>
              </a:rPr>
              <a:t>Appendix</a:t>
            </a:r>
            <a:endParaRPr lang="en-US"/>
          </a:p>
        </p:txBody>
      </p:sp>
    </p:spTree>
    <p:extLst>
      <p:ext uri="{BB962C8B-B14F-4D97-AF65-F5344CB8AC3E}">
        <p14:creationId xmlns:p14="http://schemas.microsoft.com/office/powerpoint/2010/main" val="1286875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0" y="960120"/>
            <a:ext cx="9144000" cy="64008"/>
          </a:xfrm>
          <a:prstGeom prst="rect">
            <a:avLst/>
          </a:prstGeom>
          <a:solidFill>
            <a:srgbClr val="E8A020"/>
          </a:solidFill>
          <a:ln w="12700">
            <a:solidFill>
              <a:srgbClr val="E8A020"/>
            </a:solidFill>
            <a:prstDash val="solid"/>
          </a:ln>
        </p:spPr>
        <p:txBody>
          <a:bodyPr/>
          <a:lstStyle/>
          <a:p>
            <a:endParaRPr lang="en-US"/>
          </a:p>
        </p:txBody>
      </p:sp>
      <p:sp>
        <p:nvSpPr>
          <p:cNvPr id="4" name="Text 2"/>
          <p:cNvSpPr/>
          <p:nvPr/>
        </p:nvSpPr>
        <p:spPr>
          <a:xfrm>
            <a:off x="365760" y="137160"/>
            <a:ext cx="8412480" cy="685800"/>
          </a:xfrm>
          <a:prstGeom prst="rect">
            <a:avLst/>
          </a:prstGeom>
          <a:noFill/>
          <a:ln/>
        </p:spPr>
        <p:txBody>
          <a:bodyPr wrap="square" rtlCol="0" anchor="ctr"/>
          <a:lstStyle/>
          <a:p>
            <a:pPr marL="0" indent="0">
              <a:buNone/>
            </a:pPr>
            <a:r>
              <a:rPr lang="en-US" sz="2800" b="1">
                <a:solidFill>
                  <a:srgbClr val="FFFFFF"/>
                </a:solidFill>
                <a:latin typeface="Calibri" pitchFamily="34" charset="0"/>
                <a:ea typeface="Calibri" pitchFamily="34" charset="-122"/>
                <a:cs typeface="Calibri" pitchFamily="34" charset="-120"/>
              </a:rPr>
              <a:t>Timeline &amp; Milestones</a:t>
            </a:r>
            <a:endParaRPr lang="en-US" sz="2800"/>
          </a:p>
        </p:txBody>
      </p:sp>
      <p:sp>
        <p:nvSpPr>
          <p:cNvPr id="5" name="Shape 3"/>
          <p:cNvSpPr/>
          <p:nvPr/>
        </p:nvSpPr>
        <p:spPr>
          <a:xfrm>
            <a:off x="279400" y="1397000"/>
            <a:ext cx="2755900" cy="533400"/>
          </a:xfrm>
          <a:prstGeom prst="rect">
            <a:avLst/>
          </a:prstGeom>
          <a:solidFill>
            <a:srgbClr val="E6F4EA"/>
          </a:solidFill>
          <a:ln w="12700">
            <a:solidFill>
              <a:srgbClr val="2D9E6A"/>
            </a:solidFill>
            <a:prstDash val="solid"/>
          </a:ln>
        </p:spPr>
        <p:txBody>
          <a:bodyPr/>
          <a:lstStyle/>
          <a:p>
            <a:endParaRPr lang="en-US"/>
          </a:p>
        </p:txBody>
      </p:sp>
      <p:sp>
        <p:nvSpPr>
          <p:cNvPr id="6" name="Shape 4"/>
          <p:cNvSpPr/>
          <p:nvPr/>
        </p:nvSpPr>
        <p:spPr>
          <a:xfrm>
            <a:off x="381000" y="1574800"/>
            <a:ext cx="182880" cy="182880"/>
          </a:xfrm>
          <a:prstGeom prst="ellipse">
            <a:avLst/>
          </a:prstGeom>
          <a:solidFill>
            <a:srgbClr val="2D9E6A"/>
          </a:solidFill>
          <a:ln w="12700">
            <a:solidFill>
              <a:srgbClr val="2D9E6A"/>
            </a:solidFill>
            <a:prstDash val="solid"/>
          </a:ln>
        </p:spPr>
        <p:txBody>
          <a:bodyPr/>
          <a:lstStyle/>
          <a:p>
            <a:endParaRPr lang="en-US"/>
          </a:p>
        </p:txBody>
      </p:sp>
      <p:sp>
        <p:nvSpPr>
          <p:cNvPr id="7" name="Text 5"/>
          <p:cNvSpPr/>
          <p:nvPr/>
        </p:nvSpPr>
        <p:spPr>
          <a:xfrm>
            <a:off x="622300" y="1447800"/>
            <a:ext cx="825500" cy="228600"/>
          </a:xfrm>
          <a:prstGeom prst="rect">
            <a:avLst/>
          </a:prstGeom>
          <a:noFill/>
          <a:ln/>
        </p:spPr>
        <p:txBody>
          <a:bodyPr wrap="square" lIns="0" tIns="0" rIns="0" bIns="0" rtlCol="0" anchor="ctr"/>
          <a:lstStyle/>
          <a:p>
            <a:pPr marL="0" indent="0">
              <a:buNone/>
            </a:pPr>
            <a:r>
              <a:rPr lang="en-US" sz="1100" b="1">
                <a:solidFill>
                  <a:srgbClr val="1B3A5C"/>
                </a:solidFill>
                <a:latin typeface="Calibri" pitchFamily="34" charset="0"/>
                <a:ea typeface="Calibri" pitchFamily="34" charset="-122"/>
                <a:cs typeface="Calibri" pitchFamily="34" charset="-120"/>
              </a:rPr>
              <a:t>Apr 26</a:t>
            </a:r>
            <a:endParaRPr lang="en-US" sz="1100"/>
          </a:p>
        </p:txBody>
      </p:sp>
      <p:sp>
        <p:nvSpPr>
          <p:cNvPr id="8" name="Text 6"/>
          <p:cNvSpPr/>
          <p:nvPr/>
        </p:nvSpPr>
        <p:spPr>
          <a:xfrm>
            <a:off x="622300" y="1651000"/>
            <a:ext cx="2311400" cy="254000"/>
          </a:xfrm>
          <a:prstGeom prst="rect">
            <a:avLst/>
          </a:prstGeom>
          <a:noFill/>
          <a:ln/>
        </p:spPr>
        <p:txBody>
          <a:bodyPr wrap="square" lIns="0" tIns="0" rIns="0" bIns="0" rtlCol="0" anchor="ctr"/>
          <a:lstStyle/>
          <a:p>
            <a:pPr marL="0" indent="0">
              <a:buNone/>
            </a:pPr>
            <a:r>
              <a:rPr lang="en-US" sz="1050">
                <a:solidFill>
                  <a:srgbClr val="2D3748"/>
                </a:solidFill>
                <a:latin typeface="Calibri" pitchFamily="34" charset="0"/>
                <a:ea typeface="Calibri" pitchFamily="34" charset="-122"/>
                <a:cs typeface="Calibri" pitchFamily="34" charset="-120"/>
              </a:rPr>
              <a:t>Data pipeline complete (acquisition + preprocessing)</a:t>
            </a:r>
            <a:endParaRPr lang="en-US" sz="1050"/>
          </a:p>
        </p:txBody>
      </p:sp>
      <p:sp>
        <p:nvSpPr>
          <p:cNvPr id="9" name="Text 7"/>
          <p:cNvSpPr/>
          <p:nvPr/>
        </p:nvSpPr>
        <p:spPr>
          <a:xfrm>
            <a:off x="2171700" y="1447800"/>
            <a:ext cx="762000" cy="228600"/>
          </a:xfrm>
          <a:prstGeom prst="rect">
            <a:avLst/>
          </a:prstGeom>
          <a:noFill/>
          <a:ln/>
        </p:spPr>
        <p:txBody>
          <a:bodyPr wrap="square" rtlCol="0" anchor="ctr"/>
          <a:lstStyle/>
          <a:p>
            <a:pPr marL="0" indent="0" algn="r">
              <a:buNone/>
            </a:pPr>
            <a:r>
              <a:rPr lang="en-US" sz="1000" b="1">
                <a:solidFill>
                  <a:srgbClr val="2D9E6A"/>
                </a:solidFill>
                <a:latin typeface="Calibri" pitchFamily="34" charset="0"/>
                <a:ea typeface="Calibri" pitchFamily="34" charset="-122"/>
                <a:cs typeface="Calibri" pitchFamily="34" charset="-120"/>
              </a:rPr>
              <a:t>✓ Done</a:t>
            </a:r>
            <a:endParaRPr lang="en-US" sz="1000"/>
          </a:p>
        </p:txBody>
      </p:sp>
      <p:sp>
        <p:nvSpPr>
          <p:cNvPr id="10" name="Shape 8"/>
          <p:cNvSpPr/>
          <p:nvPr/>
        </p:nvSpPr>
        <p:spPr>
          <a:xfrm>
            <a:off x="3200400" y="1397000"/>
            <a:ext cx="2755900" cy="533400"/>
          </a:xfrm>
          <a:prstGeom prst="rect">
            <a:avLst/>
          </a:prstGeom>
          <a:solidFill>
            <a:srgbClr val="E6F4EA"/>
          </a:solidFill>
          <a:ln w="12700">
            <a:solidFill>
              <a:srgbClr val="2D9E6A"/>
            </a:solidFill>
            <a:prstDash val="solid"/>
          </a:ln>
        </p:spPr>
        <p:txBody>
          <a:bodyPr/>
          <a:lstStyle/>
          <a:p>
            <a:endParaRPr lang="en-US"/>
          </a:p>
        </p:txBody>
      </p:sp>
      <p:sp>
        <p:nvSpPr>
          <p:cNvPr id="11" name="Shape 9"/>
          <p:cNvSpPr/>
          <p:nvPr/>
        </p:nvSpPr>
        <p:spPr>
          <a:xfrm>
            <a:off x="3302000" y="1574800"/>
            <a:ext cx="182880" cy="182880"/>
          </a:xfrm>
          <a:prstGeom prst="ellipse">
            <a:avLst/>
          </a:prstGeom>
          <a:solidFill>
            <a:srgbClr val="2D9E6A"/>
          </a:solidFill>
          <a:ln w="12700">
            <a:solidFill>
              <a:srgbClr val="2D9E6A"/>
            </a:solidFill>
            <a:prstDash val="solid"/>
          </a:ln>
        </p:spPr>
        <p:txBody>
          <a:bodyPr/>
          <a:lstStyle/>
          <a:p>
            <a:endParaRPr lang="en-US"/>
          </a:p>
        </p:txBody>
      </p:sp>
      <p:sp>
        <p:nvSpPr>
          <p:cNvPr id="12" name="Text 10"/>
          <p:cNvSpPr/>
          <p:nvPr/>
        </p:nvSpPr>
        <p:spPr>
          <a:xfrm>
            <a:off x="3543300" y="1447800"/>
            <a:ext cx="825500" cy="228600"/>
          </a:xfrm>
          <a:prstGeom prst="rect">
            <a:avLst/>
          </a:prstGeom>
          <a:noFill/>
          <a:ln/>
        </p:spPr>
        <p:txBody>
          <a:bodyPr wrap="square" lIns="0" tIns="0" rIns="0" bIns="0" rtlCol="0" anchor="ctr"/>
          <a:lstStyle/>
          <a:p>
            <a:pPr marL="0" indent="0">
              <a:buNone/>
            </a:pPr>
            <a:r>
              <a:rPr lang="en-US" sz="1100" b="1">
                <a:solidFill>
                  <a:srgbClr val="1B3A5C"/>
                </a:solidFill>
                <a:latin typeface="Calibri" pitchFamily="34" charset="0"/>
                <a:ea typeface="Calibri" pitchFamily="34" charset="-122"/>
                <a:cs typeface="Calibri" pitchFamily="34" charset="-120"/>
              </a:rPr>
              <a:t>May 3</a:t>
            </a:r>
            <a:endParaRPr lang="en-US" sz="1100"/>
          </a:p>
        </p:txBody>
      </p:sp>
      <p:sp>
        <p:nvSpPr>
          <p:cNvPr id="13" name="Text 11"/>
          <p:cNvSpPr/>
          <p:nvPr/>
        </p:nvSpPr>
        <p:spPr>
          <a:xfrm>
            <a:off x="3543300" y="1651000"/>
            <a:ext cx="2311400" cy="254000"/>
          </a:xfrm>
          <a:prstGeom prst="rect">
            <a:avLst/>
          </a:prstGeom>
          <a:noFill/>
          <a:ln/>
        </p:spPr>
        <p:txBody>
          <a:bodyPr wrap="square" lIns="0" tIns="0" rIns="0" bIns="0" rtlCol="0" anchor="ctr"/>
          <a:lstStyle/>
          <a:p>
            <a:pPr marL="0" indent="0">
              <a:buNone/>
            </a:pPr>
            <a:r>
              <a:rPr lang="en-US" sz="1050">
                <a:solidFill>
                  <a:srgbClr val="2D3748"/>
                </a:solidFill>
                <a:latin typeface="Calibri" pitchFamily="34" charset="0"/>
                <a:ea typeface="Calibri" pitchFamily="34" charset="-122"/>
                <a:cs typeface="Calibri" pitchFamily="34" charset="-120"/>
              </a:rPr>
              <a:t>Project Proposal submitted</a:t>
            </a:r>
            <a:endParaRPr lang="en-US" sz="1050"/>
          </a:p>
        </p:txBody>
      </p:sp>
      <p:sp>
        <p:nvSpPr>
          <p:cNvPr id="14" name="Text 12"/>
          <p:cNvSpPr/>
          <p:nvPr/>
        </p:nvSpPr>
        <p:spPr>
          <a:xfrm>
            <a:off x="5092700" y="1447800"/>
            <a:ext cx="762000" cy="228600"/>
          </a:xfrm>
          <a:prstGeom prst="rect">
            <a:avLst/>
          </a:prstGeom>
          <a:noFill/>
          <a:ln/>
        </p:spPr>
        <p:txBody>
          <a:bodyPr wrap="square" rtlCol="0" anchor="ctr"/>
          <a:lstStyle/>
          <a:p>
            <a:pPr marL="0" indent="0" algn="r">
              <a:buNone/>
            </a:pPr>
            <a:r>
              <a:rPr lang="en-US" sz="1000" b="1">
                <a:solidFill>
                  <a:srgbClr val="2D9E6A"/>
                </a:solidFill>
                <a:latin typeface="Calibri" pitchFamily="34" charset="0"/>
                <a:ea typeface="Calibri" pitchFamily="34" charset="-122"/>
                <a:cs typeface="Calibri" pitchFamily="34" charset="-120"/>
              </a:rPr>
              <a:t>✓ Done</a:t>
            </a:r>
            <a:endParaRPr lang="en-US" sz="1000"/>
          </a:p>
        </p:txBody>
      </p:sp>
      <p:sp>
        <p:nvSpPr>
          <p:cNvPr id="15" name="Shape 13"/>
          <p:cNvSpPr/>
          <p:nvPr/>
        </p:nvSpPr>
        <p:spPr>
          <a:xfrm>
            <a:off x="6121400" y="1397000"/>
            <a:ext cx="2755900" cy="533400"/>
          </a:xfrm>
          <a:prstGeom prst="rect">
            <a:avLst/>
          </a:prstGeom>
          <a:solidFill>
            <a:srgbClr val="FFF8E1"/>
          </a:solidFill>
          <a:ln w="12700">
            <a:solidFill>
              <a:srgbClr val="E8A020"/>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6223000" y="1574800"/>
            <a:ext cx="182880" cy="182880"/>
          </a:xfrm>
          <a:prstGeom prst="ellipse">
            <a:avLst/>
          </a:prstGeom>
          <a:solidFill>
            <a:srgbClr val="E8A020"/>
          </a:solidFill>
          <a:ln w="12700">
            <a:solidFill>
              <a:srgbClr val="E8A020"/>
            </a:solidFill>
            <a:prstDash val="solid"/>
          </a:ln>
        </p:spPr>
        <p:txBody>
          <a:bodyPr/>
          <a:lstStyle/>
          <a:p>
            <a:endParaRPr lang="en-US"/>
          </a:p>
        </p:txBody>
      </p:sp>
      <p:sp>
        <p:nvSpPr>
          <p:cNvPr id="17" name="Text 15"/>
          <p:cNvSpPr/>
          <p:nvPr/>
        </p:nvSpPr>
        <p:spPr>
          <a:xfrm>
            <a:off x="6464300" y="1447800"/>
            <a:ext cx="825500" cy="228600"/>
          </a:xfrm>
          <a:prstGeom prst="rect">
            <a:avLst/>
          </a:prstGeom>
          <a:noFill/>
          <a:ln/>
        </p:spPr>
        <p:txBody>
          <a:bodyPr wrap="square" lIns="0" tIns="0" rIns="0" bIns="0" rtlCol="0" anchor="ctr"/>
          <a:lstStyle/>
          <a:p>
            <a:pPr marL="0" indent="0">
              <a:buNone/>
            </a:pPr>
            <a:r>
              <a:rPr lang="en-US" sz="1100" b="1">
                <a:solidFill>
                  <a:srgbClr val="1B3A5C"/>
                </a:solidFill>
                <a:latin typeface="Calibri" pitchFamily="34" charset="0"/>
                <a:ea typeface="Calibri" pitchFamily="34" charset="-122"/>
                <a:cs typeface="Calibri" pitchFamily="34" charset="-120"/>
              </a:rPr>
              <a:t>May 7</a:t>
            </a:r>
            <a:endParaRPr lang="en-US" sz="1100"/>
          </a:p>
        </p:txBody>
      </p:sp>
      <p:sp>
        <p:nvSpPr>
          <p:cNvPr id="18" name="Text 16"/>
          <p:cNvSpPr/>
          <p:nvPr/>
        </p:nvSpPr>
        <p:spPr>
          <a:xfrm>
            <a:off x="6464300" y="1651000"/>
            <a:ext cx="2311400" cy="254000"/>
          </a:xfrm>
          <a:prstGeom prst="rect">
            <a:avLst/>
          </a:prstGeom>
          <a:noFill/>
          <a:ln/>
        </p:spPr>
        <p:txBody>
          <a:bodyPr wrap="square" lIns="0" tIns="0" rIns="0" bIns="0" rtlCol="0" anchor="ctr"/>
          <a:lstStyle/>
          <a:p>
            <a:pPr marL="0" indent="0">
              <a:buNone/>
            </a:pPr>
            <a:r>
              <a:rPr lang="en-US" sz="1050">
                <a:solidFill>
                  <a:srgbClr val="2D3748"/>
                </a:solidFill>
                <a:latin typeface="Calibri" pitchFamily="34" charset="0"/>
                <a:ea typeface="Calibri" pitchFamily="34" charset="-122"/>
                <a:cs typeface="Calibri" pitchFamily="34" charset="-120"/>
              </a:rPr>
              <a:t>Proposal Presentation</a:t>
            </a:r>
            <a:endParaRPr lang="en-US" sz="1050"/>
          </a:p>
        </p:txBody>
      </p:sp>
      <p:sp>
        <p:nvSpPr>
          <p:cNvPr id="20" name="Shape 18"/>
          <p:cNvSpPr/>
          <p:nvPr/>
        </p:nvSpPr>
        <p:spPr>
          <a:xfrm>
            <a:off x="279400" y="3619500"/>
            <a:ext cx="4191000" cy="533400"/>
          </a:xfrm>
          <a:prstGeom prst="rect">
            <a:avLst/>
          </a:prstGeom>
          <a:solidFill>
            <a:srgbClr val="F4F1EC"/>
          </a:solidFill>
          <a:ln w="12700">
            <a:solidFill>
              <a:srgbClr val="B0B7C0"/>
            </a:solidFill>
            <a:prstDash val="dash"/>
          </a:ln>
        </p:spPr>
        <p:txBody>
          <a:bodyPr/>
          <a:lstStyle/>
          <a:p>
            <a:endParaRPr lang="en-US"/>
          </a:p>
        </p:txBody>
      </p:sp>
      <p:sp>
        <p:nvSpPr>
          <p:cNvPr id="19" name="Text 17"/>
          <p:cNvSpPr/>
          <p:nvPr/>
        </p:nvSpPr>
        <p:spPr>
          <a:xfrm>
            <a:off x="8013700" y="1447800"/>
            <a:ext cx="762000" cy="228600"/>
          </a:xfrm>
          <a:prstGeom prst="rect">
            <a:avLst/>
          </a:prstGeom>
          <a:noFill/>
          <a:ln/>
        </p:spPr>
        <p:txBody>
          <a:bodyPr wrap="square" rtlCol="0" anchor="ctr"/>
          <a:lstStyle/>
          <a:p>
            <a:pPr marL="0" indent="0" algn="r">
              <a:buNone/>
            </a:pPr>
            <a:r>
              <a:rPr lang="en-US" sz="1000" b="1">
                <a:solidFill>
                  <a:srgbClr val="E8A020"/>
                </a:solidFill>
                <a:latin typeface="Calibri" pitchFamily="34" charset="0"/>
                <a:ea typeface="Calibri" pitchFamily="34" charset="-122"/>
                <a:cs typeface="Calibri" pitchFamily="34" charset="-120"/>
              </a:rPr>
              <a:t>← Now</a:t>
            </a:r>
            <a:endParaRPr lang="en-US" sz="1000"/>
          </a:p>
        </p:txBody>
      </p:sp>
      <p:sp>
        <p:nvSpPr>
          <p:cNvPr id="21" name="Shape 19"/>
          <p:cNvSpPr/>
          <p:nvPr/>
        </p:nvSpPr>
        <p:spPr>
          <a:xfrm>
            <a:off x="381000" y="3797300"/>
            <a:ext cx="182880" cy="182880"/>
          </a:xfrm>
          <a:prstGeom prst="ellipse">
            <a:avLst/>
          </a:prstGeom>
          <a:solidFill>
            <a:srgbClr val="B0B7C0"/>
          </a:solidFill>
          <a:ln w="12700">
            <a:solidFill>
              <a:srgbClr val="8BA0B5"/>
            </a:solidFill>
            <a:prstDash val="solid"/>
          </a:ln>
        </p:spPr>
        <p:txBody>
          <a:bodyPr/>
          <a:lstStyle/>
          <a:p>
            <a:endParaRPr lang="en-US"/>
          </a:p>
        </p:txBody>
      </p:sp>
      <p:sp>
        <p:nvSpPr>
          <p:cNvPr id="22" name="Text 20"/>
          <p:cNvSpPr/>
          <p:nvPr/>
        </p:nvSpPr>
        <p:spPr>
          <a:xfrm>
            <a:off x="622300" y="3670300"/>
            <a:ext cx="825500" cy="228600"/>
          </a:xfrm>
          <a:prstGeom prst="rect">
            <a:avLst/>
          </a:prstGeom>
          <a:noFill/>
          <a:ln/>
        </p:spPr>
        <p:txBody>
          <a:bodyPr wrap="square" lIns="0" tIns="0" rIns="0" bIns="0" rtlCol="0" anchor="ctr"/>
          <a:lstStyle/>
          <a:p>
            <a:pPr algn="l"/>
            <a:r>
              <a:rPr lang="en-US" sz="1100" b="1">
                <a:solidFill>
                  <a:srgbClr val="6B7785"/>
                </a:solidFill>
                <a:latin typeface="Calibri"/>
              </a:rPr>
              <a:t>May 26</a:t>
            </a:r>
          </a:p>
        </p:txBody>
      </p:sp>
      <p:sp>
        <p:nvSpPr>
          <p:cNvPr id="23" name="Text 21"/>
          <p:cNvSpPr/>
          <p:nvPr/>
        </p:nvSpPr>
        <p:spPr>
          <a:xfrm>
            <a:off x="622300" y="3873500"/>
            <a:ext cx="3746500" cy="254000"/>
          </a:xfrm>
          <a:prstGeom prst="rect">
            <a:avLst/>
          </a:prstGeom>
          <a:noFill/>
          <a:ln/>
        </p:spPr>
        <p:txBody>
          <a:bodyPr wrap="square" lIns="0" tIns="0" rIns="0" bIns="0" rtlCol="0" anchor="ctr"/>
          <a:lstStyle/>
          <a:p>
            <a:pPr algn="l"/>
            <a:r>
              <a:rPr lang="en-US" sz="1100" i="1">
                <a:solidFill>
                  <a:srgbClr val="6B7785"/>
                </a:solidFill>
                <a:latin typeface="Calibri"/>
              </a:rPr>
              <a:t>DAG validation via PC algorithm</a:t>
            </a:r>
          </a:p>
        </p:txBody>
      </p:sp>
      <p:sp>
        <p:nvSpPr>
          <p:cNvPr id="24" name="Shape 22"/>
          <p:cNvSpPr/>
          <p:nvPr/>
        </p:nvSpPr>
        <p:spPr>
          <a:xfrm>
            <a:off x="279400" y="1993900"/>
            <a:ext cx="2755900" cy="533400"/>
          </a:xfrm>
          <a:prstGeom prst="rect">
            <a:avLst/>
          </a:prstGeom>
          <a:solidFill>
            <a:srgbClr val="FFFFFF"/>
          </a:solidFill>
          <a:ln w="12700">
            <a:solidFill>
              <a:srgbClr val="D0D7DE"/>
            </a:solidFill>
            <a:prstDash val="solid"/>
          </a:ln>
        </p:spPr>
        <p:txBody>
          <a:bodyPr/>
          <a:lstStyle/>
          <a:p>
            <a:endParaRPr lang="en-US"/>
          </a:p>
        </p:txBody>
      </p:sp>
      <p:sp>
        <p:nvSpPr>
          <p:cNvPr id="25" name="Shape 23"/>
          <p:cNvSpPr/>
          <p:nvPr/>
        </p:nvSpPr>
        <p:spPr>
          <a:xfrm>
            <a:off x="381000" y="2171700"/>
            <a:ext cx="182880" cy="182880"/>
          </a:xfrm>
          <a:prstGeom prst="ellipse">
            <a:avLst/>
          </a:prstGeom>
          <a:solidFill>
            <a:srgbClr val="8BA0B5"/>
          </a:solidFill>
          <a:ln w="12700">
            <a:solidFill>
              <a:srgbClr val="8BA0B5"/>
            </a:solidFill>
            <a:prstDash val="solid"/>
          </a:ln>
        </p:spPr>
        <p:txBody>
          <a:bodyPr/>
          <a:lstStyle/>
          <a:p>
            <a:endParaRPr lang="en-US"/>
          </a:p>
        </p:txBody>
      </p:sp>
      <p:sp>
        <p:nvSpPr>
          <p:cNvPr id="26" name="Text 24"/>
          <p:cNvSpPr/>
          <p:nvPr/>
        </p:nvSpPr>
        <p:spPr>
          <a:xfrm>
            <a:off x="622300" y="2044700"/>
            <a:ext cx="825500" cy="228600"/>
          </a:xfrm>
          <a:prstGeom prst="rect">
            <a:avLst/>
          </a:prstGeom>
          <a:noFill/>
          <a:ln/>
        </p:spPr>
        <p:txBody>
          <a:bodyPr wrap="square" lIns="0" tIns="0" rIns="0" bIns="0" rtlCol="0" anchor="ctr"/>
          <a:lstStyle/>
          <a:p>
            <a:pPr marL="0" indent="0">
              <a:buNone/>
            </a:pPr>
            <a:r>
              <a:rPr lang="en-US" sz="1100" b="1">
                <a:solidFill>
                  <a:srgbClr val="1B3A5C"/>
                </a:solidFill>
                <a:latin typeface="Calibri" pitchFamily="34" charset="0"/>
                <a:ea typeface="Calibri" pitchFamily="34" charset="-122"/>
                <a:cs typeface="Calibri" pitchFamily="34" charset="-120"/>
              </a:rPr>
              <a:t>May 17</a:t>
            </a:r>
            <a:endParaRPr lang="en-US" sz="1100"/>
          </a:p>
        </p:txBody>
      </p:sp>
      <p:sp>
        <p:nvSpPr>
          <p:cNvPr id="27" name="Text 25"/>
          <p:cNvSpPr/>
          <p:nvPr/>
        </p:nvSpPr>
        <p:spPr>
          <a:xfrm>
            <a:off x="622300" y="2247900"/>
            <a:ext cx="2311400" cy="254000"/>
          </a:xfrm>
          <a:prstGeom prst="rect">
            <a:avLst/>
          </a:prstGeom>
          <a:noFill/>
          <a:ln/>
        </p:spPr>
        <p:txBody>
          <a:bodyPr wrap="square" lIns="0" tIns="0" rIns="0" bIns="0" rtlCol="0" anchor="ctr"/>
          <a:lstStyle/>
          <a:p>
            <a:pPr marL="0" indent="0">
              <a:buNone/>
            </a:pPr>
            <a:r>
              <a:rPr lang="en-US" sz="1050">
                <a:solidFill>
                  <a:srgbClr val="2D3748"/>
                </a:solidFill>
                <a:latin typeface="Calibri" pitchFamily="34" charset="0"/>
                <a:ea typeface="Calibri" pitchFamily="34" charset="-122"/>
                <a:cs typeface="Calibri" pitchFamily="34" charset="-120"/>
              </a:rPr>
              <a:t>Naive Bayes baseline implemented &amp; evaluated</a:t>
            </a:r>
            <a:endParaRPr lang="en-US" sz="1050"/>
          </a:p>
        </p:txBody>
      </p:sp>
      <p:sp>
        <p:nvSpPr>
          <p:cNvPr id="28" name="Shape 26"/>
          <p:cNvSpPr/>
          <p:nvPr/>
        </p:nvSpPr>
        <p:spPr>
          <a:xfrm>
            <a:off x="3200400" y="1993900"/>
            <a:ext cx="2755900" cy="533400"/>
          </a:xfrm>
          <a:prstGeom prst="rect">
            <a:avLst/>
          </a:prstGeom>
          <a:solidFill>
            <a:srgbClr val="FFFFFF"/>
          </a:solidFill>
          <a:ln w="12700">
            <a:solidFill>
              <a:srgbClr val="D0D7DE"/>
            </a:solidFill>
            <a:prstDash val="solid"/>
          </a:ln>
        </p:spPr>
        <p:txBody>
          <a:bodyPr/>
          <a:lstStyle/>
          <a:p>
            <a:endParaRPr lang="en-US"/>
          </a:p>
        </p:txBody>
      </p:sp>
      <p:sp>
        <p:nvSpPr>
          <p:cNvPr id="29" name="Shape 27"/>
          <p:cNvSpPr/>
          <p:nvPr/>
        </p:nvSpPr>
        <p:spPr>
          <a:xfrm>
            <a:off x="3302000" y="2171700"/>
            <a:ext cx="182880" cy="182880"/>
          </a:xfrm>
          <a:prstGeom prst="ellipse">
            <a:avLst/>
          </a:prstGeom>
          <a:solidFill>
            <a:srgbClr val="8BA0B5"/>
          </a:solidFill>
          <a:ln w="12700">
            <a:solidFill>
              <a:srgbClr val="8BA0B5"/>
            </a:solidFill>
            <a:prstDash val="solid"/>
          </a:ln>
        </p:spPr>
        <p:txBody>
          <a:bodyPr/>
          <a:lstStyle/>
          <a:p>
            <a:endParaRPr lang="en-US"/>
          </a:p>
        </p:txBody>
      </p:sp>
      <p:sp>
        <p:nvSpPr>
          <p:cNvPr id="30" name="Text 28"/>
          <p:cNvSpPr/>
          <p:nvPr/>
        </p:nvSpPr>
        <p:spPr>
          <a:xfrm>
            <a:off x="3543300" y="2044700"/>
            <a:ext cx="825500" cy="228600"/>
          </a:xfrm>
          <a:prstGeom prst="rect">
            <a:avLst/>
          </a:prstGeom>
          <a:noFill/>
          <a:ln/>
        </p:spPr>
        <p:txBody>
          <a:bodyPr wrap="square" lIns="0" tIns="0" rIns="0" bIns="0" rtlCol="0" anchor="ctr"/>
          <a:lstStyle/>
          <a:p>
            <a:pPr marL="0" indent="0">
              <a:buNone/>
            </a:pPr>
            <a:r>
              <a:rPr lang="en-US" sz="1100" b="1">
                <a:solidFill>
                  <a:srgbClr val="1B3A5C"/>
                </a:solidFill>
                <a:latin typeface="Calibri" pitchFamily="34" charset="0"/>
                <a:ea typeface="Calibri" pitchFamily="34" charset="-122"/>
                <a:cs typeface="Calibri" pitchFamily="34" charset="-120"/>
              </a:rPr>
              <a:t>May 21</a:t>
            </a:r>
            <a:endParaRPr lang="en-US" sz="1100"/>
          </a:p>
        </p:txBody>
      </p:sp>
      <p:sp>
        <p:nvSpPr>
          <p:cNvPr id="31" name="Text 29"/>
          <p:cNvSpPr/>
          <p:nvPr/>
        </p:nvSpPr>
        <p:spPr>
          <a:xfrm>
            <a:off x="3543300" y="2247900"/>
            <a:ext cx="2311400" cy="254000"/>
          </a:xfrm>
          <a:prstGeom prst="rect">
            <a:avLst/>
          </a:prstGeom>
          <a:noFill/>
          <a:ln/>
        </p:spPr>
        <p:txBody>
          <a:bodyPr wrap="square" lIns="0" tIns="0" rIns="0" bIns="0" rtlCol="0" anchor="ctr"/>
          <a:lstStyle/>
          <a:p>
            <a:pPr marL="0" indent="0">
              <a:buNone/>
            </a:pPr>
            <a:r>
              <a:rPr lang="en-US" sz="1050">
                <a:solidFill>
                  <a:srgbClr val="2D3748"/>
                </a:solidFill>
                <a:latin typeface="Calibri" pitchFamily="34" charset="0"/>
                <a:ea typeface="Calibri" pitchFamily="34" charset="-122"/>
                <a:cs typeface="Calibri" pitchFamily="34" charset="-120"/>
              </a:rPr>
              <a:t>BN with Hill Climbing implemented</a:t>
            </a:r>
            <a:endParaRPr lang="en-US" sz="1050"/>
          </a:p>
        </p:txBody>
      </p:sp>
      <p:sp>
        <p:nvSpPr>
          <p:cNvPr id="32" name="Shape 30"/>
          <p:cNvSpPr/>
          <p:nvPr/>
        </p:nvSpPr>
        <p:spPr>
          <a:xfrm>
            <a:off x="6121400" y="1993900"/>
            <a:ext cx="2755900" cy="533400"/>
          </a:xfrm>
          <a:prstGeom prst="rect">
            <a:avLst/>
          </a:prstGeom>
          <a:solidFill>
            <a:srgbClr val="FFFFFF"/>
          </a:solidFill>
          <a:ln w="12700">
            <a:solidFill>
              <a:srgbClr val="D0D7DE"/>
            </a:solidFill>
            <a:prstDash val="solid"/>
          </a:ln>
        </p:spPr>
        <p:txBody>
          <a:bodyPr/>
          <a:lstStyle/>
          <a:p>
            <a:endParaRPr lang="en-US"/>
          </a:p>
        </p:txBody>
      </p:sp>
      <p:sp>
        <p:nvSpPr>
          <p:cNvPr id="33" name="Shape 31"/>
          <p:cNvSpPr/>
          <p:nvPr/>
        </p:nvSpPr>
        <p:spPr>
          <a:xfrm>
            <a:off x="6223000" y="2171700"/>
            <a:ext cx="182880" cy="182880"/>
          </a:xfrm>
          <a:prstGeom prst="ellipse">
            <a:avLst/>
          </a:prstGeom>
          <a:solidFill>
            <a:srgbClr val="8BA0B5"/>
          </a:solidFill>
          <a:ln w="12700">
            <a:solidFill>
              <a:srgbClr val="8BA0B5"/>
            </a:solidFill>
            <a:prstDash val="solid"/>
          </a:ln>
        </p:spPr>
        <p:txBody>
          <a:bodyPr/>
          <a:lstStyle/>
          <a:p>
            <a:endParaRPr lang="en-US"/>
          </a:p>
        </p:txBody>
      </p:sp>
      <p:sp>
        <p:nvSpPr>
          <p:cNvPr id="34" name="Text 32"/>
          <p:cNvSpPr/>
          <p:nvPr/>
        </p:nvSpPr>
        <p:spPr>
          <a:xfrm>
            <a:off x="6464300" y="2044700"/>
            <a:ext cx="825500" cy="228600"/>
          </a:xfrm>
          <a:prstGeom prst="rect">
            <a:avLst/>
          </a:prstGeom>
          <a:noFill/>
          <a:ln/>
        </p:spPr>
        <p:txBody>
          <a:bodyPr wrap="square" lIns="0" tIns="0" rIns="0" bIns="0" rtlCol="0" anchor="ctr"/>
          <a:lstStyle/>
          <a:p>
            <a:pPr marL="0" indent="0">
              <a:buNone/>
            </a:pPr>
            <a:r>
              <a:rPr lang="en-US" sz="1100" b="1">
                <a:solidFill>
                  <a:srgbClr val="1B3A5C"/>
                </a:solidFill>
                <a:latin typeface="Calibri" pitchFamily="34" charset="0"/>
                <a:ea typeface="Calibri" pitchFamily="34" charset="-122"/>
                <a:cs typeface="Calibri" pitchFamily="34" charset="-120"/>
              </a:rPr>
              <a:t>May 24</a:t>
            </a:r>
            <a:endParaRPr lang="en-US" sz="1100"/>
          </a:p>
        </p:txBody>
      </p:sp>
      <p:sp>
        <p:nvSpPr>
          <p:cNvPr id="35" name="Text 33"/>
          <p:cNvSpPr/>
          <p:nvPr/>
        </p:nvSpPr>
        <p:spPr>
          <a:xfrm>
            <a:off x="6464300" y="2247900"/>
            <a:ext cx="2311400" cy="254000"/>
          </a:xfrm>
          <a:prstGeom prst="rect">
            <a:avLst/>
          </a:prstGeom>
          <a:noFill/>
          <a:ln/>
        </p:spPr>
        <p:txBody>
          <a:bodyPr wrap="square" lIns="0" tIns="0" rIns="0" bIns="0" rtlCol="0" anchor="ctr"/>
          <a:lstStyle/>
          <a:p>
            <a:pPr marL="0" indent="0">
              <a:buNone/>
            </a:pPr>
            <a:r>
              <a:rPr lang="en-US" sz="1050">
                <a:solidFill>
                  <a:srgbClr val="2D3748"/>
                </a:solidFill>
                <a:latin typeface="Calibri" pitchFamily="34" charset="0"/>
                <a:ea typeface="Calibri" pitchFamily="34" charset="-122"/>
                <a:cs typeface="Calibri" pitchFamily="34" charset="-120"/>
              </a:rPr>
              <a:t>Ablation runs (stats-only / market-only / combined)</a:t>
            </a:r>
            <a:endParaRPr lang="en-US" sz="1050"/>
          </a:p>
        </p:txBody>
      </p:sp>
      <p:sp>
        <p:nvSpPr>
          <p:cNvPr id="36" name="Shape 34"/>
          <p:cNvSpPr/>
          <p:nvPr/>
        </p:nvSpPr>
        <p:spPr>
          <a:xfrm>
            <a:off x="279400" y="2590800"/>
            <a:ext cx="2755900" cy="533400"/>
          </a:xfrm>
          <a:prstGeom prst="rect">
            <a:avLst/>
          </a:prstGeom>
          <a:solidFill>
            <a:srgbClr val="FFFFFF"/>
          </a:solidFill>
          <a:ln w="12700">
            <a:solidFill>
              <a:srgbClr val="D0D7DE"/>
            </a:solidFill>
            <a:prstDash val="solid"/>
          </a:ln>
        </p:spPr>
        <p:txBody>
          <a:bodyPr/>
          <a:lstStyle/>
          <a:p>
            <a:endParaRPr lang="en-US"/>
          </a:p>
        </p:txBody>
      </p:sp>
      <p:sp>
        <p:nvSpPr>
          <p:cNvPr id="37" name="Shape 35"/>
          <p:cNvSpPr/>
          <p:nvPr/>
        </p:nvSpPr>
        <p:spPr>
          <a:xfrm>
            <a:off x="381000" y="2768600"/>
            <a:ext cx="182880" cy="182880"/>
          </a:xfrm>
          <a:prstGeom prst="ellipse">
            <a:avLst/>
          </a:prstGeom>
          <a:solidFill>
            <a:srgbClr val="8BA0B5"/>
          </a:solidFill>
          <a:ln w="12700">
            <a:solidFill>
              <a:srgbClr val="8BA0B5"/>
            </a:solidFill>
            <a:prstDash val="solid"/>
          </a:ln>
        </p:spPr>
        <p:txBody>
          <a:bodyPr/>
          <a:lstStyle/>
          <a:p>
            <a:endParaRPr lang="en-US"/>
          </a:p>
        </p:txBody>
      </p:sp>
      <p:sp>
        <p:nvSpPr>
          <p:cNvPr id="38" name="Text 36"/>
          <p:cNvSpPr/>
          <p:nvPr/>
        </p:nvSpPr>
        <p:spPr>
          <a:xfrm>
            <a:off x="622300" y="2641600"/>
            <a:ext cx="825500" cy="228600"/>
          </a:xfrm>
          <a:prstGeom prst="rect">
            <a:avLst/>
          </a:prstGeom>
          <a:noFill/>
          <a:ln/>
        </p:spPr>
        <p:txBody>
          <a:bodyPr wrap="square" lIns="0" tIns="0" rIns="0" bIns="0" rtlCol="0" anchor="ctr"/>
          <a:lstStyle/>
          <a:p>
            <a:pPr marL="0" indent="0">
              <a:buNone/>
            </a:pPr>
            <a:r>
              <a:rPr lang="en-US" sz="1100" b="1">
                <a:solidFill>
                  <a:srgbClr val="1B3A5C"/>
                </a:solidFill>
                <a:latin typeface="Calibri" pitchFamily="34" charset="0"/>
                <a:ea typeface="Calibri" pitchFamily="34" charset="-122"/>
                <a:cs typeface="Calibri" pitchFamily="34" charset="-120"/>
              </a:rPr>
              <a:t>May 28</a:t>
            </a:r>
            <a:endParaRPr lang="en-US" sz="1100"/>
          </a:p>
        </p:txBody>
      </p:sp>
      <p:sp>
        <p:nvSpPr>
          <p:cNvPr id="39" name="Text 37"/>
          <p:cNvSpPr/>
          <p:nvPr/>
        </p:nvSpPr>
        <p:spPr>
          <a:xfrm>
            <a:off x="622300" y="2844800"/>
            <a:ext cx="2311400" cy="254000"/>
          </a:xfrm>
          <a:prstGeom prst="rect">
            <a:avLst/>
          </a:prstGeom>
          <a:noFill/>
          <a:ln/>
        </p:spPr>
        <p:txBody>
          <a:bodyPr wrap="square" lIns="0" tIns="0" rIns="0" bIns="0" rtlCol="0" anchor="ctr"/>
          <a:lstStyle/>
          <a:p>
            <a:pPr marL="0" indent="0">
              <a:buNone/>
            </a:pPr>
            <a:r>
              <a:rPr lang="en-US" sz="1050">
                <a:solidFill>
                  <a:srgbClr val="2D3748"/>
                </a:solidFill>
                <a:latin typeface="Calibri" pitchFamily="34" charset="0"/>
                <a:ea typeface="Calibri" pitchFamily="34" charset="-122"/>
                <a:cs typeface="Calibri" pitchFamily="34" charset="-120"/>
              </a:rPr>
              <a:t>Paper draft complete</a:t>
            </a:r>
            <a:endParaRPr lang="en-US" sz="1050"/>
          </a:p>
        </p:txBody>
      </p:sp>
      <p:sp>
        <p:nvSpPr>
          <p:cNvPr id="40" name="Shape 38"/>
          <p:cNvSpPr/>
          <p:nvPr/>
        </p:nvSpPr>
        <p:spPr>
          <a:xfrm>
            <a:off x="3200400" y="2590800"/>
            <a:ext cx="2755900" cy="533400"/>
          </a:xfrm>
          <a:prstGeom prst="rect">
            <a:avLst/>
          </a:prstGeom>
          <a:solidFill>
            <a:srgbClr val="FFFFFF"/>
          </a:solidFill>
          <a:ln w="12700">
            <a:solidFill>
              <a:srgbClr val="D0D7DE"/>
            </a:solidFill>
            <a:prstDash val="solid"/>
          </a:ln>
        </p:spPr>
        <p:txBody>
          <a:bodyPr/>
          <a:lstStyle/>
          <a:p>
            <a:endParaRPr lang="en-US"/>
          </a:p>
        </p:txBody>
      </p:sp>
      <p:sp>
        <p:nvSpPr>
          <p:cNvPr id="41" name="Shape 39"/>
          <p:cNvSpPr/>
          <p:nvPr/>
        </p:nvSpPr>
        <p:spPr>
          <a:xfrm>
            <a:off x="3302000" y="2768600"/>
            <a:ext cx="182880" cy="182880"/>
          </a:xfrm>
          <a:prstGeom prst="ellipse">
            <a:avLst/>
          </a:prstGeom>
          <a:solidFill>
            <a:srgbClr val="8BA0B5"/>
          </a:solidFill>
          <a:ln w="12700">
            <a:solidFill>
              <a:srgbClr val="8BA0B5"/>
            </a:solidFill>
            <a:prstDash val="solid"/>
          </a:ln>
        </p:spPr>
        <p:txBody>
          <a:bodyPr/>
          <a:lstStyle/>
          <a:p>
            <a:endParaRPr lang="en-US"/>
          </a:p>
        </p:txBody>
      </p:sp>
      <p:sp>
        <p:nvSpPr>
          <p:cNvPr id="42" name="Text 40"/>
          <p:cNvSpPr/>
          <p:nvPr/>
        </p:nvSpPr>
        <p:spPr>
          <a:xfrm>
            <a:off x="3543300" y="2641600"/>
            <a:ext cx="825500" cy="228600"/>
          </a:xfrm>
          <a:prstGeom prst="rect">
            <a:avLst/>
          </a:prstGeom>
          <a:noFill/>
          <a:ln/>
        </p:spPr>
        <p:txBody>
          <a:bodyPr wrap="square" lIns="0" tIns="0" rIns="0" bIns="0" rtlCol="0" anchor="ctr"/>
          <a:lstStyle/>
          <a:p>
            <a:pPr marL="0" indent="0">
              <a:buNone/>
            </a:pPr>
            <a:r>
              <a:rPr lang="en-US" sz="1100" b="1">
                <a:solidFill>
                  <a:srgbClr val="1B3A5C"/>
                </a:solidFill>
                <a:latin typeface="Calibri" pitchFamily="34" charset="0"/>
                <a:ea typeface="Calibri" pitchFamily="34" charset="-122"/>
                <a:cs typeface="Calibri" pitchFamily="34" charset="-120"/>
              </a:rPr>
              <a:t>May 31</a:t>
            </a:r>
            <a:endParaRPr lang="en-US" sz="1100"/>
          </a:p>
        </p:txBody>
      </p:sp>
      <p:sp>
        <p:nvSpPr>
          <p:cNvPr id="43" name="Text 41"/>
          <p:cNvSpPr/>
          <p:nvPr/>
        </p:nvSpPr>
        <p:spPr>
          <a:xfrm>
            <a:off x="3543300" y="2844800"/>
            <a:ext cx="2311400" cy="254000"/>
          </a:xfrm>
          <a:prstGeom prst="rect">
            <a:avLst/>
          </a:prstGeom>
          <a:noFill/>
          <a:ln/>
        </p:spPr>
        <p:txBody>
          <a:bodyPr wrap="square" lIns="0" tIns="0" rIns="0" bIns="0" rtlCol="0" anchor="ctr"/>
          <a:lstStyle/>
          <a:p>
            <a:pPr marL="0" indent="0">
              <a:buNone/>
            </a:pPr>
            <a:r>
              <a:rPr lang="en-US" sz="1050">
                <a:solidFill>
                  <a:srgbClr val="2D3748"/>
                </a:solidFill>
                <a:latin typeface="Calibri" pitchFamily="34" charset="0"/>
                <a:ea typeface="Calibri" pitchFamily="34" charset="-122"/>
                <a:cs typeface="Calibri" pitchFamily="34" charset="-120"/>
              </a:rPr>
              <a:t>Final revisions &amp; artifact submitted</a:t>
            </a:r>
            <a:endParaRPr lang="en-US" sz="1050"/>
          </a:p>
        </p:txBody>
      </p:sp>
      <p:sp>
        <p:nvSpPr>
          <p:cNvPr id="44" name="Shape 42"/>
          <p:cNvSpPr/>
          <p:nvPr/>
        </p:nvSpPr>
        <p:spPr>
          <a:xfrm>
            <a:off x="6121400" y="2590800"/>
            <a:ext cx="2755900" cy="533400"/>
          </a:xfrm>
          <a:prstGeom prst="rect">
            <a:avLst/>
          </a:prstGeom>
          <a:solidFill>
            <a:srgbClr val="FFFFFF"/>
          </a:solidFill>
          <a:ln w="12700">
            <a:solidFill>
              <a:srgbClr val="D0D7DE"/>
            </a:solidFill>
            <a:prstDash val="solid"/>
          </a:ln>
        </p:spPr>
        <p:txBody>
          <a:bodyPr/>
          <a:lstStyle/>
          <a:p>
            <a:endParaRPr lang="en-US"/>
          </a:p>
        </p:txBody>
      </p:sp>
      <p:sp>
        <p:nvSpPr>
          <p:cNvPr id="45" name="Shape 43"/>
          <p:cNvSpPr/>
          <p:nvPr/>
        </p:nvSpPr>
        <p:spPr>
          <a:xfrm>
            <a:off x="6223000" y="2768600"/>
            <a:ext cx="182880" cy="182880"/>
          </a:xfrm>
          <a:prstGeom prst="ellipse">
            <a:avLst/>
          </a:prstGeom>
          <a:solidFill>
            <a:srgbClr val="8BA0B5"/>
          </a:solidFill>
          <a:ln w="12700">
            <a:solidFill>
              <a:srgbClr val="8BA0B5"/>
            </a:solidFill>
            <a:prstDash val="solid"/>
          </a:ln>
        </p:spPr>
        <p:txBody>
          <a:bodyPr/>
          <a:lstStyle/>
          <a:p>
            <a:endParaRPr lang="en-US"/>
          </a:p>
        </p:txBody>
      </p:sp>
      <p:sp>
        <p:nvSpPr>
          <p:cNvPr id="46" name="Text 44"/>
          <p:cNvSpPr/>
          <p:nvPr/>
        </p:nvSpPr>
        <p:spPr>
          <a:xfrm>
            <a:off x="6464300" y="2641600"/>
            <a:ext cx="825500" cy="228600"/>
          </a:xfrm>
          <a:prstGeom prst="rect">
            <a:avLst/>
          </a:prstGeom>
          <a:noFill/>
          <a:ln/>
        </p:spPr>
        <p:txBody>
          <a:bodyPr wrap="square" lIns="0" tIns="0" rIns="0" bIns="0" rtlCol="0" anchor="ctr"/>
          <a:lstStyle/>
          <a:p>
            <a:pPr marL="0" indent="0">
              <a:buNone/>
            </a:pPr>
            <a:r>
              <a:rPr lang="en-US" sz="1100" b="1">
                <a:solidFill>
                  <a:srgbClr val="1B3A5C"/>
                </a:solidFill>
                <a:latin typeface="Calibri" pitchFamily="34" charset="0"/>
                <a:ea typeface="Calibri" pitchFamily="34" charset="-122"/>
                <a:cs typeface="Calibri" pitchFamily="34" charset="-120"/>
              </a:rPr>
              <a:t>Jun 4</a:t>
            </a:r>
            <a:endParaRPr lang="en-US" sz="1100"/>
          </a:p>
        </p:txBody>
      </p:sp>
      <p:sp>
        <p:nvSpPr>
          <p:cNvPr id="47" name="Text 45"/>
          <p:cNvSpPr/>
          <p:nvPr/>
        </p:nvSpPr>
        <p:spPr>
          <a:xfrm>
            <a:off x="6464300" y="2844800"/>
            <a:ext cx="2311400" cy="254000"/>
          </a:xfrm>
          <a:prstGeom prst="rect">
            <a:avLst/>
          </a:prstGeom>
          <a:noFill/>
          <a:ln/>
        </p:spPr>
        <p:txBody>
          <a:bodyPr wrap="square" lIns="0" tIns="0" rIns="0" bIns="0" rtlCol="0" anchor="ctr"/>
          <a:lstStyle/>
          <a:p>
            <a:pPr marL="0" indent="0">
              <a:buNone/>
            </a:pPr>
            <a:r>
              <a:rPr lang="en-US" sz="1050">
                <a:solidFill>
                  <a:srgbClr val="2D3748"/>
                </a:solidFill>
                <a:latin typeface="Calibri" pitchFamily="34" charset="0"/>
                <a:ea typeface="Calibri" pitchFamily="34" charset="-122"/>
                <a:cs typeface="Calibri" pitchFamily="34" charset="-120"/>
              </a:rPr>
              <a:t>Final Presentation</a:t>
            </a:r>
            <a:endParaRPr lang="en-US" sz="1050"/>
          </a:p>
        </p:txBody>
      </p:sp>
      <p:sp>
        <p:nvSpPr>
          <p:cNvPr id="52" name="Rectangle 51">
            <a:extLst>
              <a:ext uri="{FF2B5EF4-FFF2-40B4-BE49-F238E27FC236}">
                <a16:creationId xmlns:a16="http://schemas.microsoft.com/office/drawing/2014/main" id="{B5DA3D6D-3EB7-5D43-AD82-700FE0A948B3}"/>
              </a:ext>
            </a:extLst>
          </p:cNvPr>
          <p:cNvSpPr/>
          <p:nvPr/>
        </p:nvSpPr>
        <p:spPr>
          <a:xfrm>
            <a:off x="2578100" y="2044700"/>
            <a:ext cx="381000" cy="165100"/>
          </a:xfrm>
          <a:prstGeom prst="rect">
            <a:avLst/>
          </a:prstGeom>
          <a:solidFill>
            <a:srgbClr val="0D1B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800" b="1">
                <a:solidFill>
                  <a:srgbClr val="FFFFFF"/>
                </a:solidFill>
                <a:latin typeface="Calibri"/>
                <a:cs typeface="Calibri"/>
              </a:rPr>
              <a:t>MIN</a:t>
            </a:r>
          </a:p>
        </p:txBody>
      </p:sp>
      <p:sp>
        <p:nvSpPr>
          <p:cNvPr id="53" name="Rectangle 52">
            <a:extLst>
              <a:ext uri="{FF2B5EF4-FFF2-40B4-BE49-F238E27FC236}">
                <a16:creationId xmlns:a16="http://schemas.microsoft.com/office/drawing/2014/main" id="{476AC53A-CB41-D546-9CD6-221DC3E8B9B8}"/>
              </a:ext>
            </a:extLst>
          </p:cNvPr>
          <p:cNvSpPr/>
          <p:nvPr/>
        </p:nvSpPr>
        <p:spPr>
          <a:xfrm>
            <a:off x="5499100" y="2044700"/>
            <a:ext cx="381000" cy="165100"/>
          </a:xfrm>
          <a:prstGeom prst="rect">
            <a:avLst/>
          </a:prstGeom>
          <a:solidFill>
            <a:srgbClr val="0D1B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800" b="1">
                <a:solidFill>
                  <a:srgbClr val="FFFFFF"/>
                </a:solidFill>
                <a:latin typeface="Calibri"/>
                <a:cs typeface="Calibri"/>
              </a:rPr>
              <a:t>MIN</a:t>
            </a:r>
          </a:p>
        </p:txBody>
      </p:sp>
      <p:sp>
        <p:nvSpPr>
          <p:cNvPr id="54" name="Rectangle 53">
            <a:extLst>
              <a:ext uri="{FF2B5EF4-FFF2-40B4-BE49-F238E27FC236}">
                <a16:creationId xmlns:a16="http://schemas.microsoft.com/office/drawing/2014/main" id="{6676B8D8-FF17-6B4B-B29D-5BB91F62F619}"/>
              </a:ext>
            </a:extLst>
          </p:cNvPr>
          <p:cNvSpPr/>
          <p:nvPr/>
        </p:nvSpPr>
        <p:spPr>
          <a:xfrm>
            <a:off x="8420100" y="2044700"/>
            <a:ext cx="381000" cy="165100"/>
          </a:xfrm>
          <a:prstGeom prst="rect">
            <a:avLst/>
          </a:prstGeom>
          <a:solidFill>
            <a:srgbClr val="0D1B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800" b="1">
                <a:solidFill>
                  <a:srgbClr val="FFFFFF"/>
                </a:solidFill>
                <a:latin typeface="Calibri"/>
                <a:cs typeface="Calibri"/>
              </a:rPr>
              <a:t>MIN</a:t>
            </a:r>
          </a:p>
        </p:txBody>
      </p:sp>
      <p:sp>
        <p:nvSpPr>
          <p:cNvPr id="57" name="Committed Hdr">
            <a:extLst>
              <a:ext uri="{FF2B5EF4-FFF2-40B4-BE49-F238E27FC236}">
                <a16:creationId xmlns:a16="http://schemas.microsoft.com/office/drawing/2014/main" id="{85D82E0A-3ED2-364F-95B4-F56CAE534186}"/>
              </a:ext>
            </a:extLst>
          </p:cNvPr>
          <p:cNvSpPr txBox="1"/>
          <p:nvPr/>
        </p:nvSpPr>
        <p:spPr>
          <a:xfrm>
            <a:off x="279400" y="1117600"/>
            <a:ext cx="2540000" cy="203200"/>
          </a:xfrm>
          <a:prstGeom prst="rect">
            <a:avLst/>
          </a:prstGeom>
          <a:solidFill>
            <a:srgbClr val="FFFFFF"/>
          </a:solidFill>
          <a:ln>
            <a:noFill/>
          </a:ln>
        </p:spPr>
        <p:txBody>
          <a:bodyPr vertOverflow="overflow" vert="horz" wrap="none" rtlCol="0" anchor="ctr" anchorCtr="0">
            <a:noAutofit/>
          </a:bodyPr>
          <a:lstStyle/>
          <a:p>
            <a:pPr algn="l"/>
            <a:r>
              <a:rPr lang="en-US" sz="900" b="1">
                <a:solidFill>
                  <a:srgbClr val="1B3A5C"/>
                </a:solidFill>
                <a:latin typeface="Calibri"/>
                <a:cs typeface="Calibri"/>
              </a:rPr>
              <a:t>COMMITTED TIMELINE</a:t>
            </a:r>
          </a:p>
        </p:txBody>
      </p:sp>
      <p:sp>
        <p:nvSpPr>
          <p:cNvPr id="58" name="Group Divider">
            <a:extLst>
              <a:ext uri="{FF2B5EF4-FFF2-40B4-BE49-F238E27FC236}">
                <a16:creationId xmlns:a16="http://schemas.microsoft.com/office/drawing/2014/main" id="{D7A6AFF1-A61A-3A4D-87B5-C22A36D3AFC8}"/>
              </a:ext>
            </a:extLst>
          </p:cNvPr>
          <p:cNvSpPr/>
          <p:nvPr/>
        </p:nvSpPr>
        <p:spPr>
          <a:xfrm>
            <a:off x="279400" y="3340100"/>
            <a:ext cx="8585200" cy="12700"/>
          </a:xfrm>
          <a:prstGeom prst="rect">
            <a:avLst/>
          </a:prstGeom>
          <a:solidFill>
            <a:srgbClr val="D5D8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9" name="Stretch Hdr">
            <a:extLst>
              <a:ext uri="{FF2B5EF4-FFF2-40B4-BE49-F238E27FC236}">
                <a16:creationId xmlns:a16="http://schemas.microsoft.com/office/drawing/2014/main" id="{F78AB5D2-E865-B642-9C0B-F0CDF08D6B1C}"/>
              </a:ext>
            </a:extLst>
          </p:cNvPr>
          <p:cNvSpPr txBox="1"/>
          <p:nvPr/>
        </p:nvSpPr>
        <p:spPr>
          <a:xfrm>
            <a:off x="279400" y="3403600"/>
            <a:ext cx="3810000" cy="203200"/>
          </a:xfrm>
          <a:prstGeom prst="rect">
            <a:avLst/>
          </a:prstGeom>
          <a:solidFill>
            <a:srgbClr val="FFFFFF"/>
          </a:solidFill>
          <a:ln>
            <a:noFill/>
          </a:ln>
        </p:spPr>
        <p:txBody>
          <a:bodyPr vertOverflow="overflow" vert="horz" wrap="none" rtlCol="0" anchor="ctr" anchorCtr="0">
            <a:noAutofit/>
          </a:bodyPr>
          <a:lstStyle/>
          <a:p>
            <a:pPr algn="l"/>
            <a:r>
              <a:rPr lang="en-US" sz="900" b="1">
                <a:solidFill>
                  <a:srgbClr val="6B7785"/>
                </a:solidFill>
                <a:latin typeface="Calibri"/>
                <a:cs typeface="Calibri"/>
              </a:rPr>
              <a:t>STRETCH GOALS — if time allows</a:t>
            </a:r>
          </a:p>
        </p:txBody>
      </p:sp>
      <p:sp>
        <p:nvSpPr>
          <p:cNvPr id="60" name="WD Divider">
            <a:extLst>
              <a:ext uri="{FF2B5EF4-FFF2-40B4-BE49-F238E27FC236}">
                <a16:creationId xmlns:a16="http://schemas.microsoft.com/office/drawing/2014/main" id="{D8E7332D-A356-9544-B81A-738B94C3D366}"/>
              </a:ext>
            </a:extLst>
          </p:cNvPr>
          <p:cNvSpPr/>
          <p:nvPr/>
        </p:nvSpPr>
        <p:spPr>
          <a:xfrm>
            <a:off x="279400" y="4356100"/>
            <a:ext cx="8585200" cy="12700"/>
          </a:xfrm>
          <a:prstGeom prst="rect">
            <a:avLst/>
          </a:prstGeom>
          <a:solidFill>
            <a:srgbClr val="D5D8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1" name="WD Hdr">
            <a:extLst>
              <a:ext uri="{FF2B5EF4-FFF2-40B4-BE49-F238E27FC236}">
                <a16:creationId xmlns:a16="http://schemas.microsoft.com/office/drawing/2014/main" id="{5B6A5336-4D8D-D445-A0A1-88F6572353F5}"/>
              </a:ext>
            </a:extLst>
          </p:cNvPr>
          <p:cNvSpPr txBox="1"/>
          <p:nvPr/>
        </p:nvSpPr>
        <p:spPr>
          <a:xfrm>
            <a:off x="279400" y="4445000"/>
            <a:ext cx="3810000" cy="203200"/>
          </a:xfrm>
          <a:prstGeom prst="rect">
            <a:avLst/>
          </a:prstGeom>
          <a:noFill/>
        </p:spPr>
        <p:txBody>
          <a:bodyPr vertOverflow="overflow" vert="horz" wrap="square" rtlCol="0" anchor="t">
            <a:spAutoFit/>
          </a:bodyPr>
          <a:lstStyle/>
          <a:p>
            <a:pPr algn="l"/>
            <a:r>
              <a:rPr lang="en-US" sz="1100" b="1">
                <a:solidFill>
                  <a:srgbClr val="0D1B2A"/>
                </a:solidFill>
                <a:latin typeface="Calibri"/>
                <a:cs typeface="Calibri"/>
              </a:rPr>
              <a:t>Work Division</a:t>
            </a:r>
          </a:p>
        </p:txBody>
      </p:sp>
      <p:sp>
        <p:nvSpPr>
          <p:cNvPr id="62" name="WD Dot 0">
            <a:extLst>
              <a:ext uri="{FF2B5EF4-FFF2-40B4-BE49-F238E27FC236}">
                <a16:creationId xmlns:a16="http://schemas.microsoft.com/office/drawing/2014/main" id="{F7565D90-9007-EE46-BD1E-93E81F9DC4A9}"/>
              </a:ext>
            </a:extLst>
          </p:cNvPr>
          <p:cNvSpPr/>
          <p:nvPr/>
        </p:nvSpPr>
        <p:spPr>
          <a:xfrm>
            <a:off x="381000" y="4800600"/>
            <a:ext cx="101600" cy="101600"/>
          </a:xfrm>
          <a:prstGeom prst="ellipse">
            <a:avLst/>
          </a:prstGeom>
          <a:solidFill>
            <a:srgbClr val="2196A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3" name="WD Name 0">
            <a:extLst>
              <a:ext uri="{FF2B5EF4-FFF2-40B4-BE49-F238E27FC236}">
                <a16:creationId xmlns:a16="http://schemas.microsoft.com/office/drawing/2014/main" id="{F4EB0E04-2AE4-0A4A-96F0-69D6E3F2AF99}"/>
              </a:ext>
            </a:extLst>
          </p:cNvPr>
          <p:cNvSpPr txBox="1"/>
          <p:nvPr/>
        </p:nvSpPr>
        <p:spPr>
          <a:xfrm>
            <a:off x="558800" y="4724400"/>
            <a:ext cx="2476500" cy="177800"/>
          </a:xfrm>
          <a:prstGeom prst="rect">
            <a:avLst/>
          </a:prstGeom>
          <a:noFill/>
        </p:spPr>
        <p:txBody>
          <a:bodyPr vertOverflow="overflow" vert="horz" wrap="square" rtlCol="0" anchor="t">
            <a:spAutoFit/>
          </a:bodyPr>
          <a:lstStyle/>
          <a:p>
            <a:pPr algn="l"/>
            <a:r>
              <a:rPr lang="en-US" sz="1000" b="1">
                <a:solidFill>
                  <a:srgbClr val="0D1B2A"/>
                </a:solidFill>
                <a:latin typeface="Calibri"/>
                <a:cs typeface="Calibri"/>
              </a:rPr>
              <a:t>Leland Weeks</a:t>
            </a:r>
          </a:p>
        </p:txBody>
      </p:sp>
      <p:sp>
        <p:nvSpPr>
          <p:cNvPr id="65" name="WD Dot 1">
            <a:extLst>
              <a:ext uri="{FF2B5EF4-FFF2-40B4-BE49-F238E27FC236}">
                <a16:creationId xmlns:a16="http://schemas.microsoft.com/office/drawing/2014/main" id="{3C4D9109-1B1B-F34E-9B21-F56900D69626}"/>
              </a:ext>
            </a:extLst>
          </p:cNvPr>
          <p:cNvSpPr/>
          <p:nvPr/>
        </p:nvSpPr>
        <p:spPr>
          <a:xfrm>
            <a:off x="3302000" y="4800600"/>
            <a:ext cx="101600" cy="101600"/>
          </a:xfrm>
          <a:prstGeom prst="ellipse">
            <a:avLst/>
          </a:prstGeom>
          <a:solidFill>
            <a:srgbClr val="2196A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6" name="WD Name 1">
            <a:extLst>
              <a:ext uri="{FF2B5EF4-FFF2-40B4-BE49-F238E27FC236}">
                <a16:creationId xmlns:a16="http://schemas.microsoft.com/office/drawing/2014/main" id="{E99ACDF3-D712-1E4D-B8E8-41A1BE196C2C}"/>
              </a:ext>
            </a:extLst>
          </p:cNvPr>
          <p:cNvSpPr txBox="1"/>
          <p:nvPr/>
        </p:nvSpPr>
        <p:spPr>
          <a:xfrm>
            <a:off x="3479800" y="4724400"/>
            <a:ext cx="2476500" cy="177800"/>
          </a:xfrm>
          <a:prstGeom prst="rect">
            <a:avLst/>
          </a:prstGeom>
          <a:noFill/>
        </p:spPr>
        <p:txBody>
          <a:bodyPr vertOverflow="overflow" vert="horz" wrap="square" rtlCol="0" anchor="t">
            <a:spAutoFit/>
          </a:bodyPr>
          <a:lstStyle/>
          <a:p>
            <a:pPr algn="l"/>
            <a:r>
              <a:rPr lang="en-US" sz="1000" b="1">
                <a:solidFill>
                  <a:srgbClr val="0D1B2A"/>
                </a:solidFill>
                <a:latin typeface="Calibri"/>
                <a:cs typeface="Calibri"/>
              </a:rPr>
              <a:t>Johnny Belichev</a:t>
            </a:r>
          </a:p>
        </p:txBody>
      </p:sp>
      <p:sp>
        <p:nvSpPr>
          <p:cNvPr id="68" name="WD Dot 2">
            <a:extLst>
              <a:ext uri="{FF2B5EF4-FFF2-40B4-BE49-F238E27FC236}">
                <a16:creationId xmlns:a16="http://schemas.microsoft.com/office/drawing/2014/main" id="{D5211834-16A8-DC45-983B-F63325050098}"/>
              </a:ext>
            </a:extLst>
          </p:cNvPr>
          <p:cNvSpPr/>
          <p:nvPr/>
        </p:nvSpPr>
        <p:spPr>
          <a:xfrm>
            <a:off x="6223000" y="4800600"/>
            <a:ext cx="101600" cy="101600"/>
          </a:xfrm>
          <a:prstGeom prst="ellipse">
            <a:avLst/>
          </a:prstGeom>
          <a:solidFill>
            <a:srgbClr val="2196A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9" name="WD Name 2">
            <a:extLst>
              <a:ext uri="{FF2B5EF4-FFF2-40B4-BE49-F238E27FC236}">
                <a16:creationId xmlns:a16="http://schemas.microsoft.com/office/drawing/2014/main" id="{B476DE16-A6D5-FD4F-92C2-B99E5D22C16B}"/>
              </a:ext>
            </a:extLst>
          </p:cNvPr>
          <p:cNvSpPr txBox="1"/>
          <p:nvPr/>
        </p:nvSpPr>
        <p:spPr>
          <a:xfrm>
            <a:off x="6400800" y="4724400"/>
            <a:ext cx="2476500" cy="177800"/>
          </a:xfrm>
          <a:prstGeom prst="rect">
            <a:avLst/>
          </a:prstGeom>
          <a:noFill/>
        </p:spPr>
        <p:txBody>
          <a:bodyPr vertOverflow="overflow" vert="horz" wrap="square" rtlCol="0" anchor="t">
            <a:spAutoFit/>
          </a:bodyPr>
          <a:lstStyle/>
          <a:p>
            <a:pPr algn="l"/>
            <a:r>
              <a:rPr lang="en-US" sz="1000" b="1">
                <a:solidFill>
                  <a:srgbClr val="0D1B2A"/>
                </a:solidFill>
                <a:latin typeface="Calibri"/>
                <a:cs typeface="Calibri"/>
              </a:rPr>
              <a:t>Ishant Somal</a:t>
            </a:r>
          </a:p>
        </p:txBody>
      </p:sp>
    </p:spTree>
    <p:extLst>
      <p:ext uri="{BB962C8B-B14F-4D97-AF65-F5344CB8AC3E}">
        <p14:creationId xmlns:p14="http://schemas.microsoft.com/office/powerpoint/2010/main" val="1108119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97BB11A6-CF53-AC5D-9CA5-461BFCE53C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C4DB5C7-3AD2-6298-107B-931AE21760FB}"/>
              </a:ext>
            </a:extLst>
          </p:cNvPr>
          <p:cNvSpPr/>
          <p:nvPr/>
        </p:nvSpPr>
        <p:spPr>
          <a:xfrm>
            <a:off x="0" y="0"/>
            <a:ext cx="164592" cy="5143500"/>
          </a:xfrm>
          <a:prstGeom prst="rect">
            <a:avLst/>
          </a:prstGeom>
          <a:solidFill>
            <a:srgbClr val="E8A020"/>
          </a:solidFill>
          <a:ln w="12700">
            <a:solidFill>
              <a:srgbClr val="E8A020"/>
            </a:solidFill>
            <a:prstDash val="solid"/>
          </a:ln>
        </p:spPr>
        <p:txBody>
          <a:bodyPr/>
          <a:lstStyle/>
          <a:p>
            <a:endParaRPr lang="en-US"/>
          </a:p>
        </p:txBody>
      </p:sp>
      <p:sp>
        <p:nvSpPr>
          <p:cNvPr id="3" name="Text 1">
            <a:extLst>
              <a:ext uri="{FF2B5EF4-FFF2-40B4-BE49-F238E27FC236}">
                <a16:creationId xmlns:a16="http://schemas.microsoft.com/office/drawing/2014/main" id="{6B0903A5-487B-EC32-CA81-CEECDB07ED5D}"/>
              </a:ext>
            </a:extLst>
          </p:cNvPr>
          <p:cNvSpPr/>
          <p:nvPr/>
        </p:nvSpPr>
        <p:spPr>
          <a:xfrm>
            <a:off x="411480" y="411480"/>
            <a:ext cx="8412480" cy="502920"/>
          </a:xfrm>
          <a:prstGeom prst="rect">
            <a:avLst/>
          </a:prstGeom>
          <a:noFill/>
          <a:ln/>
        </p:spPr>
        <p:txBody>
          <a:bodyPr wrap="square" rtlCol="0" anchor="ctr"/>
          <a:lstStyle/>
          <a:p>
            <a:pPr marL="0" indent="0">
              <a:buNone/>
            </a:pPr>
            <a:r>
              <a:rPr lang="en-US" sz="3200" b="1">
                <a:solidFill>
                  <a:srgbClr val="FFFFFF"/>
                </a:solidFill>
                <a:latin typeface="Calibri" pitchFamily="34" charset="0"/>
                <a:ea typeface="Calibri" pitchFamily="34" charset="-122"/>
                <a:cs typeface="Calibri" pitchFamily="34" charset="-120"/>
              </a:rPr>
              <a:t>Key Takeaways</a:t>
            </a:r>
            <a:endParaRPr lang="en-US" sz="3200"/>
          </a:p>
        </p:txBody>
      </p:sp>
      <p:sp>
        <p:nvSpPr>
          <p:cNvPr id="4" name="Shape 2">
            <a:extLst>
              <a:ext uri="{FF2B5EF4-FFF2-40B4-BE49-F238E27FC236}">
                <a16:creationId xmlns:a16="http://schemas.microsoft.com/office/drawing/2014/main" id="{B35671AD-AAB5-C1D5-9EDA-EBDEAFE2E87F}"/>
              </a:ext>
            </a:extLst>
          </p:cNvPr>
          <p:cNvSpPr/>
          <p:nvPr/>
        </p:nvSpPr>
        <p:spPr>
          <a:xfrm>
            <a:off x="411480" y="960120"/>
            <a:ext cx="8412480" cy="45720"/>
          </a:xfrm>
          <a:prstGeom prst="rect">
            <a:avLst/>
          </a:prstGeom>
          <a:solidFill>
            <a:srgbClr val="E8A020"/>
          </a:solidFill>
          <a:ln w="12700">
            <a:solidFill>
              <a:srgbClr val="E8A020"/>
            </a:solidFill>
            <a:prstDash val="solid"/>
          </a:ln>
        </p:spPr>
        <p:txBody>
          <a:bodyPr/>
          <a:lstStyle/>
          <a:p>
            <a:endParaRPr lang="en-US"/>
          </a:p>
        </p:txBody>
      </p:sp>
      <p:sp>
        <p:nvSpPr>
          <p:cNvPr id="5" name="Text 3">
            <a:extLst>
              <a:ext uri="{FF2B5EF4-FFF2-40B4-BE49-F238E27FC236}">
                <a16:creationId xmlns:a16="http://schemas.microsoft.com/office/drawing/2014/main" id="{DBF570CA-A88D-17DC-385B-2DE7E01C79CB}"/>
              </a:ext>
            </a:extLst>
          </p:cNvPr>
          <p:cNvSpPr/>
          <p:nvPr/>
        </p:nvSpPr>
        <p:spPr>
          <a:xfrm>
            <a:off x="384048" y="1168400"/>
            <a:ext cx="457200" cy="457200"/>
          </a:xfrm>
          <a:prstGeom prst="rect">
            <a:avLst/>
          </a:prstGeom>
          <a:noFill/>
          <a:ln/>
        </p:spPr>
        <p:txBody>
          <a:bodyPr wrap="square" rtlCol="0" anchor="ctr"/>
          <a:lstStyle/>
          <a:p>
            <a:pPr marL="0" indent="0" algn="ctr">
              <a:buNone/>
            </a:pPr>
            <a:r>
              <a:rPr lang="en-US" sz="2200" b="1">
                <a:solidFill>
                  <a:srgbClr val="E8A020"/>
                </a:solidFill>
                <a:latin typeface="Calibri" pitchFamily="34" charset="0"/>
                <a:ea typeface="Calibri" pitchFamily="34" charset="-122"/>
                <a:cs typeface="Calibri" pitchFamily="34" charset="-120"/>
              </a:rPr>
              <a:t>①</a:t>
            </a:r>
            <a:endParaRPr lang="en-US" sz="2200"/>
          </a:p>
        </p:txBody>
      </p:sp>
      <p:sp>
        <p:nvSpPr>
          <p:cNvPr id="6" name="Text 4">
            <a:extLst>
              <a:ext uri="{FF2B5EF4-FFF2-40B4-BE49-F238E27FC236}">
                <a16:creationId xmlns:a16="http://schemas.microsoft.com/office/drawing/2014/main" id="{1D7A3D96-05FD-6612-70FC-60B8879F43A8}"/>
              </a:ext>
            </a:extLst>
          </p:cNvPr>
          <p:cNvSpPr/>
          <p:nvPr/>
        </p:nvSpPr>
        <p:spPr>
          <a:xfrm>
            <a:off x="896112" y="1122680"/>
            <a:ext cx="7909560" cy="292608"/>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Novel Information Framework</a:t>
            </a:r>
            <a:endParaRPr lang="en-US" sz="1400"/>
          </a:p>
        </p:txBody>
      </p:sp>
      <p:sp>
        <p:nvSpPr>
          <p:cNvPr id="7" name="Text 5">
            <a:extLst>
              <a:ext uri="{FF2B5EF4-FFF2-40B4-BE49-F238E27FC236}">
                <a16:creationId xmlns:a16="http://schemas.microsoft.com/office/drawing/2014/main" id="{490D1630-4248-ABF7-615B-B9A7A4E57C74}"/>
              </a:ext>
            </a:extLst>
          </p:cNvPr>
          <p:cNvSpPr/>
          <p:nvPr/>
        </p:nvSpPr>
        <p:spPr>
          <a:xfrm>
            <a:off x="896112" y="1415288"/>
            <a:ext cx="7909560" cy="475488"/>
          </a:xfrm>
          <a:prstGeom prst="rect">
            <a:avLst/>
          </a:prstGeom>
          <a:noFill/>
          <a:ln/>
        </p:spPr>
        <p:txBody>
          <a:bodyPr wrap="square" lIns="0" tIns="0" rIns="0" bIns="0" rtlCol="0" anchor="ctr"/>
          <a:lstStyle/>
          <a:p>
            <a:pPr marL="0" indent="0">
              <a:buNone/>
            </a:pPr>
            <a:r>
              <a:rPr lang="en-US" sz="1200">
                <a:solidFill>
                  <a:srgbClr val="8BA0B5"/>
                </a:solidFill>
                <a:latin typeface="Calibri" pitchFamily="34" charset="0"/>
                <a:ea typeface="Calibri" pitchFamily="34" charset="-122"/>
                <a:cs typeface="Calibri" pitchFamily="34" charset="-120"/>
              </a:rPr>
              <a:t>First BN study to formally test conditional independence between NFL game statistics and betting market line movement</a:t>
            </a:r>
            <a:endParaRPr lang="en-US" sz="1200"/>
          </a:p>
        </p:txBody>
      </p:sp>
      <p:sp>
        <p:nvSpPr>
          <p:cNvPr id="8" name="Text 6">
            <a:extLst>
              <a:ext uri="{FF2B5EF4-FFF2-40B4-BE49-F238E27FC236}">
                <a16:creationId xmlns:a16="http://schemas.microsoft.com/office/drawing/2014/main" id="{58F2CBE2-34F8-8142-10AC-D6806ECD0496}"/>
              </a:ext>
            </a:extLst>
          </p:cNvPr>
          <p:cNvSpPr/>
          <p:nvPr/>
        </p:nvSpPr>
        <p:spPr>
          <a:xfrm>
            <a:off x="384048" y="1905000"/>
            <a:ext cx="457200" cy="457200"/>
          </a:xfrm>
          <a:prstGeom prst="rect">
            <a:avLst/>
          </a:prstGeom>
          <a:noFill/>
          <a:ln/>
        </p:spPr>
        <p:txBody>
          <a:bodyPr wrap="square" rtlCol="0" anchor="ctr"/>
          <a:lstStyle/>
          <a:p>
            <a:pPr marL="0" indent="0" algn="ctr">
              <a:buNone/>
            </a:pPr>
            <a:r>
              <a:rPr lang="en-US" sz="2200" b="1">
                <a:solidFill>
                  <a:srgbClr val="E8A020"/>
                </a:solidFill>
                <a:latin typeface="Calibri" pitchFamily="34" charset="0"/>
                <a:ea typeface="Calibri" pitchFamily="34" charset="-122"/>
                <a:cs typeface="Calibri" pitchFamily="34" charset="-120"/>
              </a:rPr>
              <a:t>②</a:t>
            </a:r>
            <a:endParaRPr lang="en-US" sz="2200"/>
          </a:p>
        </p:txBody>
      </p:sp>
      <p:sp>
        <p:nvSpPr>
          <p:cNvPr id="9" name="Text 7">
            <a:extLst>
              <a:ext uri="{FF2B5EF4-FFF2-40B4-BE49-F238E27FC236}">
                <a16:creationId xmlns:a16="http://schemas.microsoft.com/office/drawing/2014/main" id="{9B7ADC63-EE02-A44D-B8B8-868860388B43}"/>
              </a:ext>
            </a:extLst>
          </p:cNvPr>
          <p:cNvSpPr/>
          <p:nvPr/>
        </p:nvSpPr>
        <p:spPr>
          <a:xfrm>
            <a:off x="896112" y="1859280"/>
            <a:ext cx="7909560" cy="292608"/>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Rigorous Methodology</a:t>
            </a:r>
            <a:endParaRPr lang="en-US" sz="1400"/>
          </a:p>
        </p:txBody>
      </p:sp>
      <p:sp>
        <p:nvSpPr>
          <p:cNvPr id="10" name="Text 8">
            <a:extLst>
              <a:ext uri="{FF2B5EF4-FFF2-40B4-BE49-F238E27FC236}">
                <a16:creationId xmlns:a16="http://schemas.microsoft.com/office/drawing/2014/main" id="{522CF19E-6EEA-0BED-B02A-2B733A770939}"/>
              </a:ext>
            </a:extLst>
          </p:cNvPr>
          <p:cNvSpPr/>
          <p:nvPr/>
        </p:nvSpPr>
        <p:spPr>
          <a:xfrm>
            <a:off x="896112" y="2151888"/>
            <a:ext cx="7909560" cy="475488"/>
          </a:xfrm>
          <a:prstGeom prst="rect">
            <a:avLst/>
          </a:prstGeom>
          <a:noFill/>
          <a:ln/>
        </p:spPr>
        <p:txBody>
          <a:bodyPr wrap="square" lIns="0" tIns="0" rIns="0" bIns="0" rtlCol="0" anchor="ctr"/>
          <a:lstStyle/>
          <a:p>
            <a:pPr marL="0" indent="0">
              <a:buNone/>
            </a:pPr>
            <a:r>
              <a:rPr lang="en-US" sz="1200">
                <a:solidFill>
                  <a:srgbClr val="8BA0B5"/>
                </a:solidFill>
                <a:latin typeface="Calibri" pitchFamily="34" charset="0"/>
                <a:ea typeface="Calibri" pitchFamily="34" charset="-122"/>
                <a:cs typeface="Calibri" pitchFamily="34" charset="-120"/>
              </a:rPr>
              <a:t>Hill Climbing structure learning + Naive Bayes baseline provides robust inference about market efficiency</a:t>
            </a:r>
            <a:endParaRPr lang="en-US" sz="1200"/>
          </a:p>
        </p:txBody>
      </p:sp>
      <p:sp>
        <p:nvSpPr>
          <p:cNvPr id="11" name="Text 9">
            <a:extLst>
              <a:ext uri="{FF2B5EF4-FFF2-40B4-BE49-F238E27FC236}">
                <a16:creationId xmlns:a16="http://schemas.microsoft.com/office/drawing/2014/main" id="{10F481C0-38FF-78E2-63C4-09B42FA439C8}"/>
              </a:ext>
            </a:extLst>
          </p:cNvPr>
          <p:cNvSpPr/>
          <p:nvPr/>
        </p:nvSpPr>
        <p:spPr>
          <a:xfrm>
            <a:off x="384048" y="2641600"/>
            <a:ext cx="457200" cy="457200"/>
          </a:xfrm>
          <a:prstGeom prst="rect">
            <a:avLst/>
          </a:prstGeom>
          <a:noFill/>
          <a:ln/>
        </p:spPr>
        <p:txBody>
          <a:bodyPr wrap="square" rtlCol="0" anchor="ctr"/>
          <a:lstStyle/>
          <a:p>
            <a:pPr marL="0" indent="0" algn="ctr">
              <a:buNone/>
            </a:pPr>
            <a:r>
              <a:rPr lang="en-US" sz="2200" b="1">
                <a:solidFill>
                  <a:srgbClr val="E8A020"/>
                </a:solidFill>
                <a:latin typeface="Calibri" pitchFamily="34" charset="0"/>
                <a:ea typeface="Calibri" pitchFamily="34" charset="-122"/>
                <a:cs typeface="Calibri" pitchFamily="34" charset="-120"/>
              </a:rPr>
              <a:t>③</a:t>
            </a:r>
            <a:endParaRPr lang="en-US" sz="2200"/>
          </a:p>
        </p:txBody>
      </p:sp>
      <p:sp>
        <p:nvSpPr>
          <p:cNvPr id="12" name="Text 10">
            <a:extLst>
              <a:ext uri="{FF2B5EF4-FFF2-40B4-BE49-F238E27FC236}">
                <a16:creationId xmlns:a16="http://schemas.microsoft.com/office/drawing/2014/main" id="{55141C8B-3686-A8F6-BF0E-2F64D372B87B}"/>
              </a:ext>
            </a:extLst>
          </p:cNvPr>
          <p:cNvSpPr/>
          <p:nvPr/>
        </p:nvSpPr>
        <p:spPr>
          <a:xfrm>
            <a:off x="896112" y="2595880"/>
            <a:ext cx="7909560" cy="292608"/>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Market Efficiency Test</a:t>
            </a:r>
            <a:endParaRPr lang="en-US" sz="1400"/>
          </a:p>
        </p:txBody>
      </p:sp>
      <p:sp>
        <p:nvSpPr>
          <p:cNvPr id="13" name="Text 11">
            <a:extLst>
              <a:ext uri="{FF2B5EF4-FFF2-40B4-BE49-F238E27FC236}">
                <a16:creationId xmlns:a16="http://schemas.microsoft.com/office/drawing/2014/main" id="{6FB0736B-6426-5FAA-CE14-EC197D8D1ED8}"/>
              </a:ext>
            </a:extLst>
          </p:cNvPr>
          <p:cNvSpPr/>
          <p:nvPr/>
        </p:nvSpPr>
        <p:spPr>
          <a:xfrm>
            <a:off x="896112" y="2888488"/>
            <a:ext cx="7909560" cy="475488"/>
          </a:xfrm>
          <a:prstGeom prst="rect">
            <a:avLst/>
          </a:prstGeom>
          <a:noFill/>
          <a:ln/>
        </p:spPr>
        <p:txBody>
          <a:bodyPr wrap="square" lIns="0" tIns="0" rIns="0" bIns="0" rtlCol="0" anchor="ctr"/>
          <a:lstStyle/>
          <a:p>
            <a:pPr marL="0" indent="0">
              <a:buNone/>
            </a:pPr>
            <a:r>
              <a:rPr lang="en-US" sz="1200">
                <a:solidFill>
                  <a:srgbClr val="8BA0B5"/>
                </a:solidFill>
                <a:latin typeface="Calibri" pitchFamily="34" charset="0"/>
                <a:ea typeface="Calibri" pitchFamily="34" charset="-122"/>
                <a:cs typeface="Calibri" pitchFamily="34" charset="-120"/>
              </a:rPr>
              <a:t>If BN fails to outperform Naive Bayes, closing lines are formally efficient — a meaningful finding for sports analytics research</a:t>
            </a:r>
            <a:endParaRPr lang="en-US" sz="1200"/>
          </a:p>
        </p:txBody>
      </p:sp>
      <p:sp>
        <p:nvSpPr>
          <p:cNvPr id="14" name="Text 12">
            <a:extLst>
              <a:ext uri="{FF2B5EF4-FFF2-40B4-BE49-F238E27FC236}">
                <a16:creationId xmlns:a16="http://schemas.microsoft.com/office/drawing/2014/main" id="{25023C73-C069-8E2F-7B35-61C9D2978A13}"/>
              </a:ext>
            </a:extLst>
          </p:cNvPr>
          <p:cNvSpPr/>
          <p:nvPr/>
        </p:nvSpPr>
        <p:spPr>
          <a:xfrm>
            <a:off x="384048" y="3378200"/>
            <a:ext cx="457200" cy="457200"/>
          </a:xfrm>
          <a:prstGeom prst="rect">
            <a:avLst/>
          </a:prstGeom>
          <a:noFill/>
          <a:ln/>
        </p:spPr>
        <p:txBody>
          <a:bodyPr wrap="square" rtlCol="0" anchor="ctr"/>
          <a:lstStyle/>
          <a:p>
            <a:pPr marL="0" indent="0" algn="ctr">
              <a:buNone/>
            </a:pPr>
            <a:r>
              <a:rPr lang="en-US" sz="2200" b="1">
                <a:solidFill>
                  <a:srgbClr val="E8A020"/>
                </a:solidFill>
                <a:latin typeface="Calibri" pitchFamily="34" charset="0"/>
                <a:ea typeface="Calibri" pitchFamily="34" charset="-122"/>
                <a:cs typeface="Calibri" pitchFamily="34" charset="-120"/>
              </a:rPr>
              <a:t>④</a:t>
            </a:r>
            <a:endParaRPr lang="en-US" sz="2200"/>
          </a:p>
        </p:txBody>
      </p:sp>
      <p:sp>
        <p:nvSpPr>
          <p:cNvPr id="15" name="Text 13">
            <a:extLst>
              <a:ext uri="{FF2B5EF4-FFF2-40B4-BE49-F238E27FC236}">
                <a16:creationId xmlns:a16="http://schemas.microsoft.com/office/drawing/2014/main" id="{20390AE4-1C77-C4CD-5454-050493195A80}"/>
              </a:ext>
            </a:extLst>
          </p:cNvPr>
          <p:cNvSpPr/>
          <p:nvPr/>
        </p:nvSpPr>
        <p:spPr>
          <a:xfrm>
            <a:off x="896112" y="3332480"/>
            <a:ext cx="7909560" cy="292608"/>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Rich, Dense Dataset</a:t>
            </a:r>
            <a:endParaRPr lang="en-US" sz="1400"/>
          </a:p>
        </p:txBody>
      </p:sp>
      <p:sp>
        <p:nvSpPr>
          <p:cNvPr id="16" name="Text 14">
            <a:extLst>
              <a:ext uri="{FF2B5EF4-FFF2-40B4-BE49-F238E27FC236}">
                <a16:creationId xmlns:a16="http://schemas.microsoft.com/office/drawing/2014/main" id="{BE31797F-6A23-6B48-CDF0-E739987F40BF}"/>
              </a:ext>
            </a:extLst>
          </p:cNvPr>
          <p:cNvSpPr/>
          <p:nvPr/>
        </p:nvSpPr>
        <p:spPr>
          <a:xfrm>
            <a:off x="896112" y="3625088"/>
            <a:ext cx="7909560" cy="475488"/>
          </a:xfrm>
          <a:prstGeom prst="rect">
            <a:avLst/>
          </a:prstGeom>
          <a:noFill/>
          <a:ln/>
        </p:spPr>
        <p:txBody>
          <a:bodyPr wrap="square" lIns="0" tIns="0" rIns="0" bIns="0" rtlCol="0" anchor="ctr"/>
          <a:lstStyle/>
          <a:p>
            <a:pPr marL="0" indent="0">
              <a:buNone/>
            </a:pPr>
            <a:r>
              <a:rPr lang="en-US" sz="1200">
                <a:solidFill>
                  <a:srgbClr val="8BA0B5"/>
                </a:solidFill>
                <a:latin typeface="Calibri" pitchFamily="34" charset="0"/>
                <a:ea typeface="Calibri" pitchFamily="34" charset="-122"/>
                <a:cs typeface="Calibri" pitchFamily="34" charset="-120"/>
              </a:rPr>
              <a:t>3,990 games over 15 seasons with EPA/play (down, distance, field position aware) and full market data from opening to closing</a:t>
            </a:r>
            <a:endParaRPr lang="en-US" sz="1200"/>
          </a:p>
        </p:txBody>
      </p:sp>
      <p:sp>
        <p:nvSpPr>
          <p:cNvPr id="17" name="Shape 15">
            <a:extLst>
              <a:ext uri="{FF2B5EF4-FFF2-40B4-BE49-F238E27FC236}">
                <a16:creationId xmlns:a16="http://schemas.microsoft.com/office/drawing/2014/main" id="{6865DDEA-CBE8-301E-C232-CAC6656D072A}"/>
              </a:ext>
            </a:extLst>
          </p:cNvPr>
          <p:cNvSpPr/>
          <p:nvPr/>
        </p:nvSpPr>
        <p:spPr>
          <a:xfrm>
            <a:off x="411480" y="4754880"/>
            <a:ext cx="8412480" cy="36576"/>
          </a:xfrm>
          <a:prstGeom prst="rect">
            <a:avLst/>
          </a:prstGeom>
          <a:solidFill>
            <a:srgbClr val="2196A6"/>
          </a:solidFill>
          <a:ln w="12700">
            <a:solidFill>
              <a:srgbClr val="2196A6"/>
            </a:solidFill>
            <a:prstDash val="solid"/>
          </a:ln>
        </p:spPr>
        <p:txBody>
          <a:bodyPr/>
          <a:lstStyle/>
          <a:p>
            <a:endParaRPr lang="en-US"/>
          </a:p>
        </p:txBody>
      </p:sp>
      <p:sp>
        <p:nvSpPr>
          <p:cNvPr id="18" name="Text 16">
            <a:extLst>
              <a:ext uri="{FF2B5EF4-FFF2-40B4-BE49-F238E27FC236}">
                <a16:creationId xmlns:a16="http://schemas.microsoft.com/office/drawing/2014/main" id="{D04A8375-A81E-2DD7-8260-990CC56CC336}"/>
              </a:ext>
            </a:extLst>
          </p:cNvPr>
          <p:cNvSpPr/>
          <p:nvPr/>
        </p:nvSpPr>
        <p:spPr>
          <a:xfrm>
            <a:off x="411480" y="4818888"/>
            <a:ext cx="8412480" cy="256032"/>
          </a:xfrm>
          <a:prstGeom prst="rect">
            <a:avLst/>
          </a:prstGeom>
          <a:noFill/>
          <a:ln/>
        </p:spPr>
        <p:txBody>
          <a:bodyPr wrap="square" rtlCol="0" anchor="ctr"/>
          <a:lstStyle/>
          <a:p>
            <a:pPr marL="0" indent="0" algn="ctr">
              <a:buNone/>
            </a:pPr>
            <a:r>
              <a:rPr lang="en-US" sz="1100">
                <a:solidFill>
                  <a:srgbClr val="8BA0B5"/>
                </a:solidFill>
                <a:latin typeface="Calibri" pitchFamily="34" charset="0"/>
                <a:ea typeface="Calibri" pitchFamily="34" charset="-122"/>
                <a:cs typeface="Calibri" pitchFamily="34" charset="-120"/>
              </a:rPr>
              <a:t>Leland Weeks  ·  Johnny Belichev  ·  Ishant Somal  ·  CS 610  ·  May 2026</a:t>
            </a:r>
            <a:endParaRPr lang="en-US" sz="1100"/>
          </a:p>
        </p:txBody>
      </p:sp>
    </p:spTree>
    <p:extLst>
      <p:ext uri="{BB962C8B-B14F-4D97-AF65-F5344CB8AC3E}">
        <p14:creationId xmlns:p14="http://schemas.microsoft.com/office/powerpoint/2010/main" val="3884493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B57A9C3-9CA4-7D42-9EEF-2FD68FFCC6E1}">
  <we:reference id="WA200010001" version="1.0.0.1" store="Omex" storeType="OMEX"/>
  <we:alternateReferences>
    <we:reference id="WA200010001" version="1.0.0.1" store="WA200010001" storeType="OMEX"/>
  </we:alternateReferences>
  <we:properties>
    <we:property name="claude.fileId" value="&quot;e4864205-247b-4196-abc2-388f6810480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12</Slides>
  <Notes>11</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Network Modeling of NFL Game Stats and Market Signals</dc:title>
  <dc:subject>PptxGenJS Presentation</dc:subject>
  <dc:creator>PptxGenJS</dc:creator>
  <cp:revision>2</cp:revision>
  <dcterms:created xsi:type="dcterms:W3CDTF">2026-05-06T00:02:55Z</dcterms:created>
  <dcterms:modified xsi:type="dcterms:W3CDTF">2026-05-10T14:27:39Z</dcterms:modified>
</cp:coreProperties>
</file>